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7" r:id="rId2"/>
    <p:sldId id="499" r:id="rId3"/>
    <p:sldId id="498" r:id="rId4"/>
    <p:sldId id="260" r:id="rId5"/>
    <p:sldId id="473" r:id="rId6"/>
    <p:sldId id="261" r:id="rId7"/>
    <p:sldId id="262" r:id="rId8"/>
    <p:sldId id="264" r:id="rId9"/>
    <p:sldId id="267" r:id="rId10"/>
    <p:sldId id="268" r:id="rId11"/>
    <p:sldId id="493" r:id="rId12"/>
    <p:sldId id="494" r:id="rId13"/>
    <p:sldId id="495" r:id="rId14"/>
    <p:sldId id="492" r:id="rId15"/>
    <p:sldId id="270" r:id="rId16"/>
    <p:sldId id="471" r:id="rId17"/>
    <p:sldId id="474" r:id="rId18"/>
    <p:sldId id="475" r:id="rId19"/>
    <p:sldId id="476" r:id="rId20"/>
    <p:sldId id="477" r:id="rId21"/>
    <p:sldId id="478" r:id="rId22"/>
    <p:sldId id="490" r:id="rId23"/>
    <p:sldId id="496" r:id="rId24"/>
    <p:sldId id="482" r:id="rId25"/>
    <p:sldId id="480" r:id="rId26"/>
    <p:sldId id="481" r:id="rId27"/>
    <p:sldId id="319" r:id="rId28"/>
    <p:sldId id="483" r:id="rId29"/>
    <p:sldId id="321" r:id="rId30"/>
    <p:sldId id="322" r:id="rId31"/>
    <p:sldId id="325" r:id="rId32"/>
    <p:sldId id="326" r:id="rId33"/>
    <p:sldId id="327" r:id="rId34"/>
    <p:sldId id="328" r:id="rId35"/>
    <p:sldId id="329" r:id="rId36"/>
    <p:sldId id="330" r:id="rId37"/>
    <p:sldId id="331" r:id="rId38"/>
    <p:sldId id="332" r:id="rId39"/>
    <p:sldId id="333" r:id="rId40"/>
    <p:sldId id="334" r:id="rId41"/>
    <p:sldId id="335" r:id="rId42"/>
    <p:sldId id="375" r:id="rId43"/>
    <p:sldId id="336" r:id="rId44"/>
    <p:sldId id="337" r:id="rId45"/>
    <p:sldId id="338" r:id="rId46"/>
    <p:sldId id="339" r:id="rId47"/>
    <p:sldId id="340" r:id="rId48"/>
    <p:sldId id="341" r:id="rId49"/>
    <p:sldId id="342" r:id="rId50"/>
    <p:sldId id="343" r:id="rId51"/>
    <p:sldId id="344" r:id="rId52"/>
    <p:sldId id="346" r:id="rId53"/>
    <p:sldId id="347" r:id="rId54"/>
    <p:sldId id="348" r:id="rId55"/>
    <p:sldId id="349" r:id="rId56"/>
    <p:sldId id="350" r:id="rId57"/>
    <p:sldId id="351" r:id="rId58"/>
    <p:sldId id="352" r:id="rId59"/>
    <p:sldId id="353" r:id="rId60"/>
    <p:sldId id="488" r:id="rId61"/>
    <p:sldId id="486" r:id="rId62"/>
    <p:sldId id="48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17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557"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7DF91B-E4AB-4DA8-9EBE-42BD28D401AC}"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6AA36-10C7-47E7-A80E-01B2973D1A39}" type="slidenum">
              <a:rPr lang="en-US" smtClean="0"/>
              <a:t>‹#›</a:t>
            </a:fld>
            <a:endParaRPr lang="en-US"/>
          </a:p>
        </p:txBody>
      </p:sp>
    </p:spTree>
    <p:extLst>
      <p:ext uri="{BB962C8B-B14F-4D97-AF65-F5344CB8AC3E}">
        <p14:creationId xmlns:p14="http://schemas.microsoft.com/office/powerpoint/2010/main" val="3004901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FFED2A9F-96BE-249D-7F8C-D48C3CFCAD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id="{1593DE96-036A-2454-D962-8B7700DD8C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a:p>
        </p:txBody>
      </p:sp>
      <p:sp>
        <p:nvSpPr>
          <p:cNvPr id="62468" name="Slide Number Placeholder 3">
            <a:extLst>
              <a:ext uri="{FF2B5EF4-FFF2-40B4-BE49-F238E27FC236}">
                <a16:creationId xmlns:a16="http://schemas.microsoft.com/office/drawing/2014/main" id="{385B395B-567E-2430-ACAB-33E79A44FD3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fld id="{3CC66278-813B-4C9B-A30E-29663FB34DB6}" type="slidenum">
              <a:rPr lang="en-IN" altLang="en-US"/>
              <a:pPr/>
              <a:t>38</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B3D9B-FFC3-09F3-C386-13398DEEF6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7C0D6A-8E8C-D78D-BB44-28EA1FE47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81C583-BFD8-FF6A-331F-08FA9F01A2A7}"/>
              </a:ext>
            </a:extLst>
          </p:cNvPr>
          <p:cNvSpPr>
            <a:spLocks noGrp="1"/>
          </p:cNvSpPr>
          <p:nvPr>
            <p:ph type="dt" sz="half" idx="10"/>
          </p:nvPr>
        </p:nvSpPr>
        <p:spPr/>
        <p:txBody>
          <a:bodyPr/>
          <a:lstStyle/>
          <a:p>
            <a:fld id="{1255FE40-F50D-4ABC-8DA8-6088E7D4A25E}" type="datetime1">
              <a:rPr lang="en-US" smtClean="0"/>
              <a:t>9/17/2026</a:t>
            </a:fld>
            <a:endParaRPr lang="en-US"/>
          </a:p>
        </p:txBody>
      </p:sp>
      <p:sp>
        <p:nvSpPr>
          <p:cNvPr id="5" name="Footer Placeholder 4">
            <a:extLst>
              <a:ext uri="{FF2B5EF4-FFF2-40B4-BE49-F238E27FC236}">
                <a16:creationId xmlns:a16="http://schemas.microsoft.com/office/drawing/2014/main" id="{28AD07C1-5656-BC48-211B-A23530A3E336}"/>
              </a:ext>
            </a:extLst>
          </p:cNvPr>
          <p:cNvSpPr>
            <a:spLocks noGrp="1"/>
          </p:cNvSpPr>
          <p:nvPr>
            <p:ph type="ftr" sz="quarter" idx="11"/>
          </p:nvPr>
        </p:nvSpPr>
        <p:spPr/>
        <p:txBody>
          <a:bodyPr/>
          <a:lstStyle/>
          <a:p>
            <a:r>
              <a:rPr lang="en-US"/>
              <a:t>Prepared By Mr.V.Rajashekhar</a:t>
            </a:r>
          </a:p>
        </p:txBody>
      </p:sp>
      <p:sp>
        <p:nvSpPr>
          <p:cNvPr id="6" name="Slide Number Placeholder 5">
            <a:extLst>
              <a:ext uri="{FF2B5EF4-FFF2-40B4-BE49-F238E27FC236}">
                <a16:creationId xmlns:a16="http://schemas.microsoft.com/office/drawing/2014/main" id="{32814673-E62F-1F90-BC2C-ACFC9ED8693B}"/>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2446200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CBFA1-D8FF-321D-FBCA-38A0B40164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5DC93E-ED10-D8A7-FAB6-8EB9B8F4BC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CBF49-40D3-DA60-FF59-2BDCEBE7137F}"/>
              </a:ext>
            </a:extLst>
          </p:cNvPr>
          <p:cNvSpPr>
            <a:spLocks noGrp="1"/>
          </p:cNvSpPr>
          <p:nvPr>
            <p:ph type="dt" sz="half" idx="10"/>
          </p:nvPr>
        </p:nvSpPr>
        <p:spPr/>
        <p:txBody>
          <a:bodyPr/>
          <a:lstStyle/>
          <a:p>
            <a:fld id="{3694E162-9681-4962-8D47-C9B6D881961D}" type="datetime1">
              <a:rPr lang="en-US" smtClean="0"/>
              <a:t>9/17/2026</a:t>
            </a:fld>
            <a:endParaRPr lang="en-US"/>
          </a:p>
        </p:txBody>
      </p:sp>
      <p:sp>
        <p:nvSpPr>
          <p:cNvPr id="5" name="Footer Placeholder 4">
            <a:extLst>
              <a:ext uri="{FF2B5EF4-FFF2-40B4-BE49-F238E27FC236}">
                <a16:creationId xmlns:a16="http://schemas.microsoft.com/office/drawing/2014/main" id="{707E35DB-8D66-D5CD-9674-9968A842261B}"/>
              </a:ext>
            </a:extLst>
          </p:cNvPr>
          <p:cNvSpPr>
            <a:spLocks noGrp="1"/>
          </p:cNvSpPr>
          <p:nvPr>
            <p:ph type="ftr" sz="quarter" idx="11"/>
          </p:nvPr>
        </p:nvSpPr>
        <p:spPr/>
        <p:txBody>
          <a:bodyPr/>
          <a:lstStyle/>
          <a:p>
            <a:r>
              <a:rPr lang="en-US"/>
              <a:t>Prepared By Mr.V.Rajashekhar</a:t>
            </a:r>
          </a:p>
        </p:txBody>
      </p:sp>
      <p:sp>
        <p:nvSpPr>
          <p:cNvPr id="6" name="Slide Number Placeholder 5">
            <a:extLst>
              <a:ext uri="{FF2B5EF4-FFF2-40B4-BE49-F238E27FC236}">
                <a16:creationId xmlns:a16="http://schemas.microsoft.com/office/drawing/2014/main" id="{393BF807-34CA-2E7A-077A-E33732D336A9}"/>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229398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CA22D-5CC9-2F6A-9E80-A6D6C84A4F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A09FBE-5346-F6C6-EA29-08827581DF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DE32BD-49E9-382F-93F7-0545CB05E282}"/>
              </a:ext>
            </a:extLst>
          </p:cNvPr>
          <p:cNvSpPr>
            <a:spLocks noGrp="1"/>
          </p:cNvSpPr>
          <p:nvPr>
            <p:ph type="dt" sz="half" idx="10"/>
          </p:nvPr>
        </p:nvSpPr>
        <p:spPr/>
        <p:txBody>
          <a:bodyPr/>
          <a:lstStyle/>
          <a:p>
            <a:fld id="{46A735BC-A7D0-4BF9-BF2E-35C343C6FC59}" type="datetime1">
              <a:rPr lang="en-US" smtClean="0"/>
              <a:t>9/17/2026</a:t>
            </a:fld>
            <a:endParaRPr lang="en-US"/>
          </a:p>
        </p:txBody>
      </p:sp>
      <p:sp>
        <p:nvSpPr>
          <p:cNvPr id="5" name="Footer Placeholder 4">
            <a:extLst>
              <a:ext uri="{FF2B5EF4-FFF2-40B4-BE49-F238E27FC236}">
                <a16:creationId xmlns:a16="http://schemas.microsoft.com/office/drawing/2014/main" id="{65E67642-918C-82A9-B6C9-77D7A37FD358}"/>
              </a:ext>
            </a:extLst>
          </p:cNvPr>
          <p:cNvSpPr>
            <a:spLocks noGrp="1"/>
          </p:cNvSpPr>
          <p:nvPr>
            <p:ph type="ftr" sz="quarter" idx="11"/>
          </p:nvPr>
        </p:nvSpPr>
        <p:spPr/>
        <p:txBody>
          <a:bodyPr/>
          <a:lstStyle/>
          <a:p>
            <a:r>
              <a:rPr lang="en-US"/>
              <a:t>Prepared By Mr.V.Rajashekhar</a:t>
            </a:r>
          </a:p>
        </p:txBody>
      </p:sp>
      <p:sp>
        <p:nvSpPr>
          <p:cNvPr id="6" name="Slide Number Placeholder 5">
            <a:extLst>
              <a:ext uri="{FF2B5EF4-FFF2-40B4-BE49-F238E27FC236}">
                <a16:creationId xmlns:a16="http://schemas.microsoft.com/office/drawing/2014/main" id="{28F6F4E4-944D-F51D-59C4-3392C1FD9EC4}"/>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623362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9C550-D0C9-479A-84C4-D0949FE309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569168-1D84-97A9-51E3-3EB903AD28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42CBF3-3784-4CE7-F517-BF2DB44959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305B51-7305-BF2F-14A3-7475D39E3B18}"/>
              </a:ext>
            </a:extLst>
          </p:cNvPr>
          <p:cNvSpPr>
            <a:spLocks noGrp="1"/>
          </p:cNvSpPr>
          <p:nvPr>
            <p:ph type="dt" sz="half" idx="10"/>
          </p:nvPr>
        </p:nvSpPr>
        <p:spPr/>
        <p:txBody>
          <a:bodyPr/>
          <a:lstStyle/>
          <a:p>
            <a:fld id="{70BC8F6E-23E0-4C9D-A72F-B04B4E6FC68E}" type="datetime1">
              <a:rPr lang="en-US" smtClean="0"/>
              <a:t>9/17/2026</a:t>
            </a:fld>
            <a:endParaRPr lang="en-US"/>
          </a:p>
        </p:txBody>
      </p:sp>
      <p:sp>
        <p:nvSpPr>
          <p:cNvPr id="6" name="Footer Placeholder 5">
            <a:extLst>
              <a:ext uri="{FF2B5EF4-FFF2-40B4-BE49-F238E27FC236}">
                <a16:creationId xmlns:a16="http://schemas.microsoft.com/office/drawing/2014/main" id="{6FBC36A6-765F-443F-F72D-BCCF6196AAC3}"/>
              </a:ext>
            </a:extLst>
          </p:cNvPr>
          <p:cNvSpPr>
            <a:spLocks noGrp="1"/>
          </p:cNvSpPr>
          <p:nvPr>
            <p:ph type="ftr" sz="quarter" idx="11"/>
          </p:nvPr>
        </p:nvSpPr>
        <p:spPr/>
        <p:txBody>
          <a:bodyPr/>
          <a:lstStyle/>
          <a:p>
            <a:r>
              <a:rPr lang="en-US"/>
              <a:t>Prepared By Mr.V.Rajashekhar</a:t>
            </a:r>
          </a:p>
        </p:txBody>
      </p:sp>
      <p:sp>
        <p:nvSpPr>
          <p:cNvPr id="7" name="Slide Number Placeholder 6">
            <a:extLst>
              <a:ext uri="{FF2B5EF4-FFF2-40B4-BE49-F238E27FC236}">
                <a16:creationId xmlns:a16="http://schemas.microsoft.com/office/drawing/2014/main" id="{073A5EBC-CA7D-0CFB-FC1C-F438527E6910}"/>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693189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EB29A-10EA-72DC-06F5-ED303C1FC9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7260CE-917C-810A-4590-CA8B852FF0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9AD943-DB05-EDC7-D3E0-DEDC839AD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7A33D1-CAE6-547A-228E-1541D43EEF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4A6D3B-5E43-6632-B046-1E649E854D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EE7617-1123-4C59-6B41-1F22AEEBB23A}"/>
              </a:ext>
            </a:extLst>
          </p:cNvPr>
          <p:cNvSpPr>
            <a:spLocks noGrp="1"/>
          </p:cNvSpPr>
          <p:nvPr>
            <p:ph type="dt" sz="half" idx="10"/>
          </p:nvPr>
        </p:nvSpPr>
        <p:spPr/>
        <p:txBody>
          <a:bodyPr/>
          <a:lstStyle/>
          <a:p>
            <a:fld id="{A2BDA545-2AE5-4A88-919B-0088E1994003}" type="datetime1">
              <a:rPr lang="en-US" smtClean="0"/>
              <a:t>9/17/2026</a:t>
            </a:fld>
            <a:endParaRPr lang="en-US"/>
          </a:p>
        </p:txBody>
      </p:sp>
      <p:sp>
        <p:nvSpPr>
          <p:cNvPr id="8" name="Footer Placeholder 7">
            <a:extLst>
              <a:ext uri="{FF2B5EF4-FFF2-40B4-BE49-F238E27FC236}">
                <a16:creationId xmlns:a16="http://schemas.microsoft.com/office/drawing/2014/main" id="{89D9B7DE-6EAA-0A62-33C9-02172D39AC79}"/>
              </a:ext>
            </a:extLst>
          </p:cNvPr>
          <p:cNvSpPr>
            <a:spLocks noGrp="1"/>
          </p:cNvSpPr>
          <p:nvPr>
            <p:ph type="ftr" sz="quarter" idx="11"/>
          </p:nvPr>
        </p:nvSpPr>
        <p:spPr/>
        <p:txBody>
          <a:bodyPr/>
          <a:lstStyle/>
          <a:p>
            <a:r>
              <a:rPr lang="en-US"/>
              <a:t>Prepared By Mr.V.Rajashekhar</a:t>
            </a:r>
          </a:p>
        </p:txBody>
      </p:sp>
      <p:sp>
        <p:nvSpPr>
          <p:cNvPr id="9" name="Slide Number Placeholder 8">
            <a:extLst>
              <a:ext uri="{FF2B5EF4-FFF2-40B4-BE49-F238E27FC236}">
                <a16:creationId xmlns:a16="http://schemas.microsoft.com/office/drawing/2014/main" id="{D3D5B97A-772E-0A99-E535-412E7DDEB06F}"/>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3735263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B9D9-0497-48C6-8963-FE799EC5C6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D95ACE-2B02-C47B-FA91-0296796B77DE}"/>
              </a:ext>
            </a:extLst>
          </p:cNvPr>
          <p:cNvSpPr>
            <a:spLocks noGrp="1"/>
          </p:cNvSpPr>
          <p:nvPr>
            <p:ph type="dt" sz="half" idx="10"/>
          </p:nvPr>
        </p:nvSpPr>
        <p:spPr/>
        <p:txBody>
          <a:bodyPr/>
          <a:lstStyle/>
          <a:p>
            <a:fld id="{06ACB133-50CD-4856-AEA8-8100D0A4432B}" type="datetime1">
              <a:rPr lang="en-US" smtClean="0"/>
              <a:t>9/17/2026</a:t>
            </a:fld>
            <a:endParaRPr lang="en-US"/>
          </a:p>
        </p:txBody>
      </p:sp>
      <p:sp>
        <p:nvSpPr>
          <p:cNvPr id="4" name="Footer Placeholder 3">
            <a:extLst>
              <a:ext uri="{FF2B5EF4-FFF2-40B4-BE49-F238E27FC236}">
                <a16:creationId xmlns:a16="http://schemas.microsoft.com/office/drawing/2014/main" id="{73AFE55E-2A06-68B5-62EE-6B0C35DE8A2B}"/>
              </a:ext>
            </a:extLst>
          </p:cNvPr>
          <p:cNvSpPr>
            <a:spLocks noGrp="1"/>
          </p:cNvSpPr>
          <p:nvPr>
            <p:ph type="ftr" sz="quarter" idx="11"/>
          </p:nvPr>
        </p:nvSpPr>
        <p:spPr/>
        <p:txBody>
          <a:bodyPr/>
          <a:lstStyle/>
          <a:p>
            <a:r>
              <a:rPr lang="en-US"/>
              <a:t>Prepared By Mr.V.Rajashekhar</a:t>
            </a:r>
          </a:p>
        </p:txBody>
      </p:sp>
      <p:sp>
        <p:nvSpPr>
          <p:cNvPr id="5" name="Slide Number Placeholder 4">
            <a:extLst>
              <a:ext uri="{FF2B5EF4-FFF2-40B4-BE49-F238E27FC236}">
                <a16:creationId xmlns:a16="http://schemas.microsoft.com/office/drawing/2014/main" id="{6C514DFF-C40F-3FCC-D188-87604CD03861}"/>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230090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3714A1-5235-4A34-E5B0-DB1EFD649687}"/>
              </a:ext>
            </a:extLst>
          </p:cNvPr>
          <p:cNvSpPr>
            <a:spLocks noGrp="1"/>
          </p:cNvSpPr>
          <p:nvPr>
            <p:ph type="dt" sz="half" idx="10"/>
          </p:nvPr>
        </p:nvSpPr>
        <p:spPr/>
        <p:txBody>
          <a:bodyPr/>
          <a:lstStyle/>
          <a:p>
            <a:fld id="{F419B477-C122-4F69-87FB-7266C14DB8E6}" type="datetime1">
              <a:rPr lang="en-US" smtClean="0"/>
              <a:t>9/17/2026</a:t>
            </a:fld>
            <a:endParaRPr lang="en-US"/>
          </a:p>
        </p:txBody>
      </p:sp>
      <p:sp>
        <p:nvSpPr>
          <p:cNvPr id="3" name="Footer Placeholder 2">
            <a:extLst>
              <a:ext uri="{FF2B5EF4-FFF2-40B4-BE49-F238E27FC236}">
                <a16:creationId xmlns:a16="http://schemas.microsoft.com/office/drawing/2014/main" id="{C033AC0A-67E9-7CF6-1B04-7647A6207FE8}"/>
              </a:ext>
            </a:extLst>
          </p:cNvPr>
          <p:cNvSpPr>
            <a:spLocks noGrp="1"/>
          </p:cNvSpPr>
          <p:nvPr>
            <p:ph type="ftr" sz="quarter" idx="11"/>
          </p:nvPr>
        </p:nvSpPr>
        <p:spPr/>
        <p:txBody>
          <a:bodyPr/>
          <a:lstStyle/>
          <a:p>
            <a:r>
              <a:rPr lang="en-US"/>
              <a:t>Prepared By Mr.V.Rajashekhar</a:t>
            </a:r>
          </a:p>
        </p:txBody>
      </p:sp>
      <p:sp>
        <p:nvSpPr>
          <p:cNvPr id="4" name="Slide Number Placeholder 3">
            <a:extLst>
              <a:ext uri="{FF2B5EF4-FFF2-40B4-BE49-F238E27FC236}">
                <a16:creationId xmlns:a16="http://schemas.microsoft.com/office/drawing/2014/main" id="{41B1382F-0964-C4CB-1963-6E0E868C1E16}"/>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513549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184D-5333-FE85-640D-5A2F6EBD70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2C06C9-5056-1111-45C0-D86D7B8D73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DA134A-51EA-5647-A290-65A033D772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F27608-1CD8-B5E2-CAB3-2B726894D798}"/>
              </a:ext>
            </a:extLst>
          </p:cNvPr>
          <p:cNvSpPr>
            <a:spLocks noGrp="1"/>
          </p:cNvSpPr>
          <p:nvPr>
            <p:ph type="dt" sz="half" idx="10"/>
          </p:nvPr>
        </p:nvSpPr>
        <p:spPr/>
        <p:txBody>
          <a:bodyPr/>
          <a:lstStyle/>
          <a:p>
            <a:fld id="{FD675176-EE8E-492D-9E5B-32A07389B610}" type="datetime1">
              <a:rPr lang="en-US" smtClean="0"/>
              <a:t>9/17/2026</a:t>
            </a:fld>
            <a:endParaRPr lang="en-US"/>
          </a:p>
        </p:txBody>
      </p:sp>
      <p:sp>
        <p:nvSpPr>
          <p:cNvPr id="6" name="Footer Placeholder 5">
            <a:extLst>
              <a:ext uri="{FF2B5EF4-FFF2-40B4-BE49-F238E27FC236}">
                <a16:creationId xmlns:a16="http://schemas.microsoft.com/office/drawing/2014/main" id="{5CD0F5CA-37E4-4DDE-E9E1-DC1A862363C5}"/>
              </a:ext>
            </a:extLst>
          </p:cNvPr>
          <p:cNvSpPr>
            <a:spLocks noGrp="1"/>
          </p:cNvSpPr>
          <p:nvPr>
            <p:ph type="ftr" sz="quarter" idx="11"/>
          </p:nvPr>
        </p:nvSpPr>
        <p:spPr/>
        <p:txBody>
          <a:bodyPr/>
          <a:lstStyle/>
          <a:p>
            <a:r>
              <a:rPr lang="en-US"/>
              <a:t>Prepared By Mr.V.Rajashekhar</a:t>
            </a:r>
          </a:p>
        </p:txBody>
      </p:sp>
      <p:sp>
        <p:nvSpPr>
          <p:cNvPr id="7" name="Slide Number Placeholder 6">
            <a:extLst>
              <a:ext uri="{FF2B5EF4-FFF2-40B4-BE49-F238E27FC236}">
                <a16:creationId xmlns:a16="http://schemas.microsoft.com/office/drawing/2014/main" id="{E10E4A93-24C2-1D21-5A7B-A0C1E9408C58}"/>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3757391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D262E-32D0-04E0-546E-F32F151C56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E2E03F-81A5-CC74-5487-9BCA550649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F0374A-CB66-B5A5-AF37-6123245F2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F9601B-5C51-3C41-7C11-D1438C6D94DC}"/>
              </a:ext>
            </a:extLst>
          </p:cNvPr>
          <p:cNvSpPr>
            <a:spLocks noGrp="1"/>
          </p:cNvSpPr>
          <p:nvPr>
            <p:ph type="dt" sz="half" idx="10"/>
          </p:nvPr>
        </p:nvSpPr>
        <p:spPr/>
        <p:txBody>
          <a:bodyPr/>
          <a:lstStyle/>
          <a:p>
            <a:fld id="{8354137A-53F3-4FAA-A114-DFA1F80C33F9}" type="datetime1">
              <a:rPr lang="en-US" smtClean="0"/>
              <a:t>9/17/2026</a:t>
            </a:fld>
            <a:endParaRPr lang="en-US"/>
          </a:p>
        </p:txBody>
      </p:sp>
      <p:sp>
        <p:nvSpPr>
          <p:cNvPr id="6" name="Footer Placeholder 5">
            <a:extLst>
              <a:ext uri="{FF2B5EF4-FFF2-40B4-BE49-F238E27FC236}">
                <a16:creationId xmlns:a16="http://schemas.microsoft.com/office/drawing/2014/main" id="{3F597DE6-E06A-0A49-7484-21195E1C0C54}"/>
              </a:ext>
            </a:extLst>
          </p:cNvPr>
          <p:cNvSpPr>
            <a:spLocks noGrp="1"/>
          </p:cNvSpPr>
          <p:nvPr>
            <p:ph type="ftr" sz="quarter" idx="11"/>
          </p:nvPr>
        </p:nvSpPr>
        <p:spPr/>
        <p:txBody>
          <a:bodyPr/>
          <a:lstStyle/>
          <a:p>
            <a:r>
              <a:rPr lang="en-US"/>
              <a:t>Prepared By Mr.V.Rajashekhar</a:t>
            </a:r>
          </a:p>
        </p:txBody>
      </p:sp>
      <p:sp>
        <p:nvSpPr>
          <p:cNvPr id="7" name="Slide Number Placeholder 6">
            <a:extLst>
              <a:ext uri="{FF2B5EF4-FFF2-40B4-BE49-F238E27FC236}">
                <a16:creationId xmlns:a16="http://schemas.microsoft.com/office/drawing/2014/main" id="{BF22656B-54E8-4774-A4BD-32B80ED2C7A9}"/>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1447176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1321E-AECA-BFB0-2316-05E230D895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91499B-CFA7-1055-1EB4-E90BB5CB25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937B9-DB79-EA7F-F78A-25F432DC1E82}"/>
              </a:ext>
            </a:extLst>
          </p:cNvPr>
          <p:cNvSpPr>
            <a:spLocks noGrp="1"/>
          </p:cNvSpPr>
          <p:nvPr>
            <p:ph type="dt" sz="half" idx="10"/>
          </p:nvPr>
        </p:nvSpPr>
        <p:spPr/>
        <p:txBody>
          <a:bodyPr/>
          <a:lstStyle/>
          <a:p>
            <a:fld id="{AFC4956E-698A-4F05-B21C-603E88E4D723}" type="datetime1">
              <a:rPr lang="en-US" smtClean="0"/>
              <a:t>9/17/2026</a:t>
            </a:fld>
            <a:endParaRPr lang="en-US"/>
          </a:p>
        </p:txBody>
      </p:sp>
      <p:sp>
        <p:nvSpPr>
          <p:cNvPr id="5" name="Footer Placeholder 4">
            <a:extLst>
              <a:ext uri="{FF2B5EF4-FFF2-40B4-BE49-F238E27FC236}">
                <a16:creationId xmlns:a16="http://schemas.microsoft.com/office/drawing/2014/main" id="{9F702321-B5A3-6E79-FFCF-68ADF7B87D7D}"/>
              </a:ext>
            </a:extLst>
          </p:cNvPr>
          <p:cNvSpPr>
            <a:spLocks noGrp="1"/>
          </p:cNvSpPr>
          <p:nvPr>
            <p:ph type="ftr" sz="quarter" idx="11"/>
          </p:nvPr>
        </p:nvSpPr>
        <p:spPr/>
        <p:txBody>
          <a:bodyPr/>
          <a:lstStyle/>
          <a:p>
            <a:r>
              <a:rPr lang="en-US"/>
              <a:t>Prepared By Mr.V.Rajashekhar</a:t>
            </a:r>
          </a:p>
        </p:txBody>
      </p:sp>
      <p:sp>
        <p:nvSpPr>
          <p:cNvPr id="6" name="Slide Number Placeholder 5">
            <a:extLst>
              <a:ext uri="{FF2B5EF4-FFF2-40B4-BE49-F238E27FC236}">
                <a16:creationId xmlns:a16="http://schemas.microsoft.com/office/drawing/2014/main" id="{94C5CF4E-93E2-EF6A-6DD6-A72DA6E2C4A0}"/>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3577183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FA2AFE-30BD-B725-17A3-6F3F1BB774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6E3C3F-EB05-A63C-FCB1-F2294D4F00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8DE0C1-CEA2-56AB-0FF5-5FB493C54D9B}"/>
              </a:ext>
            </a:extLst>
          </p:cNvPr>
          <p:cNvSpPr>
            <a:spLocks noGrp="1"/>
          </p:cNvSpPr>
          <p:nvPr>
            <p:ph type="dt" sz="half" idx="10"/>
          </p:nvPr>
        </p:nvSpPr>
        <p:spPr/>
        <p:txBody>
          <a:bodyPr/>
          <a:lstStyle/>
          <a:p>
            <a:fld id="{BAB7CBBC-70CD-41EE-809E-9E05745C9F27}" type="datetime1">
              <a:rPr lang="en-US" smtClean="0"/>
              <a:t>9/17/2026</a:t>
            </a:fld>
            <a:endParaRPr lang="en-US"/>
          </a:p>
        </p:txBody>
      </p:sp>
      <p:sp>
        <p:nvSpPr>
          <p:cNvPr id="5" name="Footer Placeholder 4">
            <a:extLst>
              <a:ext uri="{FF2B5EF4-FFF2-40B4-BE49-F238E27FC236}">
                <a16:creationId xmlns:a16="http://schemas.microsoft.com/office/drawing/2014/main" id="{F71BF08B-AC65-0583-8680-A93727519F7A}"/>
              </a:ext>
            </a:extLst>
          </p:cNvPr>
          <p:cNvSpPr>
            <a:spLocks noGrp="1"/>
          </p:cNvSpPr>
          <p:nvPr>
            <p:ph type="ftr" sz="quarter" idx="11"/>
          </p:nvPr>
        </p:nvSpPr>
        <p:spPr/>
        <p:txBody>
          <a:bodyPr/>
          <a:lstStyle/>
          <a:p>
            <a:r>
              <a:rPr lang="en-US"/>
              <a:t>Prepared By Mr.V.Rajashekhar</a:t>
            </a:r>
          </a:p>
        </p:txBody>
      </p:sp>
      <p:sp>
        <p:nvSpPr>
          <p:cNvPr id="6" name="Slide Number Placeholder 5">
            <a:extLst>
              <a:ext uri="{FF2B5EF4-FFF2-40B4-BE49-F238E27FC236}">
                <a16:creationId xmlns:a16="http://schemas.microsoft.com/office/drawing/2014/main" id="{8CB11D22-12D3-907C-BBC9-6BEF554514DC}"/>
              </a:ext>
            </a:extLst>
          </p:cNvPr>
          <p:cNvSpPr>
            <a:spLocks noGrp="1"/>
          </p:cNvSpPr>
          <p:nvPr>
            <p:ph type="sldNum" sz="quarter" idx="12"/>
          </p:nvPr>
        </p:nvSpPr>
        <p:spPr/>
        <p:txBody>
          <a:bodyPr/>
          <a:lstStyle/>
          <a:p>
            <a:fld id="{CD9E0E7A-1A1C-4018-B05E-E2DC074E6DA7}" type="slidenum">
              <a:rPr lang="en-US" smtClean="0"/>
              <a:t>‹#›</a:t>
            </a:fld>
            <a:endParaRPr lang="en-US"/>
          </a:p>
        </p:txBody>
      </p:sp>
    </p:spTree>
    <p:extLst>
      <p:ext uri="{BB962C8B-B14F-4D97-AF65-F5344CB8AC3E}">
        <p14:creationId xmlns:p14="http://schemas.microsoft.com/office/powerpoint/2010/main" val="3170519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59D485-7F98-E082-01C0-05F72F979F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6EB9EA-44C6-5EF0-C262-FFCD5C4EE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D90905-6A6F-CE04-A462-27E66322D3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0FED55-C8A8-4699-B3A4-AA069A85F684}" type="datetime1">
              <a:rPr lang="en-US" smtClean="0"/>
              <a:t>9/17/2026</a:t>
            </a:fld>
            <a:endParaRPr lang="en-US"/>
          </a:p>
        </p:txBody>
      </p:sp>
      <p:sp>
        <p:nvSpPr>
          <p:cNvPr id="5" name="Footer Placeholder 4">
            <a:extLst>
              <a:ext uri="{FF2B5EF4-FFF2-40B4-BE49-F238E27FC236}">
                <a16:creationId xmlns:a16="http://schemas.microsoft.com/office/drawing/2014/main" id="{28CFA629-F855-1C83-C7BA-4663F96824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Prepared By Mr.V.Rajashekhar</a:t>
            </a:r>
          </a:p>
        </p:txBody>
      </p:sp>
      <p:sp>
        <p:nvSpPr>
          <p:cNvPr id="6" name="Slide Number Placeholder 5">
            <a:extLst>
              <a:ext uri="{FF2B5EF4-FFF2-40B4-BE49-F238E27FC236}">
                <a16:creationId xmlns:a16="http://schemas.microsoft.com/office/drawing/2014/main" id="{1066944D-DE70-5983-1C53-5425D2FC94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9E0E7A-1A1C-4018-B05E-E2DC074E6DA7}" type="slidenum">
              <a:rPr lang="en-US" smtClean="0"/>
              <a:t>‹#›</a:t>
            </a:fld>
            <a:endParaRPr lang="en-US"/>
          </a:p>
        </p:txBody>
      </p:sp>
    </p:spTree>
    <p:extLst>
      <p:ext uri="{BB962C8B-B14F-4D97-AF65-F5344CB8AC3E}">
        <p14:creationId xmlns:p14="http://schemas.microsoft.com/office/powerpoint/2010/main" val="1791783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EC7AFE-BD88-D7C1-251D-FB68E607F05A}"/>
              </a:ext>
            </a:extLst>
          </p:cNvPr>
          <p:cNvSpPr txBox="1"/>
          <p:nvPr/>
        </p:nvSpPr>
        <p:spPr>
          <a:xfrm>
            <a:off x="113371" y="514727"/>
            <a:ext cx="11965258" cy="4770537"/>
          </a:xfrm>
          <a:prstGeom prst="rect">
            <a:avLst/>
          </a:prstGeom>
          <a:noFill/>
        </p:spPr>
        <p:txBody>
          <a:bodyPr wrap="square">
            <a:spAutoFit/>
          </a:bodyPr>
          <a:lstStyle/>
          <a:p>
            <a:pPr algn="ctr"/>
            <a:r>
              <a:rPr lang="en-US" sz="4000" b="1" dirty="0">
                <a:solidFill>
                  <a:srgbClr val="FF0000"/>
                </a:solidFill>
                <a:latin typeface="+mj-lt"/>
                <a:cs typeface="Times New Roman" panose="02020603050405020304" pitchFamily="18" charset="0"/>
              </a:rPr>
              <a:t>UNIT - I </a:t>
            </a:r>
          </a:p>
          <a:p>
            <a:endParaRPr lang="en-US" sz="2400" dirty="0">
              <a:latin typeface="Times New Roman" panose="02020603050405020304" pitchFamily="18" charset="0"/>
              <a:cs typeface="Times New Roman" panose="02020603050405020304" pitchFamily="18" charset="0"/>
            </a:endParaRPr>
          </a:p>
          <a:p>
            <a:pPr algn="just"/>
            <a:r>
              <a:rPr lang="en-US" sz="2400" b="1" dirty="0">
                <a:solidFill>
                  <a:srgbClr val="FF0000"/>
                </a:solidFill>
                <a:latin typeface="+mj-lt"/>
                <a:cs typeface="Times New Roman" panose="02020603050405020304" pitchFamily="18" charset="0"/>
              </a:rPr>
              <a:t>Overview of C: </a:t>
            </a:r>
            <a:r>
              <a:rPr lang="en-US" sz="2400" dirty="0">
                <a:latin typeface="+mj-lt"/>
                <a:cs typeface="Times New Roman" panose="02020603050405020304" pitchFamily="18" charset="0"/>
              </a:rPr>
              <a:t>C Language Elements, Variable Declarations and Data Types, Executable Statements, General Form of a C Program, Arithmetic Expressions. </a:t>
            </a:r>
          </a:p>
          <a:p>
            <a:pPr algn="just"/>
            <a:endParaRPr lang="en-US" sz="2400" dirty="0">
              <a:latin typeface="+mj-lt"/>
              <a:cs typeface="Times New Roman" panose="02020603050405020304" pitchFamily="18" charset="0"/>
            </a:endParaRPr>
          </a:p>
          <a:p>
            <a:pPr algn="just"/>
            <a:r>
              <a:rPr lang="en-US" sz="2400" b="1" dirty="0">
                <a:solidFill>
                  <a:srgbClr val="FF0000"/>
                </a:solidFill>
                <a:latin typeface="+mj-lt"/>
                <a:cs typeface="Times New Roman" panose="02020603050405020304" pitchFamily="18" charset="0"/>
              </a:rPr>
              <a:t>Selection Structures: </a:t>
            </a:r>
            <a:r>
              <a:rPr lang="en-US" sz="2400" dirty="0">
                <a:latin typeface="+mj-lt"/>
                <a:cs typeface="Times New Roman" panose="02020603050405020304" pitchFamily="18" charset="0"/>
              </a:rPr>
              <a:t>Control Structures, Conditions, if Statement, if Statements with Compound Statements, Decision Steps in Algorithms. </a:t>
            </a:r>
          </a:p>
          <a:p>
            <a:pPr algn="just"/>
            <a:endParaRPr lang="en-US" sz="2400" dirty="0">
              <a:latin typeface="+mj-lt"/>
              <a:cs typeface="Times New Roman" panose="02020603050405020304" pitchFamily="18" charset="0"/>
            </a:endParaRPr>
          </a:p>
          <a:p>
            <a:pPr algn="just"/>
            <a:r>
              <a:rPr lang="en-US" sz="2400" b="1" dirty="0">
                <a:solidFill>
                  <a:srgbClr val="FF0000"/>
                </a:solidFill>
                <a:latin typeface="+mj-lt"/>
                <a:cs typeface="Times New Roman" panose="02020603050405020304" pitchFamily="18" charset="0"/>
              </a:rPr>
              <a:t>Repetition and Loop Statements: </a:t>
            </a:r>
            <a:r>
              <a:rPr lang="en-US" sz="2400" dirty="0">
                <a:latin typeface="+mj-lt"/>
                <a:cs typeface="Times New Roman" panose="02020603050405020304" pitchFamily="18" charset="0"/>
              </a:rPr>
              <a:t>Repetition in Programs, Counting Loops and the while Statement, Computing a Sum or Product in a Loop, for Statement, Conditional Loops, Loop Design, Nested Loops, do-while Statement. </a:t>
            </a: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9FF1DCF-F977-B76C-CC55-2B114428C675}"/>
              </a:ext>
            </a:extLst>
          </p:cNvPr>
          <p:cNvSpPr>
            <a:spLocks noGrp="1"/>
          </p:cNvSpPr>
          <p:nvPr>
            <p:ph type="ftr" sz="quarter" idx="11"/>
          </p:nvPr>
        </p:nvSpPr>
        <p:spPr>
          <a:xfrm>
            <a:off x="4038600" y="5813380"/>
            <a:ext cx="4114800" cy="365125"/>
          </a:xfrm>
        </p:spPr>
        <p:txBody>
          <a:bodyPr/>
          <a:lstStyle/>
          <a:p>
            <a:r>
              <a:rPr lang="en-US" sz="24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4C2434C0-4903-A2C7-D017-50445F2D174F}"/>
              </a:ext>
            </a:extLst>
          </p:cNvPr>
          <p:cNvSpPr>
            <a:spLocks noGrp="1"/>
          </p:cNvSpPr>
          <p:nvPr>
            <p:ph type="sldNum" sz="quarter" idx="12"/>
          </p:nvPr>
        </p:nvSpPr>
        <p:spPr>
          <a:xfrm>
            <a:off x="9059470" y="5630817"/>
            <a:ext cx="2743200" cy="365125"/>
          </a:xfrm>
        </p:spPr>
        <p:txBody>
          <a:bodyPr/>
          <a:lstStyle/>
          <a:p>
            <a:fld id="{CD9E0E7A-1A1C-4018-B05E-E2DC074E6DA7}" type="slidenum">
              <a:rPr lang="en-US" sz="2400" b="1" smtClean="0">
                <a:solidFill>
                  <a:srgbClr val="0617BA"/>
                </a:solidFill>
                <a:latin typeface="Times New Roman" panose="02020603050405020304" pitchFamily="18" charset="0"/>
                <a:cs typeface="Times New Roman" panose="02020603050405020304" pitchFamily="18" charset="0"/>
              </a:rPr>
              <a:t>1</a:t>
            </a:fld>
            <a:endParaRPr lang="en-US" sz="24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DEC24AA1-C707-0AE7-D528-92CC94E2FE65}"/>
              </a:ext>
            </a:extLst>
          </p:cNvPr>
          <p:cNvSpPr txBox="1">
            <a:spLocks/>
          </p:cNvSpPr>
          <p:nvPr/>
        </p:nvSpPr>
        <p:spPr>
          <a:xfrm>
            <a:off x="-401444" y="5799990"/>
            <a:ext cx="3715215"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rgbClr val="0617BA"/>
                </a:solidFill>
                <a:latin typeface="Calibri" panose="020F0502020204030204" pitchFamily="34" charset="0"/>
                <a:cs typeface="Calibri" panose="020F0502020204030204" pitchFamily="34" charset="0"/>
              </a:rPr>
              <a:t>Department of CSE </a:t>
            </a:r>
          </a:p>
        </p:txBody>
      </p:sp>
      <p:sp>
        <p:nvSpPr>
          <p:cNvPr id="8" name="Rectangle 7">
            <a:extLst>
              <a:ext uri="{FF2B5EF4-FFF2-40B4-BE49-F238E27FC236}">
                <a16:creationId xmlns:a16="http://schemas.microsoft.com/office/drawing/2014/main" id="{3B1BF6F0-028C-D267-21A6-5D8297C4E90C}"/>
              </a:ext>
            </a:extLst>
          </p:cNvPr>
          <p:cNvSpPr/>
          <p:nvPr/>
        </p:nvSpPr>
        <p:spPr>
          <a:xfrm>
            <a:off x="0" y="1"/>
            <a:ext cx="12192000" cy="67066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297720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86000"/>
          </a:schemeClr>
        </a:solidFill>
        <a:effectLst/>
      </p:bgPr>
    </p:bg>
    <p:spTree>
      <p:nvGrpSpPr>
        <p:cNvPr id="1" name="">
          <a:extLst>
            <a:ext uri="{FF2B5EF4-FFF2-40B4-BE49-F238E27FC236}">
              <a16:creationId xmlns:a16="http://schemas.microsoft.com/office/drawing/2014/main" id="{6FA01E95-7584-40A5-21DA-D072DE4D73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CAAFF4-0DF4-6774-7491-28FBD51B8456}"/>
              </a:ext>
            </a:extLst>
          </p:cNvPr>
          <p:cNvSpPr txBox="1"/>
          <p:nvPr/>
        </p:nvSpPr>
        <p:spPr>
          <a:xfrm>
            <a:off x="106181" y="0"/>
            <a:ext cx="12085819" cy="1015663"/>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History of C</a:t>
            </a:r>
            <a:endParaRPr lang="en-US" sz="3600" b="1" dirty="0">
              <a:latin typeface="Cambria" panose="02040503050406030204" pitchFamily="18" charset="0"/>
              <a:ea typeface="Cambria" panose="020405030504060302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E5B89FC8-3102-33E5-CD3B-233662DEF163}"/>
              </a:ext>
            </a:extLst>
          </p:cNvPr>
          <p:cNvSpPr>
            <a:spLocks noGrp="1"/>
          </p:cNvSpPr>
          <p:nvPr>
            <p:ph type="ftr" sz="quarter" idx="11"/>
          </p:nvPr>
        </p:nvSpPr>
        <p:spPr>
          <a:xfrm>
            <a:off x="4161265" y="6292535"/>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4100879B-0FD4-2419-4D1A-50AA6F188A6D}"/>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CAD2D6D6-D1A2-793B-D9CE-7B10E738F71A}"/>
              </a:ext>
            </a:extLst>
          </p:cNvPr>
          <p:cNvSpPr txBox="1">
            <a:spLocks/>
          </p:cNvSpPr>
          <p:nvPr/>
        </p:nvSpPr>
        <p:spPr>
          <a:xfrm>
            <a:off x="0" y="6341497"/>
            <a:ext cx="2969942" cy="267202"/>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061E3D8A-4CAF-4275-A32D-41D9BFB5F106}"/>
              </a:ext>
            </a:extLst>
          </p:cNvPr>
          <p:cNvSpPr txBox="1"/>
          <p:nvPr/>
        </p:nvSpPr>
        <p:spPr>
          <a:xfrm>
            <a:off x="106181" y="674386"/>
            <a:ext cx="11682759" cy="6247864"/>
          </a:xfrm>
          <a:prstGeom prst="rect">
            <a:avLst/>
          </a:prstGeom>
          <a:noFill/>
        </p:spPr>
        <p:txBody>
          <a:bodyPr wrap="square">
            <a:spAutoFit/>
          </a:bodyPr>
          <a:lstStyle/>
          <a:p>
            <a:pPr lvl="0" algn="just"/>
            <a:r>
              <a:rPr lang="en-US" sz="2000" b="1" dirty="0">
                <a:solidFill>
                  <a:srgbClr val="FF0000"/>
                </a:solidFill>
              </a:rPr>
              <a:t>1967 – BCPL</a:t>
            </a:r>
            <a:r>
              <a:rPr lang="en-US" sz="2000" b="1" dirty="0"/>
              <a:t>:</a:t>
            </a:r>
            <a:r>
              <a:rPr lang="en-US" sz="2000" dirty="0"/>
              <a:t> </a:t>
            </a:r>
            <a:r>
              <a:rPr lang="en-US" sz="2000" b="1" dirty="0"/>
              <a:t>BCPL (Basic Combined Programming Language)</a:t>
            </a:r>
            <a:r>
              <a:rPr lang="en-US" sz="2000" dirty="0"/>
              <a:t> was developed by </a:t>
            </a:r>
            <a:r>
              <a:rPr lang="en-US" sz="2000" b="1" dirty="0"/>
              <a:t>Martin Richards</a:t>
            </a:r>
            <a:r>
              <a:rPr lang="en-US" sz="2000" dirty="0"/>
              <a:t>. It influenced the development of later programming languages. </a:t>
            </a:r>
          </a:p>
          <a:p>
            <a:pPr lvl="0" algn="just"/>
            <a:r>
              <a:rPr lang="en-US" sz="2000" b="1" dirty="0">
                <a:solidFill>
                  <a:srgbClr val="FF0000"/>
                </a:solidFill>
              </a:rPr>
              <a:t>1970 – B Language</a:t>
            </a:r>
            <a:r>
              <a:rPr lang="en-US" sz="2000" b="1" dirty="0"/>
              <a:t>:</a:t>
            </a:r>
            <a:r>
              <a:rPr lang="en-US" sz="2000" dirty="0"/>
              <a:t> </a:t>
            </a:r>
            <a:r>
              <a:rPr lang="en-US" sz="2000" b="1" dirty="0"/>
              <a:t>Ken Thompson</a:t>
            </a:r>
            <a:r>
              <a:rPr lang="en-US" sz="2000" dirty="0"/>
              <a:t> developed the </a:t>
            </a:r>
            <a:r>
              <a:rPr lang="en-US" sz="2000" b="1" dirty="0"/>
              <a:t>B programming language</a:t>
            </a:r>
            <a:r>
              <a:rPr lang="en-US" sz="2000" dirty="0"/>
              <a:t> at Bell Labs. B was influenced by BCPL. </a:t>
            </a:r>
          </a:p>
          <a:p>
            <a:pPr lvl="0" algn="just"/>
            <a:r>
              <a:rPr lang="en-US" sz="2000" b="1" dirty="0">
                <a:solidFill>
                  <a:srgbClr val="FF0000"/>
                </a:solidFill>
              </a:rPr>
              <a:t>1972 – C Language</a:t>
            </a:r>
            <a:r>
              <a:rPr lang="en-US" sz="2000" b="1" dirty="0"/>
              <a:t>:</a:t>
            </a:r>
            <a:r>
              <a:rPr lang="en-US" sz="2000" dirty="0"/>
              <a:t> </a:t>
            </a:r>
            <a:r>
              <a:rPr lang="en-US" sz="2000" b="1" dirty="0"/>
              <a:t>Dennis Ritchie</a:t>
            </a:r>
            <a:r>
              <a:rPr lang="en-US" sz="2000" dirty="0"/>
              <a:t> developed </a:t>
            </a:r>
            <a:r>
              <a:rPr lang="en-US" sz="2000" b="1" dirty="0"/>
              <a:t>C</a:t>
            </a:r>
            <a:r>
              <a:rPr lang="en-US" sz="2000" dirty="0"/>
              <a:t> at </a:t>
            </a:r>
            <a:r>
              <a:rPr lang="en-US" sz="2000" b="1" dirty="0"/>
              <a:t>Bell Laboratories (Bell Labs)</a:t>
            </a:r>
            <a:r>
              <a:rPr lang="en-US" sz="2000" dirty="0"/>
              <a:t>. C was derived from the B language. </a:t>
            </a:r>
          </a:p>
          <a:p>
            <a:pPr lvl="0" algn="just"/>
            <a:r>
              <a:rPr lang="en-US" sz="2000" b="1" dirty="0">
                <a:solidFill>
                  <a:srgbClr val="FF0000"/>
                </a:solidFill>
              </a:rPr>
              <a:t>1972 – UNIX</a:t>
            </a:r>
            <a:r>
              <a:rPr lang="en-US" sz="2000" b="1" dirty="0"/>
              <a:t>:</a:t>
            </a:r>
            <a:r>
              <a:rPr lang="en-US" sz="2000" dirty="0"/>
              <a:t> C was developed to help create and develop the </a:t>
            </a:r>
            <a:r>
              <a:rPr lang="en-US" sz="2000" b="1" dirty="0"/>
              <a:t>UNIX Operating System</a:t>
            </a:r>
            <a:r>
              <a:rPr lang="en-US" sz="2000" dirty="0"/>
              <a:t>. </a:t>
            </a:r>
          </a:p>
          <a:p>
            <a:pPr lvl="0" algn="just"/>
            <a:r>
              <a:rPr lang="en-US" sz="2000" b="1" dirty="0">
                <a:solidFill>
                  <a:srgbClr val="FF0000"/>
                </a:solidFill>
              </a:rPr>
              <a:t>1989 – ANSI C</a:t>
            </a:r>
            <a:r>
              <a:rPr lang="en-US" sz="2000" b="1" dirty="0"/>
              <a:t>:</a:t>
            </a:r>
            <a:r>
              <a:rPr lang="en-US" sz="2000" dirty="0"/>
              <a:t> C was standardized by the </a:t>
            </a:r>
            <a:r>
              <a:rPr lang="en-US" sz="2000" b="1" dirty="0"/>
              <a:t>American National Standards Institute (ANSI)</a:t>
            </a:r>
            <a:r>
              <a:rPr lang="en-US" sz="2000" dirty="0"/>
              <a:t>, known as </a:t>
            </a:r>
            <a:r>
              <a:rPr lang="en-US" sz="2000" b="1" dirty="0"/>
              <a:t>C89 (ANSI C)</a:t>
            </a:r>
            <a:r>
              <a:rPr lang="en-US" sz="2000" dirty="0"/>
              <a:t>. </a:t>
            </a:r>
          </a:p>
          <a:p>
            <a:pPr lvl="0" algn="just"/>
            <a:r>
              <a:rPr lang="en-US" sz="2000" b="1" dirty="0">
                <a:solidFill>
                  <a:srgbClr val="FF0000"/>
                </a:solidFill>
              </a:rPr>
              <a:t>1990 – C90:</a:t>
            </a:r>
            <a:r>
              <a:rPr lang="en-US" sz="2000" dirty="0"/>
              <a:t> C was standardized by </a:t>
            </a:r>
            <a:r>
              <a:rPr lang="en-US" sz="2000" b="1" dirty="0"/>
              <a:t>ISO</a:t>
            </a:r>
            <a:r>
              <a:rPr lang="en-US" sz="2000" dirty="0"/>
              <a:t>, resulting in the </a:t>
            </a:r>
            <a:r>
              <a:rPr lang="en-US" sz="2000" b="1" dirty="0"/>
              <a:t>C90</a:t>
            </a:r>
            <a:r>
              <a:rPr lang="en-US" sz="2000" dirty="0"/>
              <a:t> standard. </a:t>
            </a:r>
          </a:p>
          <a:p>
            <a:pPr lvl="0" algn="just"/>
            <a:r>
              <a:rPr lang="en-US" sz="2000" b="1" dirty="0">
                <a:solidFill>
                  <a:srgbClr val="FF0000"/>
                </a:solidFill>
              </a:rPr>
              <a:t>1999 – C99</a:t>
            </a:r>
            <a:r>
              <a:rPr lang="en-US" sz="2000" b="1" dirty="0"/>
              <a:t>:</a:t>
            </a:r>
            <a:r>
              <a:rPr lang="en-US" sz="2000" dirty="0"/>
              <a:t> </a:t>
            </a:r>
            <a:r>
              <a:rPr lang="en-US" sz="2000" b="1" dirty="0"/>
              <a:t>C99</a:t>
            </a:r>
            <a:r>
              <a:rPr lang="en-US" sz="2000" dirty="0"/>
              <a:t> introduced several new features and improvements. </a:t>
            </a:r>
          </a:p>
          <a:p>
            <a:pPr lvl="0" algn="just"/>
            <a:r>
              <a:rPr lang="en-US" sz="2000" b="1" dirty="0">
                <a:solidFill>
                  <a:srgbClr val="FF0000"/>
                </a:solidFill>
              </a:rPr>
              <a:t>2011 – C11:</a:t>
            </a:r>
            <a:r>
              <a:rPr lang="en-US" sz="2000" dirty="0">
                <a:solidFill>
                  <a:srgbClr val="FF0000"/>
                </a:solidFill>
              </a:rPr>
              <a:t> </a:t>
            </a:r>
            <a:r>
              <a:rPr lang="en-US" sz="2000" b="1" dirty="0"/>
              <a:t>C11</a:t>
            </a:r>
            <a:r>
              <a:rPr lang="en-US" sz="2000" dirty="0"/>
              <a:t> added improvements related to performance, concurrency, and standard libraries. </a:t>
            </a:r>
          </a:p>
          <a:p>
            <a:pPr lvl="0" algn="just"/>
            <a:r>
              <a:rPr lang="en-US" sz="2000" b="1" dirty="0">
                <a:solidFill>
                  <a:srgbClr val="FF0000"/>
                </a:solidFill>
              </a:rPr>
              <a:t>2018 – C17:</a:t>
            </a:r>
            <a:r>
              <a:rPr lang="en-US" sz="2000" dirty="0">
                <a:solidFill>
                  <a:srgbClr val="FF0000"/>
                </a:solidFill>
              </a:rPr>
              <a:t> </a:t>
            </a:r>
            <a:r>
              <a:rPr lang="en-US" sz="2000" b="1" dirty="0"/>
              <a:t>C17</a:t>
            </a:r>
            <a:r>
              <a:rPr lang="en-US" sz="2000" dirty="0"/>
              <a:t> provided corrections and improvements to the C standard. </a:t>
            </a:r>
          </a:p>
          <a:p>
            <a:pPr lvl="0" algn="just"/>
            <a:r>
              <a:rPr lang="en-US" sz="2000" b="1" dirty="0">
                <a:solidFill>
                  <a:srgbClr val="FF0000"/>
                </a:solidFill>
              </a:rPr>
              <a:t>2023 – C23:</a:t>
            </a:r>
            <a:r>
              <a:rPr lang="en-US" sz="2000" dirty="0">
                <a:solidFill>
                  <a:srgbClr val="FF0000"/>
                </a:solidFill>
              </a:rPr>
              <a:t> </a:t>
            </a:r>
            <a:r>
              <a:rPr lang="en-US" sz="2000" b="1" dirty="0"/>
              <a:t>C23</a:t>
            </a:r>
            <a:r>
              <a:rPr lang="en-US" sz="2000" dirty="0"/>
              <a:t> introduced further modern features and improvements.</a:t>
            </a:r>
          </a:p>
          <a:p>
            <a:pPr marL="342900" lvl="0" indent="-342900" algn="just">
              <a:buFont typeface="Wingdings" panose="05000000000000000000" pitchFamily="2" charset="2"/>
              <a:buChar char="§"/>
            </a:pPr>
            <a:r>
              <a:rPr lang="en-US" sz="2000" dirty="0"/>
              <a:t>C became popular because of its </a:t>
            </a:r>
            <a:r>
              <a:rPr lang="en-US" sz="2000" b="1" dirty="0">
                <a:solidFill>
                  <a:srgbClr val="FF0000"/>
                </a:solidFill>
              </a:rPr>
              <a:t>speed, efficiency, portability, and flexibility</a:t>
            </a:r>
            <a:endParaRPr lang="en-US" sz="2000" dirty="0">
              <a:solidFill>
                <a:srgbClr val="FF0000"/>
              </a:solidFill>
            </a:endParaRPr>
          </a:p>
          <a:p>
            <a:pPr marL="342900" lvl="0" indent="-342900" algn="just">
              <a:buFont typeface="Wingdings" panose="05000000000000000000" pitchFamily="2" charset="2"/>
              <a:buChar char="§"/>
            </a:pPr>
            <a:r>
              <a:rPr lang="en-US" sz="2000" dirty="0"/>
              <a:t>Today, C is widely used in </a:t>
            </a:r>
            <a:r>
              <a:rPr lang="en-US" sz="2000" b="1" dirty="0">
                <a:solidFill>
                  <a:srgbClr val="FF0000"/>
                </a:solidFill>
              </a:rPr>
              <a:t>operating systems, embedded systems, compilers, device drivers, databases, networking, and application software.</a:t>
            </a:r>
          </a:p>
          <a:p>
            <a:pPr marL="342900" lvl="0" indent="-342900" algn="just">
              <a:buFont typeface="Arial" panose="020B0604020202020204" pitchFamily="34" charset="0"/>
              <a:buChar char="•"/>
            </a:pPr>
            <a:endParaRPr lang="en-US" sz="2000" b="1" dirty="0">
              <a:solidFill>
                <a:srgbClr val="FF0000"/>
              </a:solidFill>
            </a:endParaRPr>
          </a:p>
          <a:p>
            <a:pPr marL="342900" lvl="0" indent="-342900" algn="just">
              <a:buFont typeface="Arial" panose="020B0604020202020204" pitchFamily="34" charset="0"/>
              <a:buChar char="•"/>
            </a:pPr>
            <a:endParaRPr lang="en-US" sz="2000" b="1" dirty="0">
              <a:solidFill>
                <a:srgbClr val="FF0000"/>
              </a:solidFill>
            </a:endParaRPr>
          </a:p>
          <a:p>
            <a:pPr marL="342900" lvl="0" indent="-342900" algn="just">
              <a:buFont typeface="Arial" panose="020B0604020202020204" pitchFamily="34" charset="0"/>
              <a:buChar char="•"/>
            </a:pPr>
            <a:endParaRPr lang="en-US" sz="2000" b="1" dirty="0">
              <a:solidFill>
                <a:srgbClr val="FF0000"/>
              </a:solidFill>
            </a:endParaRPr>
          </a:p>
        </p:txBody>
      </p:sp>
      <p:sp>
        <p:nvSpPr>
          <p:cNvPr id="10" name="Rectangle 9">
            <a:extLst>
              <a:ext uri="{FF2B5EF4-FFF2-40B4-BE49-F238E27FC236}">
                <a16:creationId xmlns:a16="http://schemas.microsoft.com/office/drawing/2014/main" id="{5FBCB596-5FC7-FE6E-6FAF-B0AE229BDEC9}"/>
              </a:ext>
            </a:extLst>
          </p:cNvPr>
          <p:cNvSpPr/>
          <p:nvPr/>
        </p:nvSpPr>
        <p:spPr>
          <a:xfrm>
            <a:off x="0" y="0"/>
            <a:ext cx="12192000" cy="69918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5225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86000"/>
          </a:schemeClr>
        </a:solidFill>
        <a:effectLst/>
      </p:bgPr>
    </p:bg>
    <p:spTree>
      <p:nvGrpSpPr>
        <p:cNvPr id="1" name="">
          <a:extLst>
            <a:ext uri="{FF2B5EF4-FFF2-40B4-BE49-F238E27FC236}">
              <a16:creationId xmlns:a16="http://schemas.microsoft.com/office/drawing/2014/main" id="{4A2034E2-A258-FFDC-D18B-D00019BFEA19}"/>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1CB9C102-96C8-CAF5-3906-BD5F47F3C54E}"/>
              </a:ext>
            </a:extLst>
          </p:cNvPr>
          <p:cNvSpPr>
            <a:spLocks noGrp="1"/>
          </p:cNvSpPr>
          <p:nvPr>
            <p:ph type="ftr" sz="quarter" idx="11"/>
          </p:nvPr>
        </p:nvSpPr>
        <p:spPr>
          <a:xfrm>
            <a:off x="4161265" y="6292535"/>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EAA1CFFE-6DBA-AB08-1F1D-F1B3F34907A8}"/>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00984492-E189-495D-EB76-D988386EB8BE}"/>
              </a:ext>
            </a:extLst>
          </p:cNvPr>
          <p:cNvSpPr txBox="1">
            <a:spLocks/>
          </p:cNvSpPr>
          <p:nvPr/>
        </p:nvSpPr>
        <p:spPr>
          <a:xfrm>
            <a:off x="0" y="6341497"/>
            <a:ext cx="2969942" cy="267202"/>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10" name="Rectangle 9">
            <a:extLst>
              <a:ext uri="{FF2B5EF4-FFF2-40B4-BE49-F238E27FC236}">
                <a16:creationId xmlns:a16="http://schemas.microsoft.com/office/drawing/2014/main" id="{DE4C3A94-1860-C117-D1AF-5C5084298F88}"/>
              </a:ext>
            </a:extLst>
          </p:cNvPr>
          <p:cNvSpPr/>
          <p:nvPr/>
        </p:nvSpPr>
        <p:spPr>
          <a:xfrm>
            <a:off x="0" y="0"/>
            <a:ext cx="12192000" cy="69918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B0C475C-8AC8-E813-B212-20CAE7957F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82983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7A42F-2F30-0BC0-AD35-AC3EF5ECC1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F05A92-5A6F-80E1-D97C-A5F37D9B66D1}"/>
              </a:ext>
            </a:extLst>
          </p:cNvPr>
          <p:cNvSpPr txBox="1"/>
          <p:nvPr/>
        </p:nvSpPr>
        <p:spPr>
          <a:xfrm>
            <a:off x="262757" y="8673"/>
            <a:ext cx="11225049" cy="1015663"/>
          </a:xfrm>
          <a:prstGeom prst="rect">
            <a:avLst/>
          </a:prstGeom>
          <a:noFill/>
        </p:spPr>
        <p:txBody>
          <a:bodyPr wrap="square">
            <a:spAutoFit/>
          </a:bodyPr>
          <a:lstStyle/>
          <a:p>
            <a:pPr algn="ctr"/>
            <a:r>
              <a:rPr lang="en-US" sz="3600" b="1" dirty="0">
                <a:solidFill>
                  <a:srgbClr val="FF0000"/>
                </a:solidFill>
                <a:latin typeface="Calibri" panose="020F0502020204030204" pitchFamily="34" charset="0"/>
                <a:ea typeface="Cambria" panose="02040503050406030204" pitchFamily="18" charset="0"/>
                <a:cs typeface="Calibri" panose="020F0502020204030204" pitchFamily="34" charset="0"/>
              </a:rPr>
              <a:t>Features of C</a:t>
            </a:r>
            <a:endParaRPr lang="en-US" sz="3600" b="1" dirty="0">
              <a:latin typeface="Calibri" panose="020F0502020204030204" pitchFamily="34" charset="0"/>
              <a:ea typeface="Cambria" panose="02040503050406030204" pitchFamily="18" charset="0"/>
              <a:cs typeface="Calibri" panose="020F0502020204030204" pitchFamily="34"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7DDD0B5-011D-38FC-7065-AE46313EFBA8}"/>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D58CF241-4235-943B-BD27-08637449D54B}"/>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7531FDC-6016-6F3A-D2BA-4BEA01774A50}"/>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21880447-D4C4-A6E1-BC34-4C66DC28C965}"/>
              </a:ext>
            </a:extLst>
          </p:cNvPr>
          <p:cNvSpPr txBox="1"/>
          <p:nvPr/>
        </p:nvSpPr>
        <p:spPr>
          <a:xfrm>
            <a:off x="71553" y="832295"/>
            <a:ext cx="12031236" cy="5509200"/>
          </a:xfrm>
          <a:prstGeom prst="rect">
            <a:avLst/>
          </a:prstGeom>
          <a:noFill/>
        </p:spPr>
        <p:txBody>
          <a:bodyPr wrap="square">
            <a:spAutoFit/>
          </a:bodyPr>
          <a:lstStyle/>
          <a:p>
            <a:pPr marL="342900" lvl="0" indent="-342900" algn="just">
              <a:buClr>
                <a:srgbClr val="0617BA"/>
              </a:buClr>
              <a:buFont typeface="Wingdings" panose="05000000000000000000" pitchFamily="2" charset="2"/>
              <a:buChar char="§"/>
            </a:pPr>
            <a:r>
              <a:rPr lang="en-US" sz="2200" b="1" dirty="0">
                <a:solidFill>
                  <a:srgbClr val="FF0000"/>
                </a:solidFill>
              </a:rPr>
              <a:t>Simple</a:t>
            </a:r>
            <a:r>
              <a:rPr lang="en-US" sz="2200" dirty="0"/>
              <a:t> – Easy to learn and use with a small set of keywords. </a:t>
            </a:r>
          </a:p>
          <a:p>
            <a:pPr marL="342900" lvl="0" indent="-342900" algn="just">
              <a:buClr>
                <a:srgbClr val="0617BA"/>
              </a:buClr>
              <a:buFont typeface="Wingdings" panose="05000000000000000000" pitchFamily="2" charset="2"/>
              <a:buChar char="§"/>
            </a:pPr>
            <a:r>
              <a:rPr lang="en-US" sz="2200" b="1" dirty="0">
                <a:solidFill>
                  <a:srgbClr val="FF0000"/>
                </a:solidFill>
              </a:rPr>
              <a:t>Structured</a:t>
            </a:r>
            <a:r>
              <a:rPr lang="en-US" sz="2200" dirty="0"/>
              <a:t> – Supports modular programming using functions. </a:t>
            </a:r>
          </a:p>
          <a:p>
            <a:pPr marL="342900" lvl="0" indent="-342900" algn="just">
              <a:buClr>
                <a:srgbClr val="0617BA"/>
              </a:buClr>
              <a:buFont typeface="Wingdings" panose="05000000000000000000" pitchFamily="2" charset="2"/>
              <a:buChar char="§"/>
            </a:pPr>
            <a:r>
              <a:rPr lang="en-US" sz="2200" b="1" dirty="0">
                <a:solidFill>
                  <a:srgbClr val="FF0000"/>
                </a:solidFill>
              </a:rPr>
              <a:t>Portable</a:t>
            </a:r>
            <a:r>
              <a:rPr lang="en-US" sz="2200" dirty="0"/>
              <a:t> – Programs can run on different platforms.</a:t>
            </a:r>
          </a:p>
          <a:p>
            <a:pPr marL="342900" lvl="0" indent="-342900" algn="just">
              <a:buClr>
                <a:srgbClr val="0617BA"/>
              </a:buClr>
              <a:buFont typeface="Wingdings" panose="05000000000000000000" pitchFamily="2" charset="2"/>
              <a:buChar char="§"/>
            </a:pPr>
            <a:r>
              <a:rPr lang="en-US" sz="2200" b="1" dirty="0">
                <a:solidFill>
                  <a:srgbClr val="FF0000"/>
                </a:solidFill>
              </a:rPr>
              <a:t>Fast and Efficient</a:t>
            </a:r>
            <a:r>
              <a:rPr lang="en-US" sz="2200" dirty="0">
                <a:solidFill>
                  <a:srgbClr val="FF0000"/>
                </a:solidFill>
              </a:rPr>
              <a:t> </a:t>
            </a:r>
            <a:r>
              <a:rPr lang="en-US" sz="2200" dirty="0"/>
              <a:t>– Produces high-performance programs.</a:t>
            </a:r>
          </a:p>
          <a:p>
            <a:pPr marL="342900" lvl="0" indent="-342900" algn="just">
              <a:buClr>
                <a:srgbClr val="0617BA"/>
              </a:buClr>
              <a:buFont typeface="Wingdings" panose="05000000000000000000" pitchFamily="2" charset="2"/>
              <a:buChar char="§"/>
            </a:pPr>
            <a:r>
              <a:rPr lang="en-US" sz="2200" b="1" dirty="0">
                <a:solidFill>
                  <a:srgbClr val="FF0000"/>
                </a:solidFill>
              </a:rPr>
              <a:t>General-Purpose</a:t>
            </a:r>
            <a:r>
              <a:rPr lang="en-US" sz="2200" dirty="0">
                <a:solidFill>
                  <a:srgbClr val="FF0000"/>
                </a:solidFill>
              </a:rPr>
              <a:t> </a:t>
            </a:r>
            <a:r>
              <a:rPr lang="en-US" sz="2200" dirty="0"/>
              <a:t>– Suitable for developing a wide range of applications. </a:t>
            </a:r>
          </a:p>
          <a:p>
            <a:pPr marL="342900" lvl="0" indent="-342900" algn="just">
              <a:buClr>
                <a:srgbClr val="0617BA"/>
              </a:buClr>
              <a:buFont typeface="Wingdings" panose="05000000000000000000" pitchFamily="2" charset="2"/>
              <a:buChar char="§"/>
            </a:pPr>
            <a:r>
              <a:rPr lang="en-US" sz="2200" b="1" dirty="0">
                <a:solidFill>
                  <a:srgbClr val="FF0000"/>
                </a:solidFill>
              </a:rPr>
              <a:t>Middle-Level Language</a:t>
            </a:r>
            <a:r>
              <a:rPr lang="en-US" sz="2200" dirty="0">
                <a:solidFill>
                  <a:srgbClr val="FF0000"/>
                </a:solidFill>
              </a:rPr>
              <a:t> </a:t>
            </a:r>
            <a:r>
              <a:rPr lang="en-US" sz="2200" dirty="0"/>
              <a:t>– Combines features of both high-level and low-level languages. </a:t>
            </a:r>
          </a:p>
          <a:p>
            <a:pPr marL="342900" lvl="0" indent="-342900" algn="just">
              <a:buClr>
                <a:srgbClr val="0617BA"/>
              </a:buClr>
              <a:buFont typeface="Wingdings" panose="05000000000000000000" pitchFamily="2" charset="2"/>
              <a:buChar char="§"/>
            </a:pPr>
            <a:r>
              <a:rPr lang="en-US" sz="2200" b="1" dirty="0">
                <a:solidFill>
                  <a:srgbClr val="FF0000"/>
                </a:solidFill>
              </a:rPr>
              <a:t>Rich Library</a:t>
            </a:r>
            <a:r>
              <a:rPr lang="en-US" sz="2200" dirty="0">
                <a:solidFill>
                  <a:srgbClr val="FF0000"/>
                </a:solidFill>
              </a:rPr>
              <a:t> </a:t>
            </a:r>
            <a:r>
              <a:rPr lang="en-US" sz="2200" dirty="0"/>
              <a:t>– Provides a large collection of built-in functions. </a:t>
            </a:r>
          </a:p>
          <a:p>
            <a:pPr marL="342900" lvl="0" indent="-342900" algn="just">
              <a:buClr>
                <a:srgbClr val="0617BA"/>
              </a:buClr>
              <a:buFont typeface="Wingdings" panose="05000000000000000000" pitchFamily="2" charset="2"/>
              <a:buChar char="§"/>
            </a:pPr>
            <a:r>
              <a:rPr lang="en-US" sz="2200" b="1" dirty="0">
                <a:solidFill>
                  <a:srgbClr val="FF0000"/>
                </a:solidFill>
              </a:rPr>
              <a:t>Pointers Support</a:t>
            </a:r>
            <a:r>
              <a:rPr lang="en-US" sz="2200" dirty="0">
                <a:solidFill>
                  <a:srgbClr val="FF0000"/>
                </a:solidFill>
              </a:rPr>
              <a:t> </a:t>
            </a:r>
            <a:r>
              <a:rPr lang="en-US" sz="2200" dirty="0"/>
              <a:t>– Allows direct memory access and efficient memory management. </a:t>
            </a:r>
          </a:p>
          <a:p>
            <a:pPr marL="342900" lvl="0" indent="-342900" algn="just">
              <a:buClr>
                <a:srgbClr val="0617BA"/>
              </a:buClr>
              <a:buFont typeface="Wingdings" panose="05000000000000000000" pitchFamily="2" charset="2"/>
              <a:buChar char="§"/>
            </a:pPr>
            <a:r>
              <a:rPr lang="en-US" sz="2200" b="1" dirty="0">
                <a:solidFill>
                  <a:srgbClr val="FF0000"/>
                </a:solidFill>
              </a:rPr>
              <a:t>Dynamic Memory Allocation</a:t>
            </a:r>
            <a:r>
              <a:rPr lang="en-US" sz="2200" dirty="0">
                <a:solidFill>
                  <a:srgbClr val="FF0000"/>
                </a:solidFill>
              </a:rPr>
              <a:t> </a:t>
            </a:r>
            <a:r>
              <a:rPr lang="en-US" sz="2200" dirty="0"/>
              <a:t>– Memory can be allocated and deallocated during program execution. </a:t>
            </a:r>
          </a:p>
          <a:p>
            <a:pPr marL="342900" lvl="0" indent="-342900" algn="just">
              <a:buClr>
                <a:srgbClr val="0617BA"/>
              </a:buClr>
              <a:buFont typeface="Wingdings" panose="05000000000000000000" pitchFamily="2" charset="2"/>
              <a:buChar char="§"/>
            </a:pPr>
            <a:r>
              <a:rPr lang="en-US" sz="2200" b="1" dirty="0">
                <a:solidFill>
                  <a:srgbClr val="FF0000"/>
                </a:solidFill>
              </a:rPr>
              <a:t>Recursion</a:t>
            </a:r>
            <a:r>
              <a:rPr lang="en-US" sz="2200" dirty="0"/>
              <a:t> – Functions can call themselves to solve problems recursively. </a:t>
            </a:r>
          </a:p>
          <a:p>
            <a:pPr marL="342900" lvl="0" indent="-342900" algn="just">
              <a:buClr>
                <a:srgbClr val="0617BA"/>
              </a:buClr>
              <a:buFont typeface="Wingdings" panose="05000000000000000000" pitchFamily="2" charset="2"/>
              <a:buChar char="§"/>
            </a:pPr>
            <a:r>
              <a:rPr lang="en-US" sz="2200" b="1" dirty="0">
                <a:solidFill>
                  <a:srgbClr val="FF0000"/>
                </a:solidFill>
              </a:rPr>
              <a:t>Extensible</a:t>
            </a:r>
            <a:r>
              <a:rPr lang="en-US" sz="2200" dirty="0"/>
              <a:t> – Users can create their own functions and libraries. </a:t>
            </a:r>
          </a:p>
          <a:p>
            <a:pPr marL="342900" lvl="0" indent="-342900" algn="just">
              <a:buClr>
                <a:srgbClr val="0617BA"/>
              </a:buClr>
              <a:buFont typeface="Wingdings" panose="05000000000000000000" pitchFamily="2" charset="2"/>
              <a:buChar char="§"/>
            </a:pPr>
            <a:r>
              <a:rPr lang="en-US" sz="2200" b="1" dirty="0">
                <a:solidFill>
                  <a:srgbClr val="FF0000"/>
                </a:solidFill>
              </a:rPr>
              <a:t>Case-Sensitive</a:t>
            </a:r>
            <a:r>
              <a:rPr lang="en-US" sz="2200" dirty="0"/>
              <a:t> – Treats uppercase and lowercase letters as different. </a:t>
            </a:r>
          </a:p>
          <a:p>
            <a:pPr marL="342900" lvl="0" indent="-342900" algn="just">
              <a:buClr>
                <a:srgbClr val="0617BA"/>
              </a:buClr>
              <a:buFont typeface="Wingdings" panose="05000000000000000000" pitchFamily="2" charset="2"/>
              <a:buChar char="§"/>
            </a:pPr>
            <a:r>
              <a:rPr lang="en-US" sz="2200" b="1" dirty="0">
                <a:solidFill>
                  <a:srgbClr val="FF0000"/>
                </a:solidFill>
              </a:rPr>
              <a:t>Compiler-Based</a:t>
            </a:r>
            <a:r>
              <a:rPr lang="en-US" sz="2200" dirty="0"/>
              <a:t> – Source code is compiled into machine code for faster execution. </a:t>
            </a:r>
          </a:p>
          <a:p>
            <a:pPr marL="342900" lvl="0" indent="-342900" algn="just">
              <a:buClr>
                <a:srgbClr val="0617BA"/>
              </a:buClr>
              <a:buFont typeface="Wingdings" panose="05000000000000000000" pitchFamily="2" charset="2"/>
              <a:buChar char="§"/>
            </a:pPr>
            <a:r>
              <a:rPr lang="en-US" sz="2200" b="1" dirty="0">
                <a:solidFill>
                  <a:srgbClr val="FF0000"/>
                </a:solidFill>
              </a:rPr>
              <a:t>Widely Used</a:t>
            </a:r>
            <a:r>
              <a:rPr lang="en-US" sz="2200" dirty="0">
                <a:solidFill>
                  <a:srgbClr val="FF0000"/>
                </a:solidFill>
              </a:rPr>
              <a:t> </a:t>
            </a:r>
            <a:r>
              <a:rPr lang="en-US" sz="2200" dirty="0"/>
              <a:t>– Used in operating systems, embedded systems, device drivers, compilers, databases, networking, and application software.</a:t>
            </a:r>
          </a:p>
        </p:txBody>
      </p:sp>
    </p:spTree>
    <p:extLst>
      <p:ext uri="{BB962C8B-B14F-4D97-AF65-F5344CB8AC3E}">
        <p14:creationId xmlns:p14="http://schemas.microsoft.com/office/powerpoint/2010/main" val="180811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9E78D-DBCC-4184-8E5E-AEE3C99DF1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1A330B-4398-189B-A93A-0FCFA00CE41C}"/>
              </a:ext>
            </a:extLst>
          </p:cNvPr>
          <p:cNvSpPr txBox="1"/>
          <p:nvPr/>
        </p:nvSpPr>
        <p:spPr>
          <a:xfrm>
            <a:off x="1124648" y="140226"/>
            <a:ext cx="9701560" cy="1077218"/>
          </a:xfrm>
          <a:prstGeom prst="rect">
            <a:avLst/>
          </a:prstGeom>
          <a:noFill/>
        </p:spPr>
        <p:txBody>
          <a:bodyPr wrap="square">
            <a:spAutoFit/>
          </a:bodyPr>
          <a:lstStyle/>
          <a:p>
            <a:pPr algn="ctr"/>
            <a:r>
              <a:rPr lang="en-US" altLang="en-US" sz="4000" b="1" dirty="0">
                <a:solidFill>
                  <a:srgbClr val="FF0000"/>
                </a:solidFill>
                <a:latin typeface="Calibri" panose="020F0502020204030204" pitchFamily="34" charset="0"/>
                <a:cs typeface="Calibri" panose="020F0502020204030204" pitchFamily="34" charset="0"/>
              </a:rPr>
              <a:t>Learning English Language vs C Language</a:t>
            </a: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AB29631-36D2-6C48-6ABB-263703D766CE}"/>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F37CFCB8-A4F6-4C3F-354A-604FE69C7090}"/>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2FBE5177-9B00-AC23-29CA-C65696EA2446}"/>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8" name="Picture 7">
            <a:extLst>
              <a:ext uri="{FF2B5EF4-FFF2-40B4-BE49-F238E27FC236}">
                <a16:creationId xmlns:a16="http://schemas.microsoft.com/office/drawing/2014/main" id="{F0021BD9-4348-8ACB-2F9D-E164052CF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024" y="1050595"/>
            <a:ext cx="11119011" cy="4756809"/>
          </a:xfrm>
          <a:prstGeom prst="rect">
            <a:avLst/>
          </a:prstGeom>
        </p:spPr>
      </p:pic>
    </p:spTree>
    <p:extLst>
      <p:ext uri="{BB962C8B-B14F-4D97-AF65-F5344CB8AC3E}">
        <p14:creationId xmlns:p14="http://schemas.microsoft.com/office/powerpoint/2010/main" val="3851011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A9FD9-C97F-A561-CBBC-462E147294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43CC4A-528E-EF37-C159-5D5DC8293224}"/>
              </a:ext>
            </a:extLst>
          </p:cNvPr>
          <p:cNvSpPr txBox="1"/>
          <p:nvPr/>
        </p:nvSpPr>
        <p:spPr>
          <a:xfrm>
            <a:off x="2780835" y="8674"/>
            <a:ext cx="5716395" cy="1015663"/>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C Language Elements</a:t>
            </a:r>
            <a:endParaRPr lang="en-US" sz="3600" b="1" dirty="0">
              <a:latin typeface="Cambria" panose="02040503050406030204" pitchFamily="18" charset="0"/>
              <a:ea typeface="Cambria" panose="020405030504060302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9A82597-EB88-B985-FC92-FE0E2DCC43D3}"/>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5E12644B-8630-D68B-27BB-DADDB044173C}"/>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6</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EAD6C942-644E-85E4-34D5-265D0A576E89}"/>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E25C8188-9B2C-9F96-BBAE-206315AAD4E2}"/>
              </a:ext>
            </a:extLst>
          </p:cNvPr>
          <p:cNvSpPr txBox="1"/>
          <p:nvPr/>
        </p:nvSpPr>
        <p:spPr>
          <a:xfrm>
            <a:off x="71553" y="832295"/>
            <a:ext cx="12031236" cy="5016758"/>
          </a:xfrm>
          <a:prstGeom prst="rect">
            <a:avLst/>
          </a:prstGeom>
          <a:noFill/>
        </p:spPr>
        <p:txBody>
          <a:bodyPr wrap="square">
            <a:spAutoFit/>
          </a:bodyPr>
          <a:lstStyle/>
          <a:p>
            <a:pPr marL="342900" lvl="0" indent="-342900" algn="just">
              <a:buClr>
                <a:srgbClr val="0617BA"/>
              </a:buClr>
              <a:buFont typeface="Wingdings" panose="05000000000000000000" pitchFamily="2" charset="2"/>
              <a:buChar char="§"/>
            </a:pPr>
            <a:r>
              <a:rPr lang="en-US" sz="2800" dirty="0"/>
              <a:t>C language elements are the basic building blocks of a C program.</a:t>
            </a:r>
          </a:p>
          <a:p>
            <a:pPr marL="342900" lvl="0" indent="-342900" algn="just">
              <a:buClr>
                <a:srgbClr val="0617BA"/>
              </a:buClr>
              <a:buFont typeface="Wingdings" panose="05000000000000000000" pitchFamily="2" charset="2"/>
              <a:buChar char="§"/>
            </a:pPr>
            <a:endParaRPr lang="en-US" sz="2800" dirty="0"/>
          </a:p>
          <a:p>
            <a:pPr marL="1257300" lvl="2" indent="-342900">
              <a:buClr>
                <a:srgbClr val="0617BA"/>
              </a:buClr>
              <a:buFont typeface="Wingdings" panose="05000000000000000000" pitchFamily="2" charset="2"/>
              <a:buChar char="§"/>
            </a:pPr>
            <a:r>
              <a:rPr lang="en-US" sz="2400" dirty="0"/>
              <a:t>Character Set</a:t>
            </a:r>
          </a:p>
          <a:p>
            <a:pPr marL="1257300" lvl="2" indent="-342900">
              <a:buClr>
                <a:srgbClr val="0617BA"/>
              </a:buClr>
              <a:buFont typeface="Wingdings" panose="05000000000000000000" pitchFamily="2" charset="2"/>
              <a:buChar char="§"/>
            </a:pPr>
            <a:r>
              <a:rPr lang="en-US" sz="2400" dirty="0"/>
              <a:t>Tokens</a:t>
            </a:r>
          </a:p>
          <a:p>
            <a:pPr marL="1257300" lvl="2" indent="-342900">
              <a:buClr>
                <a:srgbClr val="0617BA"/>
              </a:buClr>
              <a:buFont typeface="Wingdings" panose="05000000000000000000" pitchFamily="2" charset="2"/>
              <a:buChar char="§"/>
            </a:pPr>
            <a:r>
              <a:rPr lang="en-US" sz="2400" dirty="0"/>
              <a:t>Keywords</a:t>
            </a:r>
          </a:p>
          <a:p>
            <a:pPr marL="1257300" lvl="2" indent="-342900">
              <a:buClr>
                <a:srgbClr val="0617BA"/>
              </a:buClr>
              <a:buFont typeface="Wingdings" panose="05000000000000000000" pitchFamily="2" charset="2"/>
              <a:buChar char="§"/>
            </a:pPr>
            <a:r>
              <a:rPr lang="en-US" sz="2400" dirty="0"/>
              <a:t>Identifiers</a:t>
            </a:r>
          </a:p>
          <a:p>
            <a:pPr marL="1257300" lvl="2" indent="-342900">
              <a:buClr>
                <a:srgbClr val="0617BA"/>
              </a:buClr>
              <a:buFont typeface="Wingdings" panose="05000000000000000000" pitchFamily="2" charset="2"/>
              <a:buChar char="§"/>
            </a:pPr>
            <a:r>
              <a:rPr lang="en-US" sz="2400" dirty="0"/>
              <a:t>Variables</a:t>
            </a:r>
          </a:p>
          <a:p>
            <a:pPr marL="1257300" lvl="2" indent="-342900">
              <a:buClr>
                <a:srgbClr val="0617BA"/>
              </a:buClr>
              <a:buFont typeface="Wingdings" panose="05000000000000000000" pitchFamily="2" charset="2"/>
              <a:buChar char="§"/>
            </a:pPr>
            <a:r>
              <a:rPr lang="en-US" sz="2400" dirty="0"/>
              <a:t>Constants</a:t>
            </a:r>
          </a:p>
          <a:p>
            <a:pPr marL="1257300" lvl="2" indent="-342900">
              <a:buClr>
                <a:srgbClr val="0617BA"/>
              </a:buClr>
              <a:buFont typeface="Wingdings" panose="05000000000000000000" pitchFamily="2" charset="2"/>
              <a:buChar char="§"/>
            </a:pPr>
            <a:r>
              <a:rPr lang="en-US" sz="2400" dirty="0"/>
              <a:t>Data Types</a:t>
            </a:r>
          </a:p>
          <a:p>
            <a:pPr marL="1257300" lvl="2" indent="-342900">
              <a:buClr>
                <a:srgbClr val="0617BA"/>
              </a:buClr>
              <a:buFont typeface="Wingdings" panose="05000000000000000000" pitchFamily="2" charset="2"/>
              <a:buChar char="§"/>
            </a:pPr>
            <a:r>
              <a:rPr lang="en-US" sz="2400" dirty="0"/>
              <a:t>Operators</a:t>
            </a:r>
          </a:p>
          <a:p>
            <a:pPr marL="1257300" lvl="2" indent="-342900">
              <a:buClr>
                <a:srgbClr val="0617BA"/>
              </a:buClr>
              <a:buFont typeface="Wingdings" panose="05000000000000000000" pitchFamily="2" charset="2"/>
              <a:buChar char="§"/>
            </a:pPr>
            <a:r>
              <a:rPr lang="en-US" sz="2400" dirty="0"/>
              <a:t>Expressions</a:t>
            </a:r>
          </a:p>
          <a:p>
            <a:pPr marL="1257300" lvl="2" indent="-342900">
              <a:buClr>
                <a:srgbClr val="0617BA"/>
              </a:buClr>
              <a:buFont typeface="Wingdings" panose="05000000000000000000" pitchFamily="2" charset="2"/>
              <a:buChar char="§"/>
            </a:pPr>
            <a:r>
              <a:rPr lang="en-US" sz="2400" dirty="0"/>
              <a:t>Statements</a:t>
            </a:r>
          </a:p>
          <a:p>
            <a:pPr marL="342900" lvl="0" indent="-342900" algn="just">
              <a:buClr>
                <a:srgbClr val="0617BA"/>
              </a:buClr>
              <a:buFont typeface="Wingdings" panose="05000000000000000000" pitchFamily="2" charset="2"/>
              <a:buChar char="§"/>
            </a:pPr>
            <a:endParaRPr lang="en-US" sz="2400" dirty="0"/>
          </a:p>
        </p:txBody>
      </p:sp>
    </p:spTree>
    <p:extLst>
      <p:ext uri="{BB962C8B-B14F-4D97-AF65-F5344CB8AC3E}">
        <p14:creationId xmlns:p14="http://schemas.microsoft.com/office/powerpoint/2010/main" val="242582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5632B-4269-2C94-2D0A-077E885006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0A81F4-B607-56C5-540E-38A8873B6EDA}"/>
              </a:ext>
            </a:extLst>
          </p:cNvPr>
          <p:cNvSpPr txBox="1"/>
          <p:nvPr/>
        </p:nvSpPr>
        <p:spPr>
          <a:xfrm>
            <a:off x="2780835" y="8674"/>
            <a:ext cx="5716395" cy="1015663"/>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C Language Elements</a:t>
            </a:r>
            <a:endParaRPr lang="en-US" sz="3600" b="1" dirty="0">
              <a:latin typeface="Cambria" panose="02040503050406030204" pitchFamily="18" charset="0"/>
              <a:ea typeface="Cambria" panose="020405030504060302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C4E66F2-908D-37AE-C2AC-49090E75961F}"/>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AAE1A19E-ECE6-5B76-AC35-D199B68CA283}"/>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7</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BA8EA29E-3E3D-A7B3-271E-0379B0FC1C0D}"/>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90EDC2CB-6A1C-BFAF-9376-61FAB67A93A5}"/>
              </a:ext>
            </a:extLst>
          </p:cNvPr>
          <p:cNvSpPr txBox="1"/>
          <p:nvPr/>
        </p:nvSpPr>
        <p:spPr>
          <a:xfrm>
            <a:off x="80382" y="886720"/>
            <a:ext cx="12031236" cy="5262979"/>
          </a:xfrm>
          <a:prstGeom prst="rect">
            <a:avLst/>
          </a:prstGeom>
          <a:noFill/>
        </p:spPr>
        <p:txBody>
          <a:bodyPr wrap="square">
            <a:spAutoFit/>
          </a:bodyPr>
          <a:lstStyle/>
          <a:p>
            <a:r>
              <a:rPr lang="en-US" sz="2400" b="1" dirty="0"/>
              <a:t>1.Character Set</a:t>
            </a:r>
          </a:p>
          <a:p>
            <a:pPr marL="1714500" lvl="3" indent="-342900">
              <a:buFont typeface="Wingdings" panose="05000000000000000000" pitchFamily="2" charset="2"/>
              <a:buChar char="§"/>
            </a:pPr>
            <a:r>
              <a:rPr lang="en-US" sz="2400" dirty="0"/>
              <a:t>Letters (A–Z, a–z) ,Digits (0–9) ,Special Symbols (</a:t>
            </a:r>
            <a:r>
              <a:rPr lang="en-US" dirty="0"/>
              <a:t>+</a:t>
            </a:r>
            <a:r>
              <a:rPr lang="en-US" sz="2400" dirty="0"/>
              <a:t>, </a:t>
            </a:r>
            <a:r>
              <a:rPr lang="en-US" dirty="0"/>
              <a:t>-</a:t>
            </a:r>
            <a:r>
              <a:rPr lang="en-US" sz="2400" dirty="0"/>
              <a:t>, </a:t>
            </a:r>
            <a:r>
              <a:rPr lang="en-US" dirty="0"/>
              <a:t>*</a:t>
            </a:r>
            <a:r>
              <a:rPr lang="en-US" sz="2400" dirty="0"/>
              <a:t>, </a:t>
            </a:r>
            <a:r>
              <a:rPr lang="en-US" dirty="0"/>
              <a:t>{}</a:t>
            </a:r>
            <a:r>
              <a:rPr lang="en-US" sz="2400" dirty="0"/>
              <a:t>, </a:t>
            </a:r>
            <a:r>
              <a:rPr lang="en-US" dirty="0"/>
              <a:t>()</a:t>
            </a:r>
            <a:r>
              <a:rPr lang="en-US" sz="2400" dirty="0"/>
              <a:t>, etc.) ,White Spaces (space, tab, newline) </a:t>
            </a:r>
          </a:p>
          <a:p>
            <a:r>
              <a:rPr lang="en-US" sz="2400" b="1" dirty="0"/>
              <a:t>2. Tokens </a:t>
            </a:r>
          </a:p>
          <a:p>
            <a:r>
              <a:rPr lang="en-US" sz="2400" b="1" dirty="0"/>
              <a:t>                           </a:t>
            </a:r>
            <a:r>
              <a:rPr lang="en-US" sz="2400" dirty="0"/>
              <a:t>The smallest individual units of a C program.</a:t>
            </a:r>
            <a:endParaRPr lang="en-US" sz="2400" b="1" dirty="0"/>
          </a:p>
          <a:p>
            <a:pPr marL="1714500" lvl="3" indent="-342900">
              <a:buFont typeface="Wingdings" panose="05000000000000000000" pitchFamily="2" charset="2"/>
              <a:buChar char="§"/>
            </a:pPr>
            <a:r>
              <a:rPr lang="en-US" sz="2400" dirty="0"/>
              <a:t>Keywords, Identifiers ,Constants ,Variables ,Operators ,Special Symbols, Strings </a:t>
            </a:r>
          </a:p>
          <a:p>
            <a:r>
              <a:rPr lang="en-US" sz="2400" b="1" dirty="0"/>
              <a:t>3. Keywords</a:t>
            </a:r>
          </a:p>
          <a:p>
            <a:pPr marL="1657350" lvl="3" indent="-285750">
              <a:buFont typeface="Wingdings" panose="05000000000000000000" pitchFamily="2" charset="2"/>
              <a:buChar char="§"/>
            </a:pPr>
            <a:r>
              <a:rPr lang="en-US" sz="2400" dirty="0"/>
              <a:t>Reserved words with predefined meanings. </a:t>
            </a:r>
          </a:p>
          <a:p>
            <a:pPr marL="1657350" lvl="3" indent="-285750">
              <a:buFont typeface="Wingdings" panose="05000000000000000000" pitchFamily="2" charset="2"/>
              <a:buChar char="§"/>
            </a:pPr>
            <a:r>
              <a:rPr lang="en-US" sz="2400" dirty="0"/>
              <a:t>Examples: </a:t>
            </a:r>
            <a:r>
              <a:rPr lang="en-US" b="1" dirty="0"/>
              <a:t>int</a:t>
            </a:r>
            <a:r>
              <a:rPr lang="en-US" sz="2400" b="1" dirty="0"/>
              <a:t>, </a:t>
            </a:r>
            <a:r>
              <a:rPr lang="en-US" b="1" dirty="0"/>
              <a:t>float</a:t>
            </a:r>
            <a:r>
              <a:rPr lang="en-US" sz="2400" b="1" dirty="0"/>
              <a:t>, </a:t>
            </a:r>
            <a:r>
              <a:rPr lang="en-US" b="1" dirty="0"/>
              <a:t>if</a:t>
            </a:r>
            <a:r>
              <a:rPr lang="en-US" sz="2400" b="1" dirty="0"/>
              <a:t>, </a:t>
            </a:r>
            <a:r>
              <a:rPr lang="en-US" b="1" dirty="0"/>
              <a:t>else</a:t>
            </a:r>
            <a:r>
              <a:rPr lang="en-US" sz="2400" b="1" dirty="0"/>
              <a:t>, </a:t>
            </a:r>
            <a:r>
              <a:rPr lang="en-US" b="1" dirty="0"/>
              <a:t>while</a:t>
            </a:r>
            <a:r>
              <a:rPr lang="en-US" sz="2400" b="1" dirty="0"/>
              <a:t>, </a:t>
            </a:r>
            <a:r>
              <a:rPr lang="en-US" b="1" dirty="0"/>
              <a:t>return</a:t>
            </a:r>
            <a:r>
              <a:rPr lang="en-US" sz="2400" b="1" dirty="0"/>
              <a:t> </a:t>
            </a:r>
          </a:p>
          <a:p>
            <a:r>
              <a:rPr lang="en-US" sz="2400" b="1" dirty="0"/>
              <a:t>4. Identifiers</a:t>
            </a:r>
          </a:p>
          <a:p>
            <a:pPr marL="1657350" lvl="3" indent="-285750">
              <a:buFont typeface="Wingdings" panose="05000000000000000000" pitchFamily="2" charset="2"/>
              <a:buChar char="§"/>
            </a:pPr>
            <a:r>
              <a:rPr lang="en-US" sz="2400" dirty="0"/>
              <a:t>Names given to variables, functions, arrays, etc. </a:t>
            </a:r>
          </a:p>
          <a:p>
            <a:pPr marL="1657350" lvl="3" indent="-285750">
              <a:buFont typeface="Wingdings" panose="05000000000000000000" pitchFamily="2" charset="2"/>
              <a:buChar char="§"/>
            </a:pPr>
            <a:r>
              <a:rPr lang="en-US" sz="2400" dirty="0"/>
              <a:t>Example: </a:t>
            </a:r>
            <a:r>
              <a:rPr lang="en-US" b="1" dirty="0"/>
              <a:t>sum</a:t>
            </a:r>
            <a:r>
              <a:rPr lang="en-US" sz="2400" b="1" dirty="0"/>
              <a:t>, </a:t>
            </a:r>
            <a:r>
              <a:rPr lang="en-US" b="1" dirty="0"/>
              <a:t>marks</a:t>
            </a:r>
            <a:r>
              <a:rPr lang="en-US" sz="2400" b="1" dirty="0"/>
              <a:t>, </a:t>
            </a:r>
            <a:r>
              <a:rPr lang="en-US" b="1" dirty="0"/>
              <a:t>main</a:t>
            </a:r>
            <a:endParaRPr lang="en-US" sz="2400" b="1" dirty="0"/>
          </a:p>
          <a:p>
            <a:pPr marL="342900" lvl="0" indent="-342900" algn="just">
              <a:buClr>
                <a:srgbClr val="0617BA"/>
              </a:buClr>
              <a:buFont typeface="Wingdings" panose="05000000000000000000" pitchFamily="2" charset="2"/>
              <a:buChar char="§"/>
            </a:pPr>
            <a:endParaRPr lang="en-US" sz="2400" dirty="0"/>
          </a:p>
        </p:txBody>
      </p:sp>
    </p:spTree>
    <p:extLst>
      <p:ext uri="{BB962C8B-B14F-4D97-AF65-F5344CB8AC3E}">
        <p14:creationId xmlns:p14="http://schemas.microsoft.com/office/powerpoint/2010/main" val="1169441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C7F57-592D-A2CB-207C-1182ADF9956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5D592E-2E79-6301-CB94-1F26F62FD973}"/>
              </a:ext>
            </a:extLst>
          </p:cNvPr>
          <p:cNvSpPr txBox="1"/>
          <p:nvPr/>
        </p:nvSpPr>
        <p:spPr>
          <a:xfrm>
            <a:off x="2780835" y="8674"/>
            <a:ext cx="5716395" cy="1015663"/>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C Language Elements</a:t>
            </a:r>
            <a:endParaRPr lang="en-US" sz="3600" b="1" dirty="0">
              <a:latin typeface="Cambria" panose="02040503050406030204" pitchFamily="18" charset="0"/>
              <a:ea typeface="Cambria" panose="020405030504060302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DA453C61-8666-F3EE-A3C5-2478AC54BEA9}"/>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E0319905-7EB4-F0FE-67C1-0A4A99EF79A9}"/>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8</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642A2628-0C76-9DCF-4E5E-62C4C04D688D}"/>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B02C6AD0-10B6-3F5A-46B7-D9571C0BEE37}"/>
              </a:ext>
            </a:extLst>
          </p:cNvPr>
          <p:cNvSpPr txBox="1"/>
          <p:nvPr/>
        </p:nvSpPr>
        <p:spPr>
          <a:xfrm>
            <a:off x="80382" y="607939"/>
            <a:ext cx="12031236" cy="6063198"/>
          </a:xfrm>
          <a:prstGeom prst="rect">
            <a:avLst/>
          </a:prstGeom>
          <a:noFill/>
        </p:spPr>
        <p:txBody>
          <a:bodyPr wrap="square">
            <a:spAutoFit/>
          </a:bodyPr>
          <a:lstStyle/>
          <a:p>
            <a:r>
              <a:rPr lang="en-US" sz="2400" b="1" dirty="0"/>
              <a:t>5. </a:t>
            </a:r>
            <a:r>
              <a:rPr lang="en-US" sz="2000" b="1" dirty="0"/>
              <a:t>Variables</a:t>
            </a:r>
          </a:p>
          <a:p>
            <a:pPr lvl="1"/>
            <a:r>
              <a:rPr lang="en-US" sz="2000" dirty="0"/>
              <a:t>Named memory locations used to store data. </a:t>
            </a:r>
          </a:p>
          <a:p>
            <a:pPr lvl="1"/>
            <a:r>
              <a:rPr lang="en-US" sz="2000" dirty="0"/>
              <a:t>      Example: int age = 20;</a:t>
            </a:r>
          </a:p>
          <a:p>
            <a:r>
              <a:rPr lang="en-US" sz="2000" b="1" dirty="0"/>
              <a:t>6. Constants</a:t>
            </a:r>
          </a:p>
          <a:p>
            <a:pPr lvl="1"/>
            <a:r>
              <a:rPr lang="en-US" sz="2000" dirty="0"/>
              <a:t>Fixed values that do not change during program execution. </a:t>
            </a:r>
          </a:p>
          <a:p>
            <a:pPr lvl="1"/>
            <a:r>
              <a:rPr lang="en-US" sz="2000" dirty="0"/>
              <a:t>    Example: 10, 3.14, 'A', "Hello"</a:t>
            </a:r>
          </a:p>
          <a:p>
            <a:r>
              <a:rPr lang="en-US" sz="2000" b="1" dirty="0"/>
              <a:t>7. Data Types</a:t>
            </a:r>
          </a:p>
          <a:p>
            <a:pPr lvl="1"/>
            <a:r>
              <a:rPr lang="en-US" sz="2000" dirty="0"/>
              <a:t>Specify the type of data stored. </a:t>
            </a:r>
          </a:p>
          <a:p>
            <a:pPr lvl="1"/>
            <a:r>
              <a:rPr lang="en-US" sz="2000" dirty="0"/>
              <a:t>    Examples: </a:t>
            </a:r>
            <a:r>
              <a:rPr lang="en-US" sz="2000" dirty="0" err="1"/>
              <a:t>int,float</a:t>
            </a:r>
            <a:r>
              <a:rPr lang="en-US" sz="2000" dirty="0"/>
              <a:t> ,char,double,void </a:t>
            </a:r>
          </a:p>
          <a:p>
            <a:r>
              <a:rPr lang="en-US" sz="2000" b="1" dirty="0"/>
              <a:t>8. Operators</a:t>
            </a:r>
          </a:p>
          <a:p>
            <a:pPr lvl="1"/>
            <a:r>
              <a:rPr lang="en-US" sz="2000" dirty="0"/>
              <a:t>Perform operations on data. </a:t>
            </a:r>
          </a:p>
          <a:p>
            <a:pPr lvl="1"/>
            <a:r>
              <a:rPr lang="en-US" sz="2000" dirty="0"/>
              <a:t>  Types: Arithmetic ,Relational ,Logical ,Assignment ,Bitwise ,Increment/Decrement</a:t>
            </a:r>
          </a:p>
          <a:p>
            <a:r>
              <a:rPr lang="en-US" sz="2000" b="1" dirty="0"/>
              <a:t>9. Expressions</a:t>
            </a:r>
          </a:p>
          <a:p>
            <a:pPr lvl="1"/>
            <a:r>
              <a:rPr lang="en-US" sz="2000" dirty="0"/>
              <a:t>Combination of variables, constants, and operators. </a:t>
            </a:r>
          </a:p>
          <a:p>
            <a:pPr lvl="3"/>
            <a:r>
              <a:rPr lang="en-US" sz="2000" dirty="0"/>
              <a:t>Example: sum = a + b;</a:t>
            </a:r>
          </a:p>
          <a:p>
            <a:r>
              <a:rPr lang="en-US" sz="2000" b="1" dirty="0"/>
              <a:t>10. Statements</a:t>
            </a:r>
          </a:p>
          <a:p>
            <a:pPr lvl="1"/>
            <a:r>
              <a:rPr lang="en-US" sz="2000" dirty="0"/>
              <a:t>Instructions executed by the program. </a:t>
            </a:r>
          </a:p>
          <a:p>
            <a:pPr lvl="3"/>
            <a:r>
              <a:rPr lang="en-US" sz="2000" dirty="0"/>
              <a:t>Example: </a:t>
            </a:r>
            <a:r>
              <a:rPr lang="en-US" sz="2000" dirty="0" err="1"/>
              <a:t>printf</a:t>
            </a:r>
            <a:r>
              <a:rPr lang="en-US" sz="2000" dirty="0"/>
              <a:t>("Hello");</a:t>
            </a:r>
          </a:p>
          <a:p>
            <a:pPr lvl="1"/>
            <a:endParaRPr lang="en-US" sz="2400" dirty="0"/>
          </a:p>
        </p:txBody>
      </p:sp>
    </p:spTree>
    <p:extLst>
      <p:ext uri="{BB962C8B-B14F-4D97-AF65-F5344CB8AC3E}">
        <p14:creationId xmlns:p14="http://schemas.microsoft.com/office/powerpoint/2010/main" val="2653132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F20CE-5B2D-A164-24A8-9E7A3B500C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5E2E00-1337-8CEF-3D3A-9A7B5C93DDD0}"/>
              </a:ext>
            </a:extLst>
          </p:cNvPr>
          <p:cNvSpPr txBox="1"/>
          <p:nvPr/>
        </p:nvSpPr>
        <p:spPr>
          <a:xfrm>
            <a:off x="-80381" y="0"/>
            <a:ext cx="12191999" cy="1015663"/>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Variables in ‘C’</a:t>
            </a:r>
            <a:endParaRPr lang="en-US" sz="3600" b="1" dirty="0">
              <a:latin typeface="Cambria" panose="02040503050406030204" pitchFamily="18" charset="0"/>
              <a:ea typeface="Cambria" panose="020405030504060302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08B8CA1-8D1D-EBE7-7D40-A28C18948AFA}"/>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72BEBEFA-6814-BCF7-08BE-BA7B289AF018}"/>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9</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C38F578C-908E-2599-B0B3-119A8FA816D0}"/>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0ADCC62A-A35E-7F5E-3194-EADD62E173E6}"/>
              </a:ext>
            </a:extLst>
          </p:cNvPr>
          <p:cNvSpPr txBox="1"/>
          <p:nvPr/>
        </p:nvSpPr>
        <p:spPr>
          <a:xfrm>
            <a:off x="80382" y="619090"/>
            <a:ext cx="12031236" cy="5940088"/>
          </a:xfrm>
          <a:prstGeom prst="rect">
            <a:avLst/>
          </a:prstGeom>
          <a:noFill/>
        </p:spPr>
        <p:txBody>
          <a:bodyPr wrap="square">
            <a:spAutoFit/>
          </a:bodyPr>
          <a:lstStyle/>
          <a:p>
            <a:pPr marL="342900" indent="-342900" algn="just">
              <a:buFont typeface="Wingdings" panose="05000000000000000000" pitchFamily="2" charset="2"/>
              <a:buChar char="§"/>
            </a:pPr>
            <a:r>
              <a:rPr lang="en-US" sz="2000" dirty="0"/>
              <a:t>A variable is a named memory location used to store data. Its value can change during program execution.</a:t>
            </a:r>
          </a:p>
          <a:p>
            <a:pPr marL="342900" indent="-342900" algn="just">
              <a:buFont typeface="Wingdings" panose="05000000000000000000" pitchFamily="2" charset="2"/>
              <a:buChar char="§"/>
            </a:pPr>
            <a:r>
              <a:rPr lang="en-US" sz="2000" dirty="0"/>
              <a:t>Like human memory the computer memory also consists of millions of cells. The calculated values are stored in these memory cells.</a:t>
            </a:r>
          </a:p>
          <a:p>
            <a:pPr marL="342900" indent="-342900" algn="just">
              <a:buFont typeface="Wingdings" panose="05000000000000000000" pitchFamily="2" charset="2"/>
              <a:buChar char="§"/>
            </a:pPr>
            <a:endParaRPr lang="en-US" sz="2000" dirty="0"/>
          </a:p>
          <a:p>
            <a:pPr marL="342900" indent="-342900" algn="just">
              <a:buFont typeface="Wingdings" panose="05000000000000000000" pitchFamily="2" charset="2"/>
              <a:buChar char="§"/>
            </a:pPr>
            <a:r>
              <a:rPr lang="en-US" sz="2000" b="1" dirty="0">
                <a:solidFill>
                  <a:srgbClr val="FF0000"/>
                </a:solidFill>
              </a:rPr>
              <a:t>Variable Declaration: </a:t>
            </a:r>
            <a:r>
              <a:rPr lang="en-US" sz="2000" dirty="0"/>
              <a:t>A </a:t>
            </a:r>
            <a:r>
              <a:rPr lang="en-US" sz="2000" b="1" dirty="0"/>
              <a:t>variable declaration</a:t>
            </a:r>
            <a:r>
              <a:rPr lang="en-US" sz="2000" dirty="0"/>
              <a:t> tells the compiler the </a:t>
            </a:r>
            <a:r>
              <a:rPr lang="en-US" sz="2000" b="1" dirty="0"/>
              <a:t>name</a:t>
            </a:r>
            <a:r>
              <a:rPr lang="en-US" sz="2000" dirty="0"/>
              <a:t> and </a:t>
            </a:r>
            <a:r>
              <a:rPr lang="en-US" sz="2000" b="1" dirty="0"/>
              <a:t>data type</a:t>
            </a:r>
            <a:r>
              <a:rPr lang="en-US" sz="2000" dirty="0"/>
              <a:t> of a variable before it is used.</a:t>
            </a:r>
          </a:p>
          <a:p>
            <a:pPr lvl="1" algn="just"/>
            <a:r>
              <a:rPr lang="en-US" sz="2000" b="1" dirty="0"/>
              <a:t>Example:</a:t>
            </a:r>
            <a:endParaRPr lang="en-US" sz="2000" dirty="0"/>
          </a:p>
          <a:p>
            <a:pPr lvl="2" algn="just"/>
            <a:r>
              <a:rPr lang="en-US" sz="2000" dirty="0"/>
              <a:t>int age;</a:t>
            </a:r>
          </a:p>
          <a:p>
            <a:pPr lvl="2" algn="just"/>
            <a:r>
              <a:rPr lang="en-US" sz="2000" dirty="0"/>
              <a:t>float salary;</a:t>
            </a:r>
          </a:p>
          <a:p>
            <a:pPr lvl="2" algn="just"/>
            <a:r>
              <a:rPr lang="en-US" sz="2000" dirty="0"/>
              <a:t>char grade;</a:t>
            </a:r>
          </a:p>
          <a:p>
            <a:pPr lvl="2" algn="just"/>
            <a:endParaRPr lang="en-US" sz="2000" dirty="0"/>
          </a:p>
          <a:p>
            <a:pPr marL="342900" indent="-342900" algn="just">
              <a:buFont typeface="Wingdings" panose="05000000000000000000" pitchFamily="2" charset="2"/>
              <a:buChar char="§"/>
            </a:pPr>
            <a:r>
              <a:rPr lang="en-US" sz="2000" b="1" dirty="0">
                <a:solidFill>
                  <a:srgbClr val="FF0000"/>
                </a:solidFill>
              </a:rPr>
              <a:t>Variable Initialization: </a:t>
            </a:r>
            <a:r>
              <a:rPr lang="en-US" sz="2000" b="1" dirty="0"/>
              <a:t>Variable initialization</a:t>
            </a:r>
            <a:r>
              <a:rPr lang="en-US" sz="2000" dirty="0"/>
              <a:t> is the process of assigning an </a:t>
            </a:r>
            <a:r>
              <a:rPr lang="en-US" sz="2000" b="1" dirty="0"/>
              <a:t>initial value</a:t>
            </a:r>
            <a:r>
              <a:rPr lang="en-US" sz="2000" dirty="0"/>
              <a:t> to a variable at the time of declaration.</a:t>
            </a:r>
            <a:endParaRPr lang="en-US" sz="2000" b="1" dirty="0"/>
          </a:p>
          <a:p>
            <a:pPr lvl="1" algn="just"/>
            <a:r>
              <a:rPr lang="en-US" sz="2000" dirty="0"/>
              <a:t>Assigning a value to a variable at the time of declaration.</a:t>
            </a:r>
          </a:p>
          <a:p>
            <a:pPr lvl="2" algn="just"/>
            <a:r>
              <a:rPr lang="en-US" sz="2000" dirty="0"/>
              <a:t>int age = 20;</a:t>
            </a:r>
          </a:p>
          <a:p>
            <a:pPr lvl="2" algn="just"/>
            <a:r>
              <a:rPr lang="en-US" sz="2000" dirty="0"/>
              <a:t>float salary = 35000.50;</a:t>
            </a:r>
          </a:p>
          <a:p>
            <a:pPr lvl="2" algn="just"/>
            <a:r>
              <a:rPr lang="en-US" sz="2000" dirty="0"/>
              <a:t>char grade = 'A’;</a:t>
            </a:r>
          </a:p>
          <a:p>
            <a:pPr lvl="2"/>
            <a:r>
              <a:rPr lang="en-US" sz="2000" dirty="0"/>
              <a:t> </a:t>
            </a:r>
            <a:endParaRPr lang="en-US" sz="2400" dirty="0"/>
          </a:p>
        </p:txBody>
      </p:sp>
    </p:spTree>
    <p:extLst>
      <p:ext uri="{BB962C8B-B14F-4D97-AF65-F5344CB8AC3E}">
        <p14:creationId xmlns:p14="http://schemas.microsoft.com/office/powerpoint/2010/main" val="3298380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9E4C3-4064-B4D9-D5D2-16F3782CBC1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D596FD-D019-DE9F-27C7-4BE29D53534C}"/>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10F729FC-8D9F-307E-0188-923F4988A3D2}"/>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10</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0ACDF489-9C46-D6BF-675B-0FB75407C0A9}"/>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5033EC96-FB23-031C-D5FE-0A044F82DEDB}"/>
              </a:ext>
            </a:extLst>
          </p:cNvPr>
          <p:cNvSpPr txBox="1"/>
          <p:nvPr/>
        </p:nvSpPr>
        <p:spPr>
          <a:xfrm>
            <a:off x="80382" y="619090"/>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AE3C8A6A-93B1-2D14-9FFE-A1098CA204F4}"/>
              </a:ext>
            </a:extLst>
          </p:cNvPr>
          <p:cNvSpPr txBox="1"/>
          <p:nvPr/>
        </p:nvSpPr>
        <p:spPr>
          <a:xfrm>
            <a:off x="0" y="93631"/>
            <a:ext cx="12022407" cy="6247864"/>
          </a:xfrm>
          <a:prstGeom prst="rect">
            <a:avLst/>
          </a:prstGeom>
          <a:noFill/>
        </p:spPr>
        <p:txBody>
          <a:bodyPr wrap="square">
            <a:spAutoFit/>
          </a:bodyPr>
          <a:lstStyle/>
          <a:p>
            <a:r>
              <a:rPr lang="en-US" sz="2000" dirty="0"/>
              <a:t>The four main types of variables in C are:</a:t>
            </a:r>
          </a:p>
          <a:p>
            <a:pPr marL="800100" lvl="1" indent="-342900">
              <a:buFont typeface="+mj-lt"/>
              <a:buAutoNum type="arabicPeriod"/>
            </a:pPr>
            <a:r>
              <a:rPr lang="en-US" sz="2000" dirty="0"/>
              <a:t>Local Variable </a:t>
            </a:r>
          </a:p>
          <a:p>
            <a:pPr marL="800100" lvl="1" indent="-342900">
              <a:buFont typeface="+mj-lt"/>
              <a:buAutoNum type="arabicPeriod"/>
            </a:pPr>
            <a:r>
              <a:rPr lang="en-US" sz="2000" dirty="0"/>
              <a:t>Global Variable </a:t>
            </a:r>
          </a:p>
          <a:p>
            <a:pPr marL="800100" lvl="1" indent="-342900">
              <a:buFont typeface="+mj-lt"/>
              <a:buAutoNum type="arabicPeriod"/>
            </a:pPr>
            <a:r>
              <a:rPr lang="en-US" sz="2000" dirty="0"/>
              <a:t>Static Variable </a:t>
            </a:r>
          </a:p>
          <a:p>
            <a:pPr marL="800100" lvl="1" indent="-342900">
              <a:lnSpc>
                <a:spcPts val="2400"/>
              </a:lnSpc>
              <a:buFont typeface="+mj-lt"/>
              <a:buAutoNum type="arabicPeriod"/>
            </a:pPr>
            <a:r>
              <a:rPr lang="en-US" sz="2000" dirty="0"/>
              <a:t>Register Variable</a:t>
            </a:r>
          </a:p>
          <a:p>
            <a:pPr marL="1257300" lvl="2" indent="-342900">
              <a:lnSpc>
                <a:spcPts val="2400"/>
              </a:lnSpc>
              <a:buFont typeface="+mj-lt"/>
              <a:buAutoNum type="arabicPeriod"/>
            </a:pPr>
            <a:endParaRPr lang="en-US" sz="2000" dirty="0"/>
          </a:p>
          <a:p>
            <a:pPr lvl="1">
              <a:lnSpc>
                <a:spcPts val="2400"/>
              </a:lnSpc>
            </a:pPr>
            <a:r>
              <a:rPr lang="en-US" sz="2000" b="1" dirty="0">
                <a:solidFill>
                  <a:srgbClr val="FF0000"/>
                </a:solidFill>
              </a:rPr>
              <a:t>1.Local Variable </a:t>
            </a:r>
          </a:p>
          <a:p>
            <a:pPr lvl="1"/>
            <a:endParaRPr lang="en-US" sz="2000" b="1" dirty="0">
              <a:solidFill>
                <a:srgbClr val="FF0000"/>
              </a:solidFill>
            </a:endParaRPr>
          </a:p>
          <a:p>
            <a:pPr lvl="2"/>
            <a:r>
              <a:rPr lang="en-US" sz="2000" dirty="0"/>
              <a:t>A variable declared </a:t>
            </a:r>
            <a:r>
              <a:rPr lang="en-US" sz="2000" b="1" dirty="0"/>
              <a:t>inside a function or block</a:t>
            </a:r>
            <a:r>
              <a:rPr lang="en-US" sz="2000" dirty="0"/>
              <a:t>.</a:t>
            </a:r>
          </a:p>
          <a:p>
            <a:pPr lvl="1"/>
            <a:endParaRPr lang="en-US" sz="2000" dirty="0"/>
          </a:p>
          <a:p>
            <a:pPr lvl="1"/>
            <a:r>
              <a:rPr lang="en-US" sz="2000" b="1" dirty="0">
                <a:solidFill>
                  <a:srgbClr val="FF0000"/>
                </a:solidFill>
              </a:rPr>
              <a:t>         Example</a:t>
            </a:r>
          </a:p>
          <a:p>
            <a:pPr lvl="4"/>
            <a:r>
              <a:rPr lang="en-US" sz="2000" dirty="0"/>
              <a:t>#include &lt;</a:t>
            </a:r>
            <a:r>
              <a:rPr lang="en-US" sz="2000" dirty="0" err="1"/>
              <a:t>stdio.h</a:t>
            </a:r>
            <a:r>
              <a:rPr lang="en-US" sz="2000" dirty="0"/>
              <a:t>&gt;</a:t>
            </a:r>
          </a:p>
          <a:p>
            <a:pPr lvl="4"/>
            <a:endParaRPr lang="en-US" sz="2000" dirty="0"/>
          </a:p>
          <a:p>
            <a:pPr lvl="4"/>
            <a:r>
              <a:rPr lang="en-US" sz="2000" dirty="0"/>
              <a:t>int main()</a:t>
            </a:r>
          </a:p>
          <a:p>
            <a:pPr lvl="4"/>
            <a:r>
              <a:rPr lang="en-US" sz="2000" dirty="0"/>
              <a:t> {</a:t>
            </a:r>
          </a:p>
          <a:p>
            <a:pPr lvl="4"/>
            <a:r>
              <a:rPr lang="en-US" sz="2000" dirty="0"/>
              <a:t>    int x = 10;   // Local variable</a:t>
            </a:r>
          </a:p>
          <a:p>
            <a:pPr lvl="4"/>
            <a:r>
              <a:rPr lang="en-US" sz="2000" dirty="0"/>
              <a:t>    </a:t>
            </a:r>
            <a:r>
              <a:rPr lang="en-US" sz="2000" dirty="0" err="1"/>
              <a:t>printf</a:t>
            </a:r>
            <a:r>
              <a:rPr lang="en-US" sz="2000" dirty="0"/>
              <a:t>("%d", x);</a:t>
            </a:r>
          </a:p>
          <a:p>
            <a:pPr lvl="4"/>
            <a:r>
              <a:rPr lang="en-US" sz="2000" dirty="0"/>
              <a:t>    return 0;</a:t>
            </a:r>
          </a:p>
          <a:p>
            <a:pPr lvl="4"/>
            <a:r>
              <a:rPr lang="en-US" sz="2000" dirty="0"/>
              <a:t>}</a:t>
            </a:r>
          </a:p>
          <a:p>
            <a:pPr lvl="0"/>
            <a:r>
              <a:rPr lang="en-US" sz="2000" dirty="0"/>
              <a:t>        </a:t>
            </a:r>
            <a:r>
              <a:rPr lang="en-US" sz="2000" b="1" dirty="0"/>
              <a:t>Accessible only inside the block where it is declared.</a:t>
            </a:r>
          </a:p>
        </p:txBody>
      </p:sp>
    </p:spTree>
    <p:extLst>
      <p:ext uri="{BB962C8B-B14F-4D97-AF65-F5344CB8AC3E}">
        <p14:creationId xmlns:p14="http://schemas.microsoft.com/office/powerpoint/2010/main" val="1531281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2795F-81F2-2DC1-FAAB-079ED2213E3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25F7E39-A295-E79B-D4FB-7CCF95CAE492}"/>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99286BD8-5518-4CCE-0221-CB511F21F2F9}"/>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11</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1569D736-E0F3-1C02-EBBC-76752B7CB5A5}"/>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E2076151-29F7-2B85-87EF-A53053522955}"/>
              </a:ext>
            </a:extLst>
          </p:cNvPr>
          <p:cNvSpPr txBox="1"/>
          <p:nvPr/>
        </p:nvSpPr>
        <p:spPr>
          <a:xfrm>
            <a:off x="80382" y="619090"/>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01F40B01-0B0E-043F-B13F-6ADF2A25D228}"/>
              </a:ext>
            </a:extLst>
          </p:cNvPr>
          <p:cNvSpPr txBox="1"/>
          <p:nvPr/>
        </p:nvSpPr>
        <p:spPr>
          <a:xfrm>
            <a:off x="89211" y="151377"/>
            <a:ext cx="12022407" cy="5632311"/>
          </a:xfrm>
          <a:prstGeom prst="rect">
            <a:avLst/>
          </a:prstGeom>
          <a:noFill/>
        </p:spPr>
        <p:txBody>
          <a:bodyPr wrap="square">
            <a:spAutoFit/>
          </a:bodyPr>
          <a:lstStyle/>
          <a:p>
            <a:endParaRPr lang="en-US" sz="2000" dirty="0"/>
          </a:p>
          <a:p>
            <a:r>
              <a:rPr lang="en-US" sz="2000" b="1" dirty="0">
                <a:solidFill>
                  <a:srgbClr val="FF0000"/>
                </a:solidFill>
              </a:rPr>
              <a:t>2.Global  Variables</a:t>
            </a:r>
          </a:p>
          <a:p>
            <a:pPr lvl="2"/>
            <a:endParaRPr lang="en-US" sz="2000" b="1" dirty="0">
              <a:solidFill>
                <a:srgbClr val="FF0000"/>
              </a:solidFill>
            </a:endParaRPr>
          </a:p>
          <a:p>
            <a:pPr lvl="2"/>
            <a:r>
              <a:rPr lang="en-US" sz="2000" dirty="0"/>
              <a:t>A variable declared </a:t>
            </a:r>
            <a:r>
              <a:rPr lang="en-US" sz="2000" b="1" dirty="0"/>
              <a:t>outside all functions</a:t>
            </a:r>
            <a:r>
              <a:rPr lang="en-US" sz="2000" dirty="0"/>
              <a:t>.</a:t>
            </a:r>
          </a:p>
          <a:p>
            <a:pPr lvl="2"/>
            <a:endParaRPr lang="en-US" sz="2000" dirty="0"/>
          </a:p>
          <a:p>
            <a:pPr lvl="1"/>
            <a:r>
              <a:rPr lang="en-US" sz="2000" b="1" dirty="0">
                <a:solidFill>
                  <a:srgbClr val="FF0000"/>
                </a:solidFill>
              </a:rPr>
              <a:t>         Example</a:t>
            </a:r>
          </a:p>
          <a:p>
            <a:pPr lvl="4"/>
            <a:r>
              <a:rPr lang="en-US" sz="2000" dirty="0"/>
              <a:t>#include &lt;</a:t>
            </a:r>
            <a:r>
              <a:rPr lang="en-US" sz="2000" dirty="0" err="1"/>
              <a:t>stdio.h</a:t>
            </a:r>
            <a:r>
              <a:rPr lang="en-US" sz="2000" dirty="0"/>
              <a:t>&gt;</a:t>
            </a:r>
          </a:p>
          <a:p>
            <a:pPr lvl="4"/>
            <a:endParaRPr lang="en-US" sz="2000" dirty="0"/>
          </a:p>
          <a:p>
            <a:pPr lvl="4"/>
            <a:r>
              <a:rPr lang="en-US" sz="2000" dirty="0"/>
              <a:t>int x = 10;   // Global variable</a:t>
            </a:r>
          </a:p>
          <a:p>
            <a:pPr lvl="4"/>
            <a:endParaRPr lang="en-US" sz="2000" dirty="0"/>
          </a:p>
          <a:p>
            <a:pPr lvl="4"/>
            <a:r>
              <a:rPr lang="en-US" sz="2000" dirty="0"/>
              <a:t>int main() {</a:t>
            </a:r>
          </a:p>
          <a:p>
            <a:pPr lvl="4"/>
            <a:r>
              <a:rPr lang="en-US" sz="2000" dirty="0"/>
              <a:t>    </a:t>
            </a:r>
            <a:r>
              <a:rPr lang="en-US" sz="2000" dirty="0" err="1"/>
              <a:t>printf</a:t>
            </a:r>
            <a:r>
              <a:rPr lang="en-US" sz="2000" dirty="0"/>
              <a:t>("%d", x);</a:t>
            </a:r>
          </a:p>
          <a:p>
            <a:pPr lvl="4"/>
            <a:r>
              <a:rPr lang="en-US" sz="2000" dirty="0"/>
              <a:t>    return 0;</a:t>
            </a:r>
          </a:p>
          <a:p>
            <a:pPr lvl="4"/>
            <a:r>
              <a:rPr lang="en-US" sz="2000" dirty="0"/>
              <a:t>}</a:t>
            </a:r>
          </a:p>
          <a:p>
            <a:pPr lvl="4"/>
            <a:endParaRPr lang="en-US" sz="2000" dirty="0"/>
          </a:p>
          <a:p>
            <a:pPr lvl="0"/>
            <a:r>
              <a:rPr lang="en-US" sz="2000" dirty="0"/>
              <a:t>          </a:t>
            </a:r>
            <a:r>
              <a:rPr lang="en-US" sz="2000" b="1" dirty="0"/>
              <a:t>Can generally be accessed by multiple functions in the same source file.</a:t>
            </a:r>
          </a:p>
          <a:p>
            <a:pPr lvl="0"/>
            <a:endParaRPr lang="en-US" sz="2000" b="1" dirty="0"/>
          </a:p>
          <a:p>
            <a:pPr lvl="0"/>
            <a:endParaRPr lang="en-US" sz="2000" b="1" dirty="0"/>
          </a:p>
        </p:txBody>
      </p:sp>
    </p:spTree>
    <p:extLst>
      <p:ext uri="{BB962C8B-B14F-4D97-AF65-F5344CB8AC3E}">
        <p14:creationId xmlns:p14="http://schemas.microsoft.com/office/powerpoint/2010/main" val="1005022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F4454-9A5B-1B4C-0934-AF4A0D28003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73CCB15-8C6A-4D05-E1CD-A9199875C689}"/>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1D00C016-0320-39BC-9498-BCC9E1AAC489}"/>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12</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7B6B920C-066A-62D3-7605-B364ABC68339}"/>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AC5BD90A-E0BD-9133-4A5F-638F38FB8791}"/>
              </a:ext>
            </a:extLst>
          </p:cNvPr>
          <p:cNvSpPr txBox="1"/>
          <p:nvPr/>
        </p:nvSpPr>
        <p:spPr>
          <a:xfrm>
            <a:off x="80382" y="619090"/>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9E0C0C56-9D11-F7CA-141C-DC85B9684A1E}"/>
              </a:ext>
            </a:extLst>
          </p:cNvPr>
          <p:cNvSpPr txBox="1"/>
          <p:nvPr/>
        </p:nvSpPr>
        <p:spPr>
          <a:xfrm>
            <a:off x="-36786" y="0"/>
            <a:ext cx="12265571" cy="6863417"/>
          </a:xfrm>
          <a:prstGeom prst="rect">
            <a:avLst/>
          </a:prstGeom>
          <a:noFill/>
        </p:spPr>
        <p:txBody>
          <a:bodyPr wrap="square">
            <a:spAutoFit/>
          </a:bodyPr>
          <a:lstStyle/>
          <a:p>
            <a:r>
              <a:rPr lang="en-US" sz="2000" b="1" dirty="0">
                <a:solidFill>
                  <a:srgbClr val="FF0000"/>
                </a:solidFill>
              </a:rPr>
              <a:t>3.Static  Variables</a:t>
            </a:r>
          </a:p>
          <a:p>
            <a:endParaRPr lang="en-US" sz="2000" b="1" dirty="0">
              <a:solidFill>
                <a:srgbClr val="FF0000"/>
              </a:solidFill>
            </a:endParaRPr>
          </a:p>
          <a:p>
            <a:pPr lvl="1"/>
            <a:r>
              <a:rPr lang="en-US" sz="2000" dirty="0"/>
              <a:t>A static variable </a:t>
            </a:r>
            <a:r>
              <a:rPr lang="en-US" sz="2000" b="1" dirty="0"/>
              <a:t>preserves its value</a:t>
            </a:r>
            <a:r>
              <a:rPr lang="en-US" sz="2000" dirty="0"/>
              <a:t> between function calls.</a:t>
            </a:r>
          </a:p>
          <a:p>
            <a:pPr lvl="1"/>
            <a:r>
              <a:rPr lang="en-US" sz="2000" b="1" dirty="0">
                <a:solidFill>
                  <a:srgbClr val="FF0000"/>
                </a:solidFill>
              </a:rPr>
              <a:t>         Example</a:t>
            </a:r>
          </a:p>
          <a:p>
            <a:pPr marL="1097280" lvl="4"/>
            <a:r>
              <a:rPr lang="en-US" sz="2000" dirty="0"/>
              <a:t>#include &lt;</a:t>
            </a:r>
            <a:r>
              <a:rPr lang="en-US" sz="2000" dirty="0" err="1"/>
              <a:t>stdio.h</a:t>
            </a:r>
            <a:r>
              <a:rPr lang="en-US" sz="2000" dirty="0"/>
              <a:t>&gt;</a:t>
            </a:r>
          </a:p>
          <a:p>
            <a:pPr marL="1097280" lvl="4"/>
            <a:r>
              <a:rPr lang="en-US" sz="2000" dirty="0"/>
              <a:t>void display() </a:t>
            </a:r>
          </a:p>
          <a:p>
            <a:pPr marL="1097280" lvl="4"/>
            <a:r>
              <a:rPr lang="en-US" sz="2000" dirty="0"/>
              <a:t>{</a:t>
            </a:r>
          </a:p>
          <a:p>
            <a:pPr marL="1097280" lvl="4"/>
            <a:r>
              <a:rPr lang="en-US" sz="2000" dirty="0"/>
              <a:t>    static int count = 0;</a:t>
            </a:r>
          </a:p>
          <a:p>
            <a:pPr marL="1097280" lvl="4"/>
            <a:r>
              <a:rPr lang="en-US" sz="2000" dirty="0"/>
              <a:t>    count++;</a:t>
            </a:r>
          </a:p>
          <a:p>
            <a:pPr marL="1097280" lvl="4"/>
            <a:r>
              <a:rPr lang="en-US" sz="2000" dirty="0"/>
              <a:t>    </a:t>
            </a:r>
            <a:r>
              <a:rPr lang="en-US" sz="2000" dirty="0" err="1"/>
              <a:t>printf</a:t>
            </a:r>
            <a:r>
              <a:rPr lang="en-US" sz="2000" dirty="0"/>
              <a:t>("%d\n", count);</a:t>
            </a:r>
          </a:p>
          <a:p>
            <a:pPr marL="1097280" lvl="4"/>
            <a:r>
              <a:rPr lang="en-US" sz="2000" dirty="0"/>
              <a:t>}</a:t>
            </a:r>
          </a:p>
          <a:p>
            <a:pPr marL="1097280" lvl="4"/>
            <a:r>
              <a:rPr lang="en-US" sz="2000" dirty="0"/>
              <a:t>int main() </a:t>
            </a:r>
          </a:p>
          <a:p>
            <a:pPr marL="1097280" lvl="4"/>
            <a:r>
              <a:rPr lang="en-US" sz="2000" dirty="0"/>
              <a:t>{</a:t>
            </a:r>
          </a:p>
          <a:p>
            <a:pPr marL="1097280" lvl="4"/>
            <a:r>
              <a:rPr lang="en-US" sz="2000" dirty="0"/>
              <a:t>    display();</a:t>
            </a:r>
          </a:p>
          <a:p>
            <a:pPr marL="1097280" lvl="4"/>
            <a:r>
              <a:rPr lang="en-US" sz="2000" dirty="0"/>
              <a:t>    display();</a:t>
            </a:r>
          </a:p>
          <a:p>
            <a:pPr marL="1097280" lvl="4"/>
            <a:r>
              <a:rPr lang="en-US" sz="2000" dirty="0"/>
              <a:t>    display();</a:t>
            </a:r>
          </a:p>
          <a:p>
            <a:pPr marL="1097280" lvl="4"/>
            <a:r>
              <a:rPr lang="en-US" sz="2000" dirty="0"/>
              <a:t>    return 0;</a:t>
            </a:r>
          </a:p>
          <a:p>
            <a:pPr marL="1097280" lvl="4"/>
            <a:r>
              <a:rPr lang="en-US" sz="2000" dirty="0"/>
              <a:t>}</a:t>
            </a:r>
          </a:p>
          <a:p>
            <a:pPr marL="1097280" lvl="4"/>
            <a:endParaRPr lang="en-US" sz="2000" dirty="0"/>
          </a:p>
          <a:p>
            <a:pPr lvl="0"/>
            <a:r>
              <a:rPr lang="en-US" sz="2000" dirty="0"/>
              <a:t>          </a:t>
            </a:r>
            <a:r>
              <a:rPr lang="en-US" sz="2000" b="1" dirty="0"/>
              <a:t>It is initialized only once and retains its value.</a:t>
            </a:r>
          </a:p>
          <a:p>
            <a:pPr lvl="0"/>
            <a:endParaRPr lang="en-US" sz="2000" b="1" dirty="0"/>
          </a:p>
          <a:p>
            <a:pPr lvl="0"/>
            <a:endParaRPr lang="en-US" sz="2000" b="1" dirty="0"/>
          </a:p>
        </p:txBody>
      </p:sp>
    </p:spTree>
    <p:extLst>
      <p:ext uri="{BB962C8B-B14F-4D97-AF65-F5344CB8AC3E}">
        <p14:creationId xmlns:p14="http://schemas.microsoft.com/office/powerpoint/2010/main" val="863163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1B8AC-382A-FE36-196B-C1B94F100EC9}"/>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523FFB7-6088-B2DD-F181-A813BE7C041C}"/>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368C530D-C83E-91E4-C82A-75B3E8660DDF}"/>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13</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77519807-02CD-CE4A-6707-6148ADA49E1A}"/>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34EF9709-4DD6-C09F-1BC5-A7A66A825E18}"/>
              </a:ext>
            </a:extLst>
          </p:cNvPr>
          <p:cNvSpPr txBox="1"/>
          <p:nvPr/>
        </p:nvSpPr>
        <p:spPr>
          <a:xfrm>
            <a:off x="80382" y="619090"/>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6F7DE1BC-32C0-8955-32E2-DED4E9B89F1F}"/>
              </a:ext>
            </a:extLst>
          </p:cNvPr>
          <p:cNvSpPr txBox="1"/>
          <p:nvPr/>
        </p:nvSpPr>
        <p:spPr>
          <a:xfrm>
            <a:off x="89211" y="151377"/>
            <a:ext cx="12022407" cy="5940088"/>
          </a:xfrm>
          <a:prstGeom prst="rect">
            <a:avLst/>
          </a:prstGeom>
          <a:noFill/>
        </p:spPr>
        <p:txBody>
          <a:bodyPr wrap="square">
            <a:spAutoFit/>
          </a:bodyPr>
          <a:lstStyle/>
          <a:p>
            <a:r>
              <a:rPr lang="en-US" sz="2000" b="1" dirty="0">
                <a:solidFill>
                  <a:srgbClr val="FF0000"/>
                </a:solidFill>
              </a:rPr>
              <a:t>4.Register  Variables</a:t>
            </a:r>
          </a:p>
          <a:p>
            <a:endParaRPr lang="en-US" sz="2000" b="1" dirty="0">
              <a:solidFill>
                <a:srgbClr val="FF0000"/>
              </a:solidFill>
            </a:endParaRPr>
          </a:p>
          <a:p>
            <a:pPr marL="800100" lvl="1" indent="-342900">
              <a:buFont typeface="Wingdings" panose="05000000000000000000" pitchFamily="2" charset="2"/>
              <a:buChar char="§"/>
            </a:pPr>
            <a:r>
              <a:rPr lang="en-US" sz="2000" dirty="0"/>
              <a:t>A </a:t>
            </a:r>
            <a:r>
              <a:rPr lang="en-US" sz="2000" b="1" dirty="0"/>
              <a:t>register variable</a:t>
            </a:r>
            <a:r>
              <a:rPr lang="en-US" sz="2000" dirty="0"/>
              <a:t> is a variable declared using the </a:t>
            </a:r>
            <a:r>
              <a:rPr lang="en-US" dirty="0"/>
              <a:t>register</a:t>
            </a:r>
            <a:r>
              <a:rPr lang="en-US" sz="2000" dirty="0"/>
              <a:t> keyword. </a:t>
            </a:r>
          </a:p>
          <a:p>
            <a:pPr marL="800100" lvl="1" indent="-342900">
              <a:buFont typeface="Wingdings" panose="05000000000000000000" pitchFamily="2" charset="2"/>
              <a:buChar char="§"/>
            </a:pPr>
            <a:r>
              <a:rPr lang="en-US" sz="2000" dirty="0"/>
              <a:t>It requests the compiler to store the variable in a </a:t>
            </a:r>
            <a:r>
              <a:rPr lang="en-US" sz="2000" b="1" dirty="0"/>
              <a:t>CPU register</a:t>
            </a:r>
            <a:r>
              <a:rPr lang="en-US" sz="2000" dirty="0"/>
              <a:t> for faster access.</a:t>
            </a:r>
          </a:p>
          <a:p>
            <a:pPr lvl="1"/>
            <a:endParaRPr lang="en-US" sz="2000" dirty="0"/>
          </a:p>
          <a:p>
            <a:pPr lvl="1"/>
            <a:r>
              <a:rPr lang="en-US" sz="2000" b="1" dirty="0">
                <a:solidFill>
                  <a:srgbClr val="FF0000"/>
                </a:solidFill>
              </a:rPr>
              <a:t>         Example</a:t>
            </a:r>
          </a:p>
          <a:p>
            <a:pPr lvl="1"/>
            <a:endParaRPr lang="en-US" sz="2000" b="1" dirty="0">
              <a:solidFill>
                <a:srgbClr val="FF0000"/>
              </a:solidFill>
            </a:endParaRPr>
          </a:p>
          <a:p>
            <a:pPr marL="1097280" lvl="4"/>
            <a:r>
              <a:rPr lang="en-US" sz="2000" dirty="0"/>
              <a:t>#include &lt;</a:t>
            </a:r>
            <a:r>
              <a:rPr lang="en-US" sz="2000" dirty="0" err="1"/>
              <a:t>stdio.h</a:t>
            </a:r>
            <a:r>
              <a:rPr lang="en-US" sz="2000" dirty="0"/>
              <a:t>&gt;</a:t>
            </a:r>
          </a:p>
          <a:p>
            <a:pPr marL="1097280" lvl="4"/>
            <a:endParaRPr lang="en-US" sz="2000" dirty="0"/>
          </a:p>
          <a:p>
            <a:pPr marL="1097280" lvl="4"/>
            <a:r>
              <a:rPr lang="en-US" sz="2000" dirty="0"/>
              <a:t>int main()</a:t>
            </a:r>
          </a:p>
          <a:p>
            <a:pPr marL="1097280" lvl="4"/>
            <a:r>
              <a:rPr lang="en-US" sz="2000" dirty="0"/>
              <a:t> {</a:t>
            </a:r>
          </a:p>
          <a:p>
            <a:pPr marL="1097280" lvl="4"/>
            <a:r>
              <a:rPr lang="en-US" sz="2000" dirty="0"/>
              <a:t>    register int </a:t>
            </a:r>
            <a:r>
              <a:rPr lang="en-US" sz="2000" dirty="0" err="1"/>
              <a:t>i</a:t>
            </a:r>
            <a:r>
              <a:rPr lang="en-US" sz="2000" dirty="0"/>
              <a:t>;</a:t>
            </a:r>
          </a:p>
          <a:p>
            <a:pPr marL="1097280" lvl="4"/>
            <a:endParaRPr lang="en-US" sz="2000" dirty="0"/>
          </a:p>
          <a:p>
            <a:pPr marL="1097280" lvl="4"/>
            <a:r>
              <a:rPr lang="en-US" sz="2000" dirty="0"/>
              <a:t>    for (</a:t>
            </a:r>
            <a:r>
              <a:rPr lang="en-US" sz="2000" dirty="0" err="1"/>
              <a:t>i</a:t>
            </a:r>
            <a:r>
              <a:rPr lang="en-US" sz="2000" dirty="0"/>
              <a:t> = 0; </a:t>
            </a:r>
            <a:r>
              <a:rPr lang="en-US" sz="2000" dirty="0" err="1"/>
              <a:t>i</a:t>
            </a:r>
            <a:r>
              <a:rPr lang="en-US" sz="2000" dirty="0"/>
              <a:t> &lt; 5; </a:t>
            </a:r>
            <a:r>
              <a:rPr lang="en-US" sz="2000" dirty="0" err="1"/>
              <a:t>i</a:t>
            </a:r>
            <a:r>
              <a:rPr lang="en-US" sz="2000" dirty="0"/>
              <a:t>++)</a:t>
            </a:r>
          </a:p>
          <a:p>
            <a:pPr marL="1097280" lvl="4"/>
            <a:r>
              <a:rPr lang="en-US" sz="2000" dirty="0"/>
              <a:t>        </a:t>
            </a:r>
            <a:r>
              <a:rPr lang="en-US" sz="2000" dirty="0" err="1"/>
              <a:t>printf</a:t>
            </a:r>
            <a:r>
              <a:rPr lang="en-US" sz="2000" dirty="0"/>
              <a:t>("%d ", </a:t>
            </a:r>
            <a:r>
              <a:rPr lang="en-US" sz="2000" dirty="0" err="1"/>
              <a:t>i</a:t>
            </a:r>
            <a:r>
              <a:rPr lang="en-US" sz="2000" dirty="0"/>
              <a:t>);</a:t>
            </a:r>
          </a:p>
          <a:p>
            <a:pPr marL="1097280" lvl="4"/>
            <a:endParaRPr lang="en-US" sz="2000" dirty="0"/>
          </a:p>
          <a:p>
            <a:pPr marL="1097280" lvl="4"/>
            <a:r>
              <a:rPr lang="en-US" sz="2000" dirty="0"/>
              <a:t>    return 0;</a:t>
            </a:r>
          </a:p>
          <a:p>
            <a:pPr marL="1097280" lvl="4"/>
            <a:r>
              <a:rPr lang="en-US" sz="2000" dirty="0"/>
              <a:t>}</a:t>
            </a:r>
          </a:p>
          <a:p>
            <a:pPr lvl="0"/>
            <a:r>
              <a:rPr lang="en-US" sz="2000" dirty="0"/>
              <a:t>          </a:t>
            </a:r>
            <a:endParaRPr lang="en-US" sz="2000" b="1" dirty="0"/>
          </a:p>
        </p:txBody>
      </p:sp>
    </p:spTree>
    <p:extLst>
      <p:ext uri="{BB962C8B-B14F-4D97-AF65-F5344CB8AC3E}">
        <p14:creationId xmlns:p14="http://schemas.microsoft.com/office/powerpoint/2010/main" val="3105753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B26C9-26A5-038E-B16E-88D1C889B11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9DA5960F-E0FD-F4F5-079F-949C6D9896C7}"/>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81A7C2AB-DF36-82D5-B3C6-8A34A89FBE4D}"/>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14</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8C0BD103-BB29-0D72-9ADC-09A18226B055}"/>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98E9FD4F-E4DC-84B9-46D5-71D2C86A083B}"/>
              </a:ext>
            </a:extLst>
          </p:cNvPr>
          <p:cNvSpPr txBox="1"/>
          <p:nvPr/>
        </p:nvSpPr>
        <p:spPr>
          <a:xfrm>
            <a:off x="160764" y="151377"/>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82A309FF-96BD-6BA9-33FB-0AF957A97995}"/>
              </a:ext>
            </a:extLst>
          </p:cNvPr>
          <p:cNvSpPr txBox="1"/>
          <p:nvPr/>
        </p:nvSpPr>
        <p:spPr>
          <a:xfrm>
            <a:off x="159834" y="766732"/>
            <a:ext cx="11872332" cy="3785652"/>
          </a:xfrm>
          <a:prstGeom prst="rect">
            <a:avLst/>
          </a:prstGeom>
          <a:noFill/>
        </p:spPr>
        <p:txBody>
          <a:bodyPr wrap="square">
            <a:spAutoFit/>
          </a:bodyPr>
          <a:lstStyle/>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p:txBody>
      </p:sp>
      <p:sp>
        <p:nvSpPr>
          <p:cNvPr id="10" name="TextBox 9">
            <a:extLst>
              <a:ext uri="{FF2B5EF4-FFF2-40B4-BE49-F238E27FC236}">
                <a16:creationId xmlns:a16="http://schemas.microsoft.com/office/drawing/2014/main" id="{54F52BF0-729A-CA89-A9CD-8D935DFE8512}"/>
              </a:ext>
            </a:extLst>
          </p:cNvPr>
          <p:cNvSpPr txBox="1"/>
          <p:nvPr/>
        </p:nvSpPr>
        <p:spPr>
          <a:xfrm>
            <a:off x="3392760" y="151377"/>
            <a:ext cx="6094140" cy="584775"/>
          </a:xfrm>
          <a:prstGeom prst="rect">
            <a:avLst/>
          </a:prstGeom>
          <a:noFill/>
        </p:spPr>
        <p:txBody>
          <a:bodyPr wrap="square">
            <a:spAutoFit/>
          </a:bodyPr>
          <a:lstStyle/>
          <a:p>
            <a:r>
              <a:rPr lang="en-US" sz="3200" b="1" dirty="0">
                <a:solidFill>
                  <a:srgbClr val="FF0000"/>
                </a:solidFill>
              </a:rPr>
              <a:t>Rules for Variables in C</a:t>
            </a:r>
          </a:p>
        </p:txBody>
      </p:sp>
      <p:sp>
        <p:nvSpPr>
          <p:cNvPr id="12" name="TextBox 11">
            <a:extLst>
              <a:ext uri="{FF2B5EF4-FFF2-40B4-BE49-F238E27FC236}">
                <a16:creationId xmlns:a16="http://schemas.microsoft.com/office/drawing/2014/main" id="{8CD71544-EF6F-B32B-7BEE-DD5A5E99B7BA}"/>
              </a:ext>
            </a:extLst>
          </p:cNvPr>
          <p:cNvSpPr txBox="1"/>
          <p:nvPr/>
        </p:nvSpPr>
        <p:spPr>
          <a:xfrm>
            <a:off x="159834" y="1153455"/>
            <a:ext cx="11872332" cy="3539430"/>
          </a:xfrm>
          <a:prstGeom prst="rect">
            <a:avLst/>
          </a:prstGeom>
          <a:noFill/>
        </p:spPr>
        <p:txBody>
          <a:bodyPr wrap="square">
            <a:spAutoFit/>
          </a:bodyPr>
          <a:lstStyle/>
          <a:p>
            <a:pPr marL="342900" lvl="0" indent="-342900" algn="just">
              <a:buClr>
                <a:srgbClr val="0617BA"/>
              </a:buClr>
              <a:buFont typeface="Wingdings" panose="05000000000000000000" pitchFamily="2" charset="2"/>
              <a:buChar char="§"/>
            </a:pPr>
            <a:r>
              <a:rPr lang="en-US" sz="2800" dirty="0"/>
              <a:t>A variable name should begin with a </a:t>
            </a:r>
            <a:r>
              <a:rPr lang="en-US" sz="2800" b="1" dirty="0"/>
              <a:t>letter</a:t>
            </a:r>
            <a:r>
              <a:rPr lang="en-US" sz="2800" dirty="0"/>
              <a:t> or an </a:t>
            </a:r>
            <a:r>
              <a:rPr lang="en-US" sz="2800" b="1" dirty="0"/>
              <a:t>underscore (_)</a:t>
            </a:r>
            <a:r>
              <a:rPr lang="en-US" sz="2800" dirty="0"/>
              <a:t>. </a:t>
            </a:r>
          </a:p>
          <a:p>
            <a:pPr marL="342900" lvl="0" indent="-342900" algn="just">
              <a:buClr>
                <a:srgbClr val="0617BA"/>
              </a:buClr>
              <a:buFont typeface="Wingdings" panose="05000000000000000000" pitchFamily="2" charset="2"/>
              <a:buChar char="§"/>
            </a:pPr>
            <a:r>
              <a:rPr lang="en-US" sz="2800" dirty="0"/>
              <a:t>It should </a:t>
            </a:r>
            <a:r>
              <a:rPr lang="en-US" sz="2800" b="1" dirty="0"/>
              <a:t>not start with a number</a:t>
            </a:r>
            <a:r>
              <a:rPr lang="en-US" sz="2800" dirty="0"/>
              <a:t>. </a:t>
            </a:r>
          </a:p>
          <a:p>
            <a:pPr marL="342900" lvl="0" indent="-342900" algn="just">
              <a:buClr>
                <a:srgbClr val="0617BA"/>
              </a:buClr>
              <a:buFont typeface="Wingdings" panose="05000000000000000000" pitchFamily="2" charset="2"/>
              <a:buChar char="§"/>
            </a:pPr>
            <a:r>
              <a:rPr lang="en-US" sz="2800" dirty="0"/>
              <a:t>It can contain </a:t>
            </a:r>
            <a:r>
              <a:rPr lang="en-US" sz="2800" b="1" dirty="0"/>
              <a:t>letters, numbers, and underscores</a:t>
            </a:r>
            <a:r>
              <a:rPr lang="en-US" sz="2800" dirty="0"/>
              <a:t>. </a:t>
            </a:r>
          </a:p>
          <a:p>
            <a:pPr marL="342900" lvl="0" indent="-342900" algn="just">
              <a:buClr>
                <a:srgbClr val="0617BA"/>
              </a:buClr>
              <a:buFont typeface="Wingdings" panose="05000000000000000000" pitchFamily="2" charset="2"/>
              <a:buChar char="§"/>
            </a:pPr>
            <a:r>
              <a:rPr lang="en-US" sz="2800" b="1" dirty="0"/>
              <a:t>Spaces</a:t>
            </a:r>
            <a:r>
              <a:rPr lang="en-US" sz="2800" dirty="0"/>
              <a:t> and </a:t>
            </a:r>
            <a:r>
              <a:rPr lang="en-US" sz="2800" b="1" dirty="0"/>
              <a:t>special characters</a:t>
            </a:r>
            <a:r>
              <a:rPr lang="en-US" sz="2800" dirty="0"/>
              <a:t> are not allowed. </a:t>
            </a:r>
          </a:p>
          <a:p>
            <a:pPr marL="342900" lvl="0" indent="-342900" algn="just">
              <a:buClr>
                <a:srgbClr val="0617BA"/>
              </a:buClr>
              <a:buFont typeface="Wingdings" panose="05000000000000000000" pitchFamily="2" charset="2"/>
              <a:buChar char="§"/>
            </a:pPr>
            <a:r>
              <a:rPr lang="en-US" sz="2800" b="1" dirty="0"/>
              <a:t>C keywords</a:t>
            </a:r>
            <a:r>
              <a:rPr lang="en-US" sz="2800" dirty="0"/>
              <a:t> (such as int, float, and if) cannot be used as variable names. </a:t>
            </a:r>
          </a:p>
          <a:p>
            <a:pPr marL="342900" lvl="0" indent="-342900" algn="just">
              <a:buClr>
                <a:srgbClr val="0617BA"/>
              </a:buClr>
              <a:buFont typeface="Wingdings" panose="05000000000000000000" pitchFamily="2" charset="2"/>
              <a:buChar char="§"/>
            </a:pPr>
            <a:r>
              <a:rPr lang="en-US" sz="2800" dirty="0"/>
              <a:t>Variable names are </a:t>
            </a:r>
            <a:r>
              <a:rPr lang="en-US" sz="2800" b="1" dirty="0"/>
              <a:t>case-sensitive</a:t>
            </a:r>
            <a:r>
              <a:rPr lang="en-US" sz="2800" dirty="0"/>
              <a:t>, so age and Age are treated as different variables. </a:t>
            </a:r>
          </a:p>
          <a:p>
            <a:pPr marL="342900" lvl="0" indent="-342900" algn="just">
              <a:buClr>
                <a:srgbClr val="0617BA"/>
              </a:buClr>
              <a:buFont typeface="Wingdings" panose="05000000000000000000" pitchFamily="2" charset="2"/>
              <a:buChar char="§"/>
            </a:pPr>
            <a:r>
              <a:rPr lang="en-US" sz="2800" dirty="0"/>
              <a:t>A variable must be </a:t>
            </a:r>
            <a:r>
              <a:rPr lang="en-US" sz="2800" b="1" dirty="0"/>
              <a:t>declared before it is used</a:t>
            </a:r>
            <a:r>
              <a:rPr lang="en-US" sz="2800" dirty="0"/>
              <a:t> in the program.</a:t>
            </a:r>
          </a:p>
        </p:txBody>
      </p:sp>
    </p:spTree>
    <p:extLst>
      <p:ext uri="{BB962C8B-B14F-4D97-AF65-F5344CB8AC3E}">
        <p14:creationId xmlns:p14="http://schemas.microsoft.com/office/powerpoint/2010/main" val="679875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E3264-94A9-D7F6-1AD6-101E7BB8160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CA98C3-3D6F-4CCD-17F4-32E3495119C7}"/>
              </a:ext>
            </a:extLst>
          </p:cNvPr>
          <p:cNvSpPr txBox="1"/>
          <p:nvPr/>
        </p:nvSpPr>
        <p:spPr>
          <a:xfrm>
            <a:off x="2780835" y="8674"/>
            <a:ext cx="5716395" cy="1015663"/>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Data Types  in ‘C’</a:t>
            </a:r>
            <a:endParaRPr lang="en-US" sz="3600" b="1" dirty="0">
              <a:latin typeface="Cambria" panose="02040503050406030204" pitchFamily="18" charset="0"/>
              <a:ea typeface="Cambria" panose="020405030504060302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0BD7FBA-B598-83CC-D8B0-ADE45404795E}"/>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8B814353-4029-3E9E-BA8C-633B1F649D06}"/>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15</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45AFC6EC-508F-8475-ABAC-EECE00E9BD7B}"/>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8C11C14C-9EFA-5C7B-735A-05E8033FA935}"/>
              </a:ext>
            </a:extLst>
          </p:cNvPr>
          <p:cNvSpPr txBox="1"/>
          <p:nvPr/>
        </p:nvSpPr>
        <p:spPr>
          <a:xfrm>
            <a:off x="80382" y="619090"/>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F419D1F4-958B-6A94-D77E-D97717867427}"/>
              </a:ext>
            </a:extLst>
          </p:cNvPr>
          <p:cNvSpPr txBox="1"/>
          <p:nvPr/>
        </p:nvSpPr>
        <p:spPr>
          <a:xfrm>
            <a:off x="159834" y="619090"/>
            <a:ext cx="11606094" cy="5604098"/>
          </a:xfrm>
          <a:prstGeom prst="rect">
            <a:avLst/>
          </a:prstGeom>
          <a:noFill/>
        </p:spPr>
        <p:txBody>
          <a:bodyPr wrap="square">
            <a:spAutoFit/>
          </a:bodyPr>
          <a:lstStyle/>
          <a:p>
            <a:pPr>
              <a:lnSpc>
                <a:spcPct val="150000"/>
              </a:lnSpc>
            </a:pPr>
            <a:endParaRPr lang="en-US" sz="2000" dirty="0"/>
          </a:p>
          <a:p>
            <a:pPr marL="342900" indent="-342900">
              <a:lnSpc>
                <a:spcPct val="150000"/>
              </a:lnSpc>
              <a:buFont typeface="Wingdings" panose="05000000000000000000" pitchFamily="2" charset="2"/>
              <a:buChar char="§"/>
            </a:pPr>
            <a:r>
              <a:rPr lang="en-US" sz="2200" dirty="0"/>
              <a:t>A </a:t>
            </a:r>
            <a:r>
              <a:rPr lang="en-US" sz="2200" b="1" dirty="0"/>
              <a:t>data type</a:t>
            </a:r>
            <a:r>
              <a:rPr lang="en-US" sz="2200" dirty="0"/>
              <a:t> in C specifies:</a:t>
            </a:r>
          </a:p>
          <a:p>
            <a:pPr marL="1257300" lvl="2" indent="-342900">
              <a:lnSpc>
                <a:spcPct val="150000"/>
              </a:lnSpc>
              <a:buFont typeface="Wingdings" panose="05000000000000000000" pitchFamily="2" charset="2"/>
              <a:buChar char="§"/>
            </a:pPr>
            <a:r>
              <a:rPr lang="en-US" sz="2200" dirty="0"/>
              <a:t>What kind of data a variable can store. </a:t>
            </a:r>
          </a:p>
          <a:p>
            <a:pPr marL="1257300" lvl="2" indent="-342900">
              <a:buFont typeface="Wingdings" panose="05000000000000000000" pitchFamily="2" charset="2"/>
              <a:buChar char="§"/>
            </a:pPr>
            <a:r>
              <a:rPr lang="en-US" sz="2200" dirty="0"/>
              <a:t>How much memory is allocated for the variable. </a:t>
            </a:r>
          </a:p>
          <a:p>
            <a:pPr marL="1257300" lvl="2" indent="-342900">
              <a:buFont typeface="Wingdings" panose="05000000000000000000" pitchFamily="2" charset="2"/>
              <a:buChar char="§"/>
            </a:pPr>
            <a:r>
              <a:rPr lang="en-US" sz="2200" dirty="0"/>
              <a:t>What operations can be performed on the data.</a:t>
            </a:r>
          </a:p>
          <a:p>
            <a:pPr algn="just">
              <a:lnSpc>
                <a:spcPts val="2875"/>
              </a:lnSpc>
              <a:buClr>
                <a:srgbClr val="FF0000"/>
              </a:buClr>
              <a:buSzPct val="110000"/>
              <a:defRPr/>
            </a:pPr>
            <a:endParaRPr lang="en-US" sz="2200" dirty="0">
              <a:cs typeface="Times New Roman" pitchFamily="18" charset="0"/>
            </a:endParaRPr>
          </a:p>
          <a:p>
            <a:pPr marL="342900" indent="-342900">
              <a:buFont typeface="Wingdings" panose="05000000000000000000" pitchFamily="2" charset="2"/>
              <a:buChar char="§"/>
              <a:defRPr/>
            </a:pPr>
            <a:r>
              <a:rPr lang="en-US" sz="2200" dirty="0">
                <a:cs typeface="Times New Roman" pitchFamily="18" charset="0"/>
              </a:rPr>
              <a:t>The data types in C can be classified as follows:</a:t>
            </a:r>
          </a:p>
          <a:p>
            <a:pPr marL="342900" indent="-342900">
              <a:buFont typeface="Wingdings" panose="05000000000000000000" pitchFamily="2" charset="2"/>
              <a:buChar char="§"/>
              <a:defRPr/>
            </a:pPr>
            <a:endParaRPr lang="en-US" sz="2200" dirty="0">
              <a:cs typeface="Times New Roman" pitchFamily="18" charset="0"/>
            </a:endParaRPr>
          </a:p>
          <a:p>
            <a:pPr marL="914400" lvl="1" indent="-457200" algn="just">
              <a:buFont typeface="Wingdings" panose="05000000000000000000" pitchFamily="2" charset="2"/>
              <a:buChar char="§"/>
              <a:defRPr/>
            </a:pPr>
            <a:r>
              <a:rPr lang="en-US" sz="2200" b="1" dirty="0">
                <a:cs typeface="Times New Roman" pitchFamily="18" charset="0"/>
              </a:rPr>
              <a:t>Primitive Data Types </a:t>
            </a:r>
            <a:r>
              <a:rPr lang="en-US" sz="2200" dirty="0">
                <a:cs typeface="Times New Roman" pitchFamily="18" charset="0"/>
              </a:rPr>
              <a:t>– Basic types like int, float, char, etc.</a:t>
            </a:r>
          </a:p>
          <a:p>
            <a:pPr marL="914400" lvl="1" indent="-457200" algn="just">
              <a:buFont typeface="Wingdings" panose="05000000000000000000" pitchFamily="2" charset="2"/>
              <a:buChar char="§"/>
              <a:defRPr/>
            </a:pPr>
            <a:r>
              <a:rPr lang="en-US" sz="2200" b="1" dirty="0">
                <a:cs typeface="Times New Roman" pitchFamily="18" charset="0"/>
              </a:rPr>
              <a:t>Derived Data Types</a:t>
            </a:r>
            <a:r>
              <a:rPr lang="en-US" sz="2200" dirty="0">
                <a:cs typeface="Times New Roman" pitchFamily="18" charset="0"/>
              </a:rPr>
              <a:t> – Formed from primitive types, e.g. arrays, pointers, structures, functions.</a:t>
            </a:r>
          </a:p>
          <a:p>
            <a:pPr marL="914400" lvl="1" indent="-457200" algn="just">
              <a:buFont typeface="Wingdings" panose="05000000000000000000" pitchFamily="2" charset="2"/>
              <a:buChar char="§"/>
              <a:defRPr/>
            </a:pPr>
            <a:r>
              <a:rPr lang="en-US" sz="2200" b="1" dirty="0">
                <a:cs typeface="Times New Roman" pitchFamily="18" charset="0"/>
              </a:rPr>
              <a:t>User-Defined Data Types </a:t>
            </a:r>
            <a:r>
              <a:rPr lang="en-US" sz="2200" dirty="0">
                <a:cs typeface="Times New Roman" pitchFamily="18" charset="0"/>
              </a:rPr>
              <a:t>– Created by the user, e.g. struct, union, </a:t>
            </a:r>
            <a:r>
              <a:rPr lang="en-US" sz="2200" dirty="0" err="1">
                <a:cs typeface="Times New Roman" pitchFamily="18" charset="0"/>
              </a:rPr>
              <a:t>enum</a:t>
            </a:r>
            <a:r>
              <a:rPr lang="en-US" sz="2200" dirty="0">
                <a:cs typeface="Times New Roman" pitchFamily="18" charset="0"/>
              </a:rPr>
              <a:t>, typedef.</a:t>
            </a:r>
            <a:endParaRPr lang="en-US" sz="2200" dirty="0"/>
          </a:p>
          <a:p>
            <a:pPr marL="342900" lvl="0" indent="-342900">
              <a:buFont typeface="Wingdings" panose="05000000000000000000" pitchFamily="2" charset="2"/>
              <a:buChar char="§"/>
            </a:pPr>
            <a:endParaRPr lang="en-US" sz="2200" dirty="0"/>
          </a:p>
          <a:p>
            <a:pPr lvl="0"/>
            <a:endParaRPr lang="en-US" sz="2000" dirty="0"/>
          </a:p>
          <a:p>
            <a:pPr marL="342900" lvl="0" indent="-342900">
              <a:buFont typeface="+mj-lt"/>
              <a:buAutoNum type="arabicPeriod"/>
            </a:pPr>
            <a:endParaRPr lang="en-US" sz="2000" dirty="0"/>
          </a:p>
        </p:txBody>
      </p:sp>
    </p:spTree>
    <p:extLst>
      <p:ext uri="{BB962C8B-B14F-4D97-AF65-F5344CB8AC3E}">
        <p14:creationId xmlns:p14="http://schemas.microsoft.com/office/powerpoint/2010/main" val="643744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7EB2DA9-FCCF-1F27-24DF-6EA363881676}"/>
              </a:ext>
            </a:extLst>
          </p:cNvPr>
          <p:cNvSpPr>
            <a:spLocks noGrp="1"/>
          </p:cNvSpPr>
          <p:nvPr>
            <p:ph type="ftr" sz="quarter" idx="11"/>
          </p:nvPr>
        </p:nvSpPr>
        <p:spPr/>
        <p:txBody>
          <a:bodyPr/>
          <a:lstStyle/>
          <a:p>
            <a:r>
              <a:rPr lang="en-US" sz="1600" b="1" dirty="0">
                <a:solidFill>
                  <a:srgbClr val="0617BA"/>
                </a:solidFill>
              </a:rPr>
              <a:t>Prepared By </a:t>
            </a:r>
            <a:r>
              <a:rPr lang="en-US" sz="1600" b="1" dirty="0" err="1">
                <a:solidFill>
                  <a:srgbClr val="0617BA"/>
                </a:solidFill>
              </a:rPr>
              <a:t>Mr.V.Rajashekhar</a:t>
            </a:r>
            <a:endParaRPr lang="en-US" sz="1600" b="1" dirty="0">
              <a:solidFill>
                <a:srgbClr val="0617BA"/>
              </a:solidFill>
            </a:endParaRPr>
          </a:p>
        </p:txBody>
      </p:sp>
      <p:sp>
        <p:nvSpPr>
          <p:cNvPr id="3" name="Slide Number Placeholder 2">
            <a:extLst>
              <a:ext uri="{FF2B5EF4-FFF2-40B4-BE49-F238E27FC236}">
                <a16:creationId xmlns:a16="http://schemas.microsoft.com/office/drawing/2014/main" id="{D581CBEE-B2EE-03CC-F321-4E41C4F59C02}"/>
              </a:ext>
            </a:extLst>
          </p:cNvPr>
          <p:cNvSpPr>
            <a:spLocks noGrp="1"/>
          </p:cNvSpPr>
          <p:nvPr>
            <p:ph type="sldNum" sz="quarter" idx="12"/>
          </p:nvPr>
        </p:nvSpPr>
        <p:spPr/>
        <p:txBody>
          <a:bodyPr/>
          <a:lstStyle/>
          <a:p>
            <a:fld id="{CD9E0E7A-1A1C-4018-B05E-E2DC074E6DA7}" type="slidenum">
              <a:rPr lang="en-US" smtClean="0"/>
              <a:t>16</a:t>
            </a:fld>
            <a:endParaRPr lang="en-US"/>
          </a:p>
        </p:txBody>
      </p:sp>
      <p:pic>
        <p:nvPicPr>
          <p:cNvPr id="8" name="Picture 7">
            <a:extLst>
              <a:ext uri="{FF2B5EF4-FFF2-40B4-BE49-F238E27FC236}">
                <a16:creationId xmlns:a16="http://schemas.microsoft.com/office/drawing/2014/main" id="{0DC20503-E286-E2F9-8130-BD8761885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6715" y="206452"/>
            <a:ext cx="8610804" cy="6149898"/>
          </a:xfrm>
          <a:prstGeom prst="rect">
            <a:avLst/>
          </a:prstGeom>
        </p:spPr>
      </p:pic>
    </p:spTree>
    <p:extLst>
      <p:ext uri="{BB962C8B-B14F-4D97-AF65-F5344CB8AC3E}">
        <p14:creationId xmlns:p14="http://schemas.microsoft.com/office/powerpoint/2010/main" val="1124317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37445-5B10-0BA8-DC60-0143D2CAF7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F04518-B091-A65F-418E-E7E05FC96BEE}"/>
              </a:ext>
            </a:extLst>
          </p:cNvPr>
          <p:cNvSpPr txBox="1"/>
          <p:nvPr/>
        </p:nvSpPr>
        <p:spPr>
          <a:xfrm>
            <a:off x="1694986" y="117923"/>
            <a:ext cx="7928518"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General Form of a ‘C’ Program</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FD45FC7A-4129-8941-879A-29F263A92717}"/>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0FA9572E-A006-E6E2-6B5F-B015974B731A}"/>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17</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A2CC5FC2-6B55-A08C-22AF-E5C12D5CE608}"/>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D3A632BD-8E7C-8386-0BDA-1751C60042EA}"/>
              </a:ext>
            </a:extLst>
          </p:cNvPr>
          <p:cNvSpPr txBox="1"/>
          <p:nvPr/>
        </p:nvSpPr>
        <p:spPr>
          <a:xfrm>
            <a:off x="80382" y="619090"/>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E18BD035-812E-1A1F-205E-41EC6EDA3EB7}"/>
              </a:ext>
            </a:extLst>
          </p:cNvPr>
          <p:cNvSpPr txBox="1"/>
          <p:nvPr/>
        </p:nvSpPr>
        <p:spPr>
          <a:xfrm>
            <a:off x="80382" y="849922"/>
            <a:ext cx="11606094" cy="5310941"/>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400" dirty="0"/>
              <a:t> A </a:t>
            </a:r>
            <a:r>
              <a:rPr lang="en-US" sz="2400" b="1" dirty="0"/>
              <a:t>C program</a:t>
            </a:r>
            <a:r>
              <a:rPr lang="en-US" sz="2400" dirty="0"/>
              <a:t> is generally divided into different sections. </a:t>
            </a:r>
          </a:p>
          <a:p>
            <a:pPr marL="342900" indent="-342900">
              <a:lnSpc>
                <a:spcPct val="150000"/>
              </a:lnSpc>
              <a:buFont typeface="Wingdings" panose="05000000000000000000" pitchFamily="2" charset="2"/>
              <a:buChar char="§"/>
            </a:pPr>
            <a:r>
              <a:rPr lang="en-US" sz="2400" dirty="0"/>
              <a:t> Each section has a specific purpose in developing and executing the program.</a:t>
            </a:r>
          </a:p>
          <a:p>
            <a:pPr marL="342900" indent="-342900">
              <a:lnSpc>
                <a:spcPct val="150000"/>
              </a:lnSpc>
              <a:buFont typeface="Wingdings" panose="05000000000000000000" pitchFamily="2" charset="2"/>
              <a:buChar char="§"/>
            </a:pPr>
            <a:endParaRPr lang="en-US" sz="2400" dirty="0"/>
          </a:p>
          <a:p>
            <a:pPr marL="2286000" lvl="4" indent="-457200">
              <a:buFont typeface="+mj-lt"/>
              <a:buAutoNum type="arabicPeriod"/>
            </a:pPr>
            <a:r>
              <a:rPr lang="en-US" sz="2400" b="1" dirty="0"/>
              <a:t>Documentation Section </a:t>
            </a:r>
          </a:p>
          <a:p>
            <a:pPr marL="2286000" lvl="4" indent="-457200">
              <a:buFont typeface="+mj-lt"/>
              <a:buAutoNum type="arabicPeriod"/>
            </a:pPr>
            <a:r>
              <a:rPr lang="en-US" sz="2400" b="1" dirty="0"/>
              <a:t>Link / Preprocessor Section </a:t>
            </a:r>
          </a:p>
          <a:p>
            <a:pPr marL="2286000" lvl="4" indent="-457200">
              <a:buFont typeface="+mj-lt"/>
              <a:buAutoNum type="arabicPeriod"/>
            </a:pPr>
            <a:r>
              <a:rPr lang="en-US" sz="2400" b="1" dirty="0"/>
              <a:t>Definition Section </a:t>
            </a:r>
          </a:p>
          <a:p>
            <a:pPr marL="2286000" lvl="4" indent="-457200">
              <a:buFont typeface="+mj-lt"/>
              <a:buAutoNum type="arabicPeriod"/>
            </a:pPr>
            <a:r>
              <a:rPr lang="en-US" sz="2400" b="1" dirty="0"/>
              <a:t>Global Declaration Section </a:t>
            </a:r>
          </a:p>
          <a:p>
            <a:pPr marL="2171700" lvl="4" indent="-342900">
              <a:buFont typeface="+mj-lt"/>
              <a:buAutoNum type="arabicPeriod"/>
            </a:pPr>
            <a:r>
              <a:rPr lang="en-US" sz="2000" b="1" dirty="0"/>
              <a:t>  main()</a:t>
            </a:r>
            <a:r>
              <a:rPr lang="en-US" sz="2400" b="1" dirty="0"/>
              <a:t> Function </a:t>
            </a:r>
          </a:p>
          <a:p>
            <a:pPr marL="2286000" lvl="4" indent="-457200">
              <a:buFont typeface="+mj-lt"/>
              <a:buAutoNum type="arabicPeriod"/>
            </a:pPr>
            <a:r>
              <a:rPr lang="en-US" sz="2400" b="1" dirty="0"/>
              <a:t>User-Defined Functions</a:t>
            </a:r>
          </a:p>
          <a:p>
            <a:pPr>
              <a:lnSpc>
                <a:spcPct val="150000"/>
              </a:lnSpc>
            </a:pPr>
            <a:endParaRPr lang="en-US" sz="2000" b="1" dirty="0"/>
          </a:p>
          <a:p>
            <a:pPr>
              <a:lnSpc>
                <a:spcPct val="150000"/>
              </a:lnSpc>
            </a:pPr>
            <a:endParaRPr lang="en-US" sz="2000" dirty="0"/>
          </a:p>
          <a:p>
            <a:pPr marL="342900" indent="-342900">
              <a:lnSpc>
                <a:spcPct val="150000"/>
              </a:lnSpc>
              <a:buFont typeface="Wingdings" panose="05000000000000000000" pitchFamily="2" charset="2"/>
              <a:buChar char="§"/>
            </a:pPr>
            <a:endParaRPr lang="en-US" sz="2000" dirty="0"/>
          </a:p>
        </p:txBody>
      </p:sp>
    </p:spTree>
    <p:extLst>
      <p:ext uri="{BB962C8B-B14F-4D97-AF65-F5344CB8AC3E}">
        <p14:creationId xmlns:p14="http://schemas.microsoft.com/office/powerpoint/2010/main" val="3173768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8314B-226C-D370-87EF-E463106508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BB46E5-C169-B105-A4B6-EC49758B01E4}"/>
              </a:ext>
            </a:extLst>
          </p:cNvPr>
          <p:cNvSpPr txBox="1"/>
          <p:nvPr/>
        </p:nvSpPr>
        <p:spPr>
          <a:xfrm>
            <a:off x="1694986" y="117923"/>
            <a:ext cx="7928518"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General Form of a ‘C’ Program</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06F87368-66AD-A55F-B9A9-2C684E220941}"/>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F3349E6D-FF7A-5A07-19F8-CFB60013448D}"/>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18</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F4D50875-6B95-262B-6A89-2AC351E1D7C5}"/>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98447FEA-143F-CABD-C123-C6FA2545D3E3}"/>
              </a:ext>
            </a:extLst>
          </p:cNvPr>
          <p:cNvSpPr txBox="1"/>
          <p:nvPr/>
        </p:nvSpPr>
        <p:spPr>
          <a:xfrm>
            <a:off x="80382" y="619090"/>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49318745-EF1B-3ACA-7D2F-2289D362A1EA}"/>
              </a:ext>
            </a:extLst>
          </p:cNvPr>
          <p:cNvSpPr txBox="1"/>
          <p:nvPr/>
        </p:nvSpPr>
        <p:spPr>
          <a:xfrm>
            <a:off x="59941" y="1061543"/>
            <a:ext cx="11606094" cy="1785104"/>
          </a:xfrm>
          <a:prstGeom prst="rect">
            <a:avLst/>
          </a:prstGeom>
          <a:noFill/>
        </p:spPr>
        <p:txBody>
          <a:bodyPr wrap="square">
            <a:spAutoFit/>
          </a:bodyPr>
          <a:lstStyle/>
          <a:p>
            <a:pPr marL="342900" indent="-342900">
              <a:lnSpc>
                <a:spcPct val="150000"/>
              </a:lnSpc>
              <a:buFont typeface="Wingdings" panose="05000000000000000000" pitchFamily="2" charset="2"/>
              <a:buChar char="§"/>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a:p>
            <a:pPr marL="342900" lvl="0" indent="-342900">
              <a:buFont typeface="+mj-lt"/>
              <a:buAutoNum type="arabicPeriod"/>
            </a:pPr>
            <a:endParaRPr lang="en-US" sz="2000" dirty="0"/>
          </a:p>
        </p:txBody>
      </p:sp>
      <p:pic>
        <p:nvPicPr>
          <p:cNvPr id="11" name="Picture 10">
            <a:extLst>
              <a:ext uri="{FF2B5EF4-FFF2-40B4-BE49-F238E27FC236}">
                <a16:creationId xmlns:a16="http://schemas.microsoft.com/office/drawing/2014/main" id="{E5DEA2A4-CC8C-04DD-E280-8E629642A5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41" y="0"/>
            <a:ext cx="12132059" cy="6374949"/>
          </a:xfrm>
          <a:prstGeom prst="rect">
            <a:avLst/>
          </a:prstGeom>
        </p:spPr>
      </p:pic>
    </p:spTree>
    <p:extLst>
      <p:ext uri="{BB962C8B-B14F-4D97-AF65-F5344CB8AC3E}">
        <p14:creationId xmlns:p14="http://schemas.microsoft.com/office/powerpoint/2010/main" val="4163897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08DBB-0159-580C-B5DD-CE5478A9E1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7EDD8F-1094-FEC8-4A47-F40062A7C0F4}"/>
              </a:ext>
            </a:extLst>
          </p:cNvPr>
          <p:cNvSpPr txBox="1"/>
          <p:nvPr/>
        </p:nvSpPr>
        <p:spPr>
          <a:xfrm>
            <a:off x="1595555" y="82142"/>
            <a:ext cx="7928518"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General Form of a ‘C’ Program</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14176AB3-CC6F-90D1-DFE3-664ABF51F563}"/>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E678FE88-A70B-8DEE-AE85-439EC6ADECC8}"/>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19</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AACEC9B5-1382-1688-7114-2EB5050E0BEA}"/>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05BFCFAA-7F7E-2A33-74E6-0B8A3D4C248D}"/>
              </a:ext>
            </a:extLst>
          </p:cNvPr>
          <p:cNvSpPr txBox="1"/>
          <p:nvPr/>
        </p:nvSpPr>
        <p:spPr>
          <a:xfrm>
            <a:off x="80382" y="619090"/>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F7ADF47F-FB65-177F-2520-58272131980F}"/>
              </a:ext>
            </a:extLst>
          </p:cNvPr>
          <p:cNvSpPr txBox="1"/>
          <p:nvPr/>
        </p:nvSpPr>
        <p:spPr>
          <a:xfrm>
            <a:off x="80383" y="837857"/>
            <a:ext cx="11614922" cy="6001643"/>
          </a:xfrm>
          <a:prstGeom prst="rect">
            <a:avLst/>
          </a:prstGeom>
          <a:noFill/>
        </p:spPr>
        <p:txBody>
          <a:bodyPr wrap="square">
            <a:spAutoFit/>
          </a:bodyPr>
          <a:lstStyle/>
          <a:p>
            <a:r>
              <a:rPr lang="en-US" sz="2400" b="1" dirty="0">
                <a:solidFill>
                  <a:srgbClr val="FF0000"/>
                </a:solidFill>
              </a:rPr>
              <a:t>1.Documentation Section</a:t>
            </a:r>
          </a:p>
          <a:p>
            <a:r>
              <a:rPr lang="en-US" sz="2400" dirty="0"/>
              <a:t>     Contains comments that explain the purpose of the program.</a:t>
            </a:r>
          </a:p>
          <a:p>
            <a:r>
              <a:rPr lang="en-US" sz="2400" b="1" dirty="0"/>
              <a:t> Example:</a:t>
            </a:r>
            <a:endParaRPr lang="en-US" sz="2400" dirty="0"/>
          </a:p>
          <a:p>
            <a:r>
              <a:rPr lang="en-US" dirty="0"/>
              <a:t>    /* Program to add two numbers */</a:t>
            </a:r>
          </a:p>
          <a:p>
            <a:r>
              <a:rPr lang="en-US" sz="2400" b="1" dirty="0">
                <a:solidFill>
                  <a:srgbClr val="FF0000"/>
                </a:solidFill>
              </a:rPr>
              <a:t>2. Link / Preprocessor Section</a:t>
            </a:r>
          </a:p>
          <a:p>
            <a:r>
              <a:rPr lang="en-US" sz="2400" dirty="0"/>
              <a:t>    Includes header files required for predefined functions.</a:t>
            </a:r>
          </a:p>
          <a:p>
            <a:r>
              <a:rPr lang="en-US" sz="2400" b="1" dirty="0"/>
              <a:t> Example:</a:t>
            </a:r>
            <a:endParaRPr lang="en-US" sz="2400" dirty="0"/>
          </a:p>
          <a:p>
            <a:r>
              <a:rPr lang="en-US" dirty="0"/>
              <a:t>    #include &lt;</a:t>
            </a:r>
            <a:r>
              <a:rPr lang="en-US" dirty="0" err="1"/>
              <a:t>stdio.h</a:t>
            </a:r>
            <a:r>
              <a:rPr lang="en-US" dirty="0"/>
              <a:t>&gt;</a:t>
            </a:r>
          </a:p>
          <a:p>
            <a:r>
              <a:rPr lang="en-US" sz="2400" b="1" dirty="0">
                <a:solidFill>
                  <a:srgbClr val="FF0000"/>
                </a:solidFill>
              </a:rPr>
              <a:t>3. Definition Section</a:t>
            </a:r>
          </a:p>
          <a:p>
            <a:r>
              <a:rPr lang="en-US" sz="2400" dirty="0"/>
              <a:t>   Defines constants using </a:t>
            </a:r>
            <a:r>
              <a:rPr lang="en-US" dirty="0"/>
              <a:t>#define</a:t>
            </a:r>
            <a:r>
              <a:rPr lang="en-US" sz="2400" dirty="0"/>
              <a:t>.</a:t>
            </a:r>
          </a:p>
          <a:p>
            <a:r>
              <a:rPr lang="en-US" sz="2400" b="1" dirty="0"/>
              <a:t> Example:</a:t>
            </a:r>
            <a:endParaRPr lang="en-US" sz="2400" dirty="0"/>
          </a:p>
          <a:p>
            <a:r>
              <a:rPr lang="en-US" dirty="0"/>
              <a:t>    #define PI 3.14</a:t>
            </a:r>
          </a:p>
          <a:p>
            <a:r>
              <a:rPr lang="en-US" sz="2400" b="1" dirty="0">
                <a:solidFill>
                  <a:srgbClr val="FF0000"/>
                </a:solidFill>
              </a:rPr>
              <a:t>4. Global Declaration Section</a:t>
            </a:r>
          </a:p>
          <a:p>
            <a:r>
              <a:rPr lang="en-US" sz="2400" dirty="0"/>
              <a:t>   Contains variables declared outside all functions.</a:t>
            </a:r>
          </a:p>
          <a:p>
            <a:r>
              <a:rPr lang="en-US" sz="2400" b="1" dirty="0"/>
              <a:t> Example:</a:t>
            </a:r>
            <a:endParaRPr lang="en-US" sz="2400" dirty="0"/>
          </a:p>
          <a:p>
            <a:r>
              <a:rPr lang="en-US" dirty="0"/>
              <a:t>    int count = 10;</a:t>
            </a:r>
          </a:p>
          <a:p>
            <a:endParaRPr lang="en-US" sz="2400" b="1" dirty="0"/>
          </a:p>
        </p:txBody>
      </p:sp>
    </p:spTree>
    <p:extLst>
      <p:ext uri="{BB962C8B-B14F-4D97-AF65-F5344CB8AC3E}">
        <p14:creationId xmlns:p14="http://schemas.microsoft.com/office/powerpoint/2010/main" val="2668615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A0EA-BF2C-CA39-05B1-91D219E3DE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16138D-FB78-FD3B-92EB-D4C471671000}"/>
              </a:ext>
            </a:extLst>
          </p:cNvPr>
          <p:cNvSpPr txBox="1"/>
          <p:nvPr/>
        </p:nvSpPr>
        <p:spPr>
          <a:xfrm>
            <a:off x="1694986" y="117923"/>
            <a:ext cx="7928518"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General Form of a ‘C’ Program</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5CD879F-16E7-9A91-8467-34EEE128EE8A}"/>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D278A164-ACDE-8158-D749-C1E70DEF3849}"/>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20</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B5FB75C2-0036-0CB8-3D3C-A3DDCA237C78}"/>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7B0D48FE-A199-F59E-C53F-345A35549BC2}"/>
              </a:ext>
            </a:extLst>
          </p:cNvPr>
          <p:cNvSpPr txBox="1"/>
          <p:nvPr/>
        </p:nvSpPr>
        <p:spPr>
          <a:xfrm>
            <a:off x="80382" y="664136"/>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8233EFD1-49AF-8FC6-82DF-5990C43E255B}"/>
              </a:ext>
            </a:extLst>
          </p:cNvPr>
          <p:cNvSpPr txBox="1"/>
          <p:nvPr/>
        </p:nvSpPr>
        <p:spPr>
          <a:xfrm>
            <a:off x="89211" y="886245"/>
            <a:ext cx="11606094" cy="5447645"/>
          </a:xfrm>
          <a:prstGeom prst="rect">
            <a:avLst/>
          </a:prstGeom>
          <a:noFill/>
        </p:spPr>
        <p:txBody>
          <a:bodyPr wrap="square">
            <a:spAutoFit/>
          </a:bodyPr>
          <a:lstStyle/>
          <a:p>
            <a:r>
              <a:rPr lang="en-US" sz="2400" b="1" dirty="0">
                <a:solidFill>
                  <a:srgbClr val="FF0000"/>
                </a:solidFill>
              </a:rPr>
              <a:t>5. main() Function</a:t>
            </a:r>
          </a:p>
          <a:p>
            <a:r>
              <a:rPr lang="en-US" sz="2000" dirty="0"/>
              <a:t>    The </a:t>
            </a:r>
            <a:r>
              <a:rPr lang="en-US" sz="2000" b="1" dirty="0"/>
              <a:t>starting point of program execution</a:t>
            </a:r>
            <a:r>
              <a:rPr lang="en-US" sz="2000" dirty="0"/>
              <a:t>. It contains declarations and executable statements.</a:t>
            </a:r>
          </a:p>
          <a:p>
            <a:r>
              <a:rPr lang="en-US" sz="2000" b="1" dirty="0"/>
              <a:t> Example:</a:t>
            </a:r>
            <a:endParaRPr lang="en-US" sz="2000" dirty="0"/>
          </a:p>
          <a:p>
            <a:pPr lvl="1"/>
            <a:r>
              <a:rPr lang="en-US" sz="2000" dirty="0"/>
              <a:t>int main()</a:t>
            </a:r>
          </a:p>
          <a:p>
            <a:pPr lvl="1"/>
            <a:r>
              <a:rPr lang="en-US" sz="2000" dirty="0"/>
              <a:t>{</a:t>
            </a:r>
          </a:p>
          <a:p>
            <a:pPr lvl="1"/>
            <a:r>
              <a:rPr lang="en-US" sz="2000" dirty="0"/>
              <a:t>    int a = 10, b = 20;</a:t>
            </a:r>
          </a:p>
          <a:p>
            <a:pPr lvl="1"/>
            <a:r>
              <a:rPr lang="en-US" sz="2000" dirty="0"/>
              <a:t>    </a:t>
            </a:r>
            <a:r>
              <a:rPr lang="en-US" sz="2000" dirty="0" err="1"/>
              <a:t>printf</a:t>
            </a:r>
            <a:r>
              <a:rPr lang="en-US" sz="2000" dirty="0"/>
              <a:t>("%d", a + b);</a:t>
            </a:r>
          </a:p>
          <a:p>
            <a:pPr lvl="1"/>
            <a:r>
              <a:rPr lang="en-US" sz="2000" dirty="0"/>
              <a:t>    return 0;</a:t>
            </a:r>
          </a:p>
          <a:p>
            <a:pPr lvl="1"/>
            <a:r>
              <a:rPr lang="en-US" sz="2000" dirty="0"/>
              <a:t>}</a:t>
            </a:r>
          </a:p>
          <a:p>
            <a:endParaRPr lang="en-US" sz="2000" dirty="0"/>
          </a:p>
          <a:p>
            <a:r>
              <a:rPr lang="en-US" sz="2400" b="1" dirty="0">
                <a:solidFill>
                  <a:srgbClr val="FF0000"/>
                </a:solidFill>
              </a:rPr>
              <a:t>6. User-Defined Functions</a:t>
            </a:r>
          </a:p>
          <a:p>
            <a:r>
              <a:rPr lang="en-US" sz="2000" dirty="0"/>
              <a:t>  Functions created by the programmer to perform specific tasks.</a:t>
            </a:r>
          </a:p>
          <a:p>
            <a:r>
              <a:rPr lang="en-US" sz="2000" b="1" dirty="0"/>
              <a:t> Example:</a:t>
            </a:r>
            <a:endParaRPr lang="en-US" sz="2000" dirty="0"/>
          </a:p>
          <a:p>
            <a:pPr lvl="1"/>
            <a:r>
              <a:rPr lang="en-US" sz="2000" dirty="0"/>
              <a:t>void display()</a:t>
            </a:r>
          </a:p>
          <a:p>
            <a:pPr lvl="1"/>
            <a:r>
              <a:rPr lang="en-US" sz="2000" dirty="0"/>
              <a:t>{</a:t>
            </a:r>
          </a:p>
          <a:p>
            <a:pPr lvl="1"/>
            <a:r>
              <a:rPr lang="en-US" sz="2000" dirty="0"/>
              <a:t>    </a:t>
            </a:r>
            <a:r>
              <a:rPr lang="en-US" sz="2000" dirty="0" err="1"/>
              <a:t>printf</a:t>
            </a:r>
            <a:r>
              <a:rPr lang="en-US" sz="2000" dirty="0"/>
              <a:t>("Hello C");</a:t>
            </a:r>
          </a:p>
          <a:p>
            <a:pPr lvl="1"/>
            <a:r>
              <a:rPr lang="en-US" sz="2000" dirty="0"/>
              <a:t>}</a:t>
            </a:r>
          </a:p>
        </p:txBody>
      </p:sp>
    </p:spTree>
    <p:extLst>
      <p:ext uri="{BB962C8B-B14F-4D97-AF65-F5344CB8AC3E}">
        <p14:creationId xmlns:p14="http://schemas.microsoft.com/office/powerpoint/2010/main" val="2137359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44813-2123-AA1F-B65A-9DE2042951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0074EC-1EF4-22E2-0E3D-355660457F17}"/>
              </a:ext>
            </a:extLst>
          </p:cNvPr>
          <p:cNvSpPr txBox="1"/>
          <p:nvPr/>
        </p:nvSpPr>
        <p:spPr>
          <a:xfrm>
            <a:off x="1923393" y="90288"/>
            <a:ext cx="7600680"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Key words</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8769F5E-A5D4-7178-F1DF-80229CC533EC}"/>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ADEC956C-F432-3217-5F31-F820A7A08982}"/>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21</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1DA8CE13-46CE-E1F2-8B96-2EA8D237B085}"/>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911789F1-9BAE-7551-BECC-0A5516719F53}"/>
              </a:ext>
            </a:extLst>
          </p:cNvPr>
          <p:cNvSpPr txBox="1"/>
          <p:nvPr/>
        </p:nvSpPr>
        <p:spPr>
          <a:xfrm>
            <a:off x="80382" y="664136"/>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263CF442-DA6E-889F-E8E6-EFE9E3003F84}"/>
              </a:ext>
            </a:extLst>
          </p:cNvPr>
          <p:cNvSpPr txBox="1"/>
          <p:nvPr/>
        </p:nvSpPr>
        <p:spPr>
          <a:xfrm>
            <a:off x="96645" y="886442"/>
            <a:ext cx="12014973" cy="4770537"/>
          </a:xfrm>
          <a:prstGeom prst="rect">
            <a:avLst/>
          </a:prstGeom>
          <a:noFill/>
        </p:spPr>
        <p:txBody>
          <a:bodyPr wrap="square">
            <a:spAutoFit/>
          </a:bodyPr>
          <a:lstStyle/>
          <a:p>
            <a:pPr marL="342900" indent="-342900" algn="just">
              <a:buClr>
                <a:schemeClr val="tx1"/>
              </a:buClr>
              <a:buSzPct val="98000"/>
              <a:buFont typeface="Wingdings" panose="05000000000000000000" pitchFamily="2" charset="2"/>
              <a:buChar char="§"/>
            </a:pPr>
            <a:r>
              <a:rPr lang="en-US" sz="2000" b="1" dirty="0">
                <a:latin typeface="+mj-lt"/>
              </a:rPr>
              <a:t> </a:t>
            </a:r>
            <a:r>
              <a:rPr lang="en-US" sz="3200" b="1" dirty="0"/>
              <a:t>Keywords</a:t>
            </a:r>
            <a:r>
              <a:rPr lang="en-US" sz="3200" dirty="0"/>
              <a:t> are </a:t>
            </a:r>
            <a:r>
              <a:rPr lang="en-US" sz="3200" b="1" dirty="0">
                <a:solidFill>
                  <a:srgbClr val="FF0000"/>
                </a:solidFill>
              </a:rPr>
              <a:t>reserved words</a:t>
            </a:r>
            <a:r>
              <a:rPr lang="en-US" sz="3200" dirty="0">
                <a:solidFill>
                  <a:srgbClr val="FF0000"/>
                </a:solidFill>
              </a:rPr>
              <a:t> </a:t>
            </a:r>
            <a:r>
              <a:rPr lang="en-US" sz="3200" dirty="0"/>
              <a:t>in C that have a predefined meaning to the compiler. </a:t>
            </a:r>
          </a:p>
          <a:p>
            <a:pPr marL="342900" indent="-342900" algn="just">
              <a:buClr>
                <a:schemeClr val="tx1"/>
              </a:buClr>
              <a:buSzPct val="98000"/>
              <a:buFont typeface="Wingdings" panose="05000000000000000000" pitchFamily="2" charset="2"/>
              <a:buChar char="§"/>
            </a:pPr>
            <a:r>
              <a:rPr lang="en-US" sz="3200" dirty="0"/>
              <a:t> They </a:t>
            </a:r>
            <a:r>
              <a:rPr lang="en-US" sz="3200" b="1" dirty="0"/>
              <a:t>cannot be used as variable, function, or identifier names</a:t>
            </a:r>
            <a:r>
              <a:rPr lang="en-US" sz="3200" dirty="0"/>
              <a:t>.</a:t>
            </a:r>
          </a:p>
          <a:p>
            <a:pPr marL="342900" indent="-342900" algn="just">
              <a:spcBef>
                <a:spcPct val="0"/>
              </a:spcBef>
              <a:buClr>
                <a:schemeClr val="tx1"/>
              </a:buClr>
              <a:buSzPct val="98000"/>
              <a:buFont typeface="Wingdings" panose="05000000000000000000" pitchFamily="2" charset="2"/>
              <a:buChar char="§"/>
            </a:pPr>
            <a:r>
              <a:rPr lang="en-US" altLang="en-US" sz="3200" dirty="0">
                <a:cs typeface="Times New Roman" panose="02020603050405020304" pitchFamily="18" charset="0"/>
              </a:rPr>
              <a:t> The keywords are also called ‘Reserved words’ or ‘Pre-defined words’. </a:t>
            </a:r>
          </a:p>
          <a:p>
            <a:pPr marL="342900" indent="-342900" algn="just">
              <a:spcBef>
                <a:spcPct val="0"/>
              </a:spcBef>
              <a:buClr>
                <a:schemeClr val="tx1"/>
              </a:buClr>
              <a:buSzPct val="98000"/>
              <a:buFont typeface="Wingdings" panose="05000000000000000000" pitchFamily="2" charset="2"/>
              <a:buChar char="§"/>
            </a:pPr>
            <a:r>
              <a:rPr lang="en-US" altLang="en-US" sz="3200" dirty="0">
                <a:cs typeface="Times New Roman" panose="02020603050405020304" pitchFamily="18" charset="0"/>
              </a:rPr>
              <a:t> There are 32 Keywords in C.</a:t>
            </a:r>
          </a:p>
          <a:p>
            <a:pPr marL="342900" indent="-342900" algn="just">
              <a:spcBef>
                <a:spcPct val="0"/>
              </a:spcBef>
              <a:buClr>
                <a:schemeClr val="tx1"/>
              </a:buClr>
              <a:buSzPct val="98000"/>
              <a:buFont typeface="Wingdings" panose="05000000000000000000" pitchFamily="2" charset="2"/>
              <a:buChar char="§"/>
            </a:pPr>
            <a:r>
              <a:rPr lang="en-US" altLang="en-US" sz="3200" dirty="0">
                <a:cs typeface="Times New Roman" panose="02020603050405020304" pitchFamily="18" charset="0"/>
              </a:rPr>
              <a:t> The keywords cannot be used as variable names.</a:t>
            </a:r>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841733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2341E-827F-A1AC-63B1-B3BB289362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E59829-ED25-FAE3-EB12-3FFA64DC80A7}"/>
              </a:ext>
            </a:extLst>
          </p:cNvPr>
          <p:cNvSpPr txBox="1"/>
          <p:nvPr/>
        </p:nvSpPr>
        <p:spPr>
          <a:xfrm>
            <a:off x="1923393" y="90288"/>
            <a:ext cx="7600680"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Key words</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98DBC70-77E2-D0D7-9C95-8929DF80D413}"/>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C2EA939E-9AC3-0317-A257-06B9DFAE2C21}"/>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22</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99A8FF48-6E02-76C3-8F2F-2A84C7C85099}"/>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25B7F086-43E5-ED45-C51C-8D969DA0C11D}"/>
              </a:ext>
            </a:extLst>
          </p:cNvPr>
          <p:cNvSpPr txBox="1"/>
          <p:nvPr/>
        </p:nvSpPr>
        <p:spPr>
          <a:xfrm>
            <a:off x="80382" y="664136"/>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90D2BB4F-AA0E-D529-2A0C-EFA76D20B4C3}"/>
              </a:ext>
            </a:extLst>
          </p:cNvPr>
          <p:cNvSpPr txBox="1"/>
          <p:nvPr/>
        </p:nvSpPr>
        <p:spPr>
          <a:xfrm>
            <a:off x="96645" y="664136"/>
            <a:ext cx="11606094" cy="4401205"/>
          </a:xfrm>
          <a:prstGeom prst="rect">
            <a:avLst/>
          </a:prstGeom>
          <a:noFill/>
        </p:spPr>
        <p:txBody>
          <a:bodyPr wrap="square">
            <a:spAutoFit/>
          </a:bodyPr>
          <a:lstStyle/>
          <a:p>
            <a:pPr marL="342900" indent="-342900">
              <a:buClr>
                <a:schemeClr val="tx1"/>
              </a:buClr>
              <a:buFont typeface="Wingdings" panose="05000000000000000000" pitchFamily="2" charset="2"/>
              <a:buChar char="§"/>
            </a:pPr>
            <a:r>
              <a:rPr lang="en-US" sz="2000" b="1" dirty="0">
                <a:latin typeface="+mj-lt"/>
              </a:rPr>
              <a:t> </a:t>
            </a:r>
            <a:endParaRPr lang="en-US" sz="24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pic>
        <p:nvPicPr>
          <p:cNvPr id="13" name="Picture 12">
            <a:extLst>
              <a:ext uri="{FF2B5EF4-FFF2-40B4-BE49-F238E27FC236}">
                <a16:creationId xmlns:a16="http://schemas.microsoft.com/office/drawing/2014/main" id="{2DF84D52-5027-70DE-31B7-EB31DADE1683}"/>
              </a:ext>
            </a:extLst>
          </p:cNvPr>
          <p:cNvPicPr>
            <a:picLocks noChangeAspect="1"/>
          </p:cNvPicPr>
          <p:nvPr/>
        </p:nvPicPr>
        <p:blipFill>
          <a:blip r:embed="rId2"/>
          <a:stretch>
            <a:fillRect/>
          </a:stretch>
        </p:blipFill>
        <p:spPr>
          <a:xfrm>
            <a:off x="1292905" y="1244496"/>
            <a:ext cx="9213573" cy="4142134"/>
          </a:xfrm>
          <a:prstGeom prst="rect">
            <a:avLst/>
          </a:prstGeom>
        </p:spPr>
      </p:pic>
    </p:spTree>
    <p:extLst>
      <p:ext uri="{BB962C8B-B14F-4D97-AF65-F5344CB8AC3E}">
        <p14:creationId xmlns:p14="http://schemas.microsoft.com/office/powerpoint/2010/main" val="1780766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61C9D-1CE7-5138-31DA-B54EEE5C24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543E05-33B7-79D7-2835-C05C1498C006}"/>
              </a:ext>
            </a:extLst>
          </p:cNvPr>
          <p:cNvSpPr txBox="1"/>
          <p:nvPr/>
        </p:nvSpPr>
        <p:spPr>
          <a:xfrm>
            <a:off x="1923393" y="90288"/>
            <a:ext cx="7600680"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Control statements in ‘C’</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EC9DA980-53D2-414B-1A58-0088685EB77D}"/>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D8BC32E3-F292-04A5-DA9D-553511DE91C6}"/>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23</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04F5867A-9DD4-75F7-19A6-AEF90350BF99}"/>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0FCA2F80-3967-E1D3-181E-7FECDC33C604}"/>
              </a:ext>
            </a:extLst>
          </p:cNvPr>
          <p:cNvSpPr txBox="1"/>
          <p:nvPr/>
        </p:nvSpPr>
        <p:spPr>
          <a:xfrm>
            <a:off x="80382" y="664136"/>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6EC25A03-DACC-1E61-FA15-81F942F88096}"/>
              </a:ext>
            </a:extLst>
          </p:cNvPr>
          <p:cNvSpPr txBox="1"/>
          <p:nvPr/>
        </p:nvSpPr>
        <p:spPr>
          <a:xfrm>
            <a:off x="134783" y="1136064"/>
            <a:ext cx="11922433" cy="4708981"/>
          </a:xfrm>
          <a:prstGeom prst="rect">
            <a:avLst/>
          </a:prstGeom>
          <a:noFill/>
        </p:spPr>
        <p:txBody>
          <a:bodyPr wrap="square">
            <a:spAutoFit/>
          </a:bodyPr>
          <a:lstStyle/>
          <a:p>
            <a:pPr algn="just">
              <a:buFont typeface="Wingdings" pitchFamily="2" charset="2"/>
              <a:buChar char="§"/>
              <a:defRPr/>
            </a:pPr>
            <a:r>
              <a:rPr lang="en-US" sz="2400" dirty="0"/>
              <a:t>     Control statements in C are used to </a:t>
            </a:r>
            <a:r>
              <a:rPr lang="en-US" sz="2400" b="1" dirty="0">
                <a:solidFill>
                  <a:srgbClr val="FF0000"/>
                </a:solidFill>
              </a:rPr>
              <a:t>alter the flow of execution of statements in a program</a:t>
            </a:r>
            <a:r>
              <a:rPr lang="en-US" sz="2400" dirty="0"/>
              <a:t>.                     </a:t>
            </a:r>
          </a:p>
          <a:p>
            <a:pPr algn="just">
              <a:defRPr/>
            </a:pPr>
            <a:endParaRPr lang="en-US" sz="2400" dirty="0"/>
          </a:p>
          <a:p>
            <a:pPr algn="just">
              <a:buFont typeface="Wingdings" pitchFamily="2" charset="2"/>
              <a:buChar char="§"/>
              <a:defRPr/>
            </a:pPr>
            <a:r>
              <a:rPr lang="en-US" sz="2400" dirty="0"/>
              <a:t>    They decide whether a block of code should be </a:t>
            </a:r>
            <a:r>
              <a:rPr lang="en-US" sz="2400" b="1" dirty="0">
                <a:solidFill>
                  <a:srgbClr val="FF0000"/>
                </a:solidFill>
              </a:rPr>
              <a:t>executed, repeated, or skipped</a:t>
            </a:r>
            <a:r>
              <a:rPr lang="en-US" sz="2400" dirty="0"/>
              <a:t>.</a:t>
            </a:r>
          </a:p>
          <a:p>
            <a:pPr algn="just">
              <a:buFont typeface="Wingdings" pitchFamily="2" charset="2"/>
              <a:buChar char="§"/>
              <a:defRPr/>
            </a:pPr>
            <a:endParaRPr lang="en-US" sz="2400" dirty="0"/>
          </a:p>
          <a:p>
            <a:pPr algn="just">
              <a:buFont typeface="Wingdings" pitchFamily="2" charset="2"/>
              <a:buChar char="§"/>
              <a:defRPr/>
            </a:pPr>
            <a:r>
              <a:rPr lang="en-US" sz="2400" dirty="0"/>
              <a:t>    In C, control statements are mainly classified into three types:</a:t>
            </a:r>
          </a:p>
          <a:p>
            <a:pPr algn="just">
              <a:buFont typeface="Wingdings" pitchFamily="2" charset="2"/>
              <a:buChar char="§"/>
              <a:defRPr/>
            </a:pPr>
            <a:endParaRPr lang="en-US" sz="2400" dirty="0"/>
          </a:p>
          <a:p>
            <a:pPr algn="just">
              <a:defRPr/>
            </a:pPr>
            <a:r>
              <a:rPr lang="en-US" sz="2400" dirty="0"/>
              <a:t>            1. </a:t>
            </a:r>
            <a:r>
              <a:rPr lang="en-US" sz="2200" b="1" dirty="0"/>
              <a:t>Decision-Making Statements or Selection statements or Branching statements</a:t>
            </a:r>
          </a:p>
          <a:p>
            <a:pPr algn="just">
              <a:defRPr/>
            </a:pPr>
            <a:r>
              <a:rPr lang="en-US" sz="2200" b="1" dirty="0"/>
              <a:t>    </a:t>
            </a:r>
          </a:p>
          <a:p>
            <a:pPr algn="just">
              <a:defRPr/>
            </a:pPr>
            <a:r>
              <a:rPr lang="en-US" sz="2200" b="1" dirty="0"/>
              <a:t>               2. Looping Statements  or Iterative Statements or repetitive statements</a:t>
            </a:r>
          </a:p>
          <a:p>
            <a:pPr algn="just">
              <a:defRPr/>
            </a:pPr>
            <a:endParaRPr lang="en-US" sz="2200" b="1" dirty="0"/>
          </a:p>
          <a:p>
            <a:pPr algn="just">
              <a:defRPr/>
            </a:pPr>
            <a:r>
              <a:rPr lang="en-US" sz="2200" b="1" dirty="0"/>
              <a:t>               3. Transfer Statements or Jump Statements</a:t>
            </a:r>
            <a:endParaRPr lang="en-US" sz="2200" dirty="0"/>
          </a:p>
          <a:p>
            <a:pPr>
              <a:defRPr/>
            </a:pPr>
            <a:endParaRPr lang="en-US" sz="2000" dirty="0"/>
          </a:p>
        </p:txBody>
      </p:sp>
    </p:spTree>
    <p:extLst>
      <p:ext uri="{BB962C8B-B14F-4D97-AF65-F5344CB8AC3E}">
        <p14:creationId xmlns:p14="http://schemas.microsoft.com/office/powerpoint/2010/main" val="2348688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96D3-CCCC-8EF9-80A8-05DD93C170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99089D-EB46-5943-6A2D-AE0400263F13}"/>
              </a:ext>
            </a:extLst>
          </p:cNvPr>
          <p:cNvSpPr txBox="1"/>
          <p:nvPr/>
        </p:nvSpPr>
        <p:spPr>
          <a:xfrm>
            <a:off x="1595555" y="89424"/>
            <a:ext cx="7928518"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Control Statements in ‘C’</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E00046B-52D9-F7CD-4984-90EE9AC8DBAF}"/>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F53C77C7-03CB-FFD6-BA93-99F610B9B030}"/>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24</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6292277C-B113-353E-1F7D-2C4AAF16A659}"/>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676E4158-4382-C38C-94F3-A54894ACEE56}"/>
              </a:ext>
            </a:extLst>
          </p:cNvPr>
          <p:cNvSpPr txBox="1"/>
          <p:nvPr/>
        </p:nvSpPr>
        <p:spPr>
          <a:xfrm>
            <a:off x="80382" y="664136"/>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DB1BB6A0-1A54-EEB9-FBA8-78B64E9F6FE4}"/>
              </a:ext>
            </a:extLst>
          </p:cNvPr>
          <p:cNvSpPr txBox="1"/>
          <p:nvPr/>
        </p:nvSpPr>
        <p:spPr>
          <a:xfrm>
            <a:off x="96645" y="664136"/>
            <a:ext cx="11606094" cy="4708981"/>
          </a:xfrm>
          <a:prstGeom prst="rect">
            <a:avLst/>
          </a:prstGeom>
          <a:noFill/>
        </p:spPr>
        <p:txBody>
          <a:bodyPr wrap="square">
            <a:spAutoFit/>
          </a:bodyPr>
          <a:lstStyle/>
          <a:p>
            <a:pPr>
              <a:buClr>
                <a:schemeClr val="tx1"/>
              </a:buClr>
            </a:pPr>
            <a:r>
              <a:rPr lang="en-US" sz="2000" b="1" dirty="0">
                <a:latin typeface="+mj-lt"/>
              </a:rPr>
              <a:t> </a:t>
            </a:r>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pic>
        <p:nvPicPr>
          <p:cNvPr id="9" name="Picture 8">
            <a:extLst>
              <a:ext uri="{FF2B5EF4-FFF2-40B4-BE49-F238E27FC236}">
                <a16:creationId xmlns:a16="http://schemas.microsoft.com/office/drawing/2014/main" id="{5470B2E5-6A23-60E3-7547-0F9874BBF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513037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653EF-D7AB-FEE8-FD42-E80588AF6C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7EB7CD-1A70-BC06-D907-D739C1E37B7F}"/>
              </a:ext>
            </a:extLst>
          </p:cNvPr>
          <p:cNvSpPr txBox="1"/>
          <p:nvPr/>
        </p:nvSpPr>
        <p:spPr>
          <a:xfrm>
            <a:off x="1694986" y="117923"/>
            <a:ext cx="7928518" cy="646331"/>
          </a:xfrm>
          <a:prstGeom prst="rect">
            <a:avLst/>
          </a:prstGeom>
          <a:noFill/>
        </p:spPr>
        <p:txBody>
          <a:bodyPr wrap="square">
            <a:spAutoFit/>
          </a:bodyPr>
          <a:lstStyle/>
          <a:p>
            <a:pPr algn="ctr"/>
            <a:r>
              <a:rPr lang="en-US" sz="36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Conditional Statements</a:t>
            </a:r>
          </a:p>
        </p:txBody>
      </p:sp>
      <p:sp>
        <p:nvSpPr>
          <p:cNvPr id="5" name="Footer Placeholder 4">
            <a:extLst>
              <a:ext uri="{FF2B5EF4-FFF2-40B4-BE49-F238E27FC236}">
                <a16:creationId xmlns:a16="http://schemas.microsoft.com/office/drawing/2014/main" id="{06AD044C-C199-9DBA-5B0D-4C27270525FA}"/>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FC7F85CC-7A88-F89F-9BB7-141ECE07D056}"/>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25</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1C052277-9F2C-3F91-85E6-7CDFE99E631B}"/>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89647344-2571-E161-04AD-8B33D7866BC7}"/>
              </a:ext>
            </a:extLst>
          </p:cNvPr>
          <p:cNvSpPr txBox="1"/>
          <p:nvPr/>
        </p:nvSpPr>
        <p:spPr>
          <a:xfrm>
            <a:off x="80382" y="664136"/>
            <a:ext cx="12031236" cy="461665"/>
          </a:xfrm>
          <a:prstGeom prst="rect">
            <a:avLst/>
          </a:prstGeom>
          <a:noFill/>
        </p:spPr>
        <p:txBody>
          <a:bodyPr wrap="square">
            <a:spAutoFit/>
          </a:bodyPr>
          <a:lstStyle/>
          <a:p>
            <a:pPr lvl="2"/>
            <a:r>
              <a:rPr lang="en-US" sz="2400" dirty="0"/>
              <a:t> </a:t>
            </a:r>
          </a:p>
        </p:txBody>
      </p:sp>
      <p:sp>
        <p:nvSpPr>
          <p:cNvPr id="8" name="TextBox 7">
            <a:extLst>
              <a:ext uri="{FF2B5EF4-FFF2-40B4-BE49-F238E27FC236}">
                <a16:creationId xmlns:a16="http://schemas.microsoft.com/office/drawing/2014/main" id="{EB96202E-428C-8D91-7273-4C22077E23D4}"/>
              </a:ext>
            </a:extLst>
          </p:cNvPr>
          <p:cNvSpPr txBox="1"/>
          <p:nvPr/>
        </p:nvSpPr>
        <p:spPr>
          <a:xfrm>
            <a:off x="89211" y="886245"/>
            <a:ext cx="11931804" cy="5262979"/>
          </a:xfrm>
          <a:prstGeom prst="rect">
            <a:avLst/>
          </a:prstGeom>
          <a:noFill/>
        </p:spPr>
        <p:txBody>
          <a:bodyPr wrap="square">
            <a:spAutoFit/>
          </a:bodyPr>
          <a:lstStyle/>
          <a:p>
            <a:r>
              <a:rPr lang="en-US" sz="2400" dirty="0"/>
              <a:t>•  </a:t>
            </a:r>
            <a:r>
              <a:rPr lang="en-US" sz="2400" b="1" dirty="0"/>
              <a:t>Conditional/Decision-Making Statements</a:t>
            </a:r>
            <a:r>
              <a:rPr lang="en-US" sz="2400" dirty="0"/>
              <a:t> are statements used to evaluate a condition and control the execution of a block of code based on whether the condition is </a:t>
            </a:r>
            <a:r>
              <a:rPr lang="en-US" sz="2400" b="1" dirty="0"/>
              <a:t>True or False</a:t>
            </a:r>
            <a:r>
              <a:rPr lang="en-US" sz="2400" dirty="0"/>
              <a:t>.</a:t>
            </a:r>
          </a:p>
          <a:p>
            <a:pPr algn="just" fontAlgn="auto">
              <a:spcBef>
                <a:spcPts val="0"/>
              </a:spcBef>
              <a:spcAft>
                <a:spcPts val="0"/>
              </a:spcAft>
              <a:defRPr/>
            </a:pPr>
            <a:endParaRPr lang="en-IN" sz="2400" dirty="0">
              <a:cs typeface="Times New Roman" panose="02020603050405020304" pitchFamily="18" charset="0"/>
            </a:endParaRPr>
          </a:p>
          <a:p>
            <a:pPr marL="342900" indent="-342900" algn="just" fontAlgn="auto">
              <a:spcBef>
                <a:spcPts val="0"/>
              </a:spcBef>
              <a:spcAft>
                <a:spcPts val="0"/>
              </a:spcAft>
              <a:buFont typeface="Arial" panose="020B0604020202020204" pitchFamily="34" charset="0"/>
              <a:buChar char="•"/>
              <a:defRPr/>
            </a:pPr>
            <a:r>
              <a:rPr lang="en-IN" sz="2400" dirty="0">
                <a:cs typeface="Times New Roman" panose="02020603050405020304" pitchFamily="18" charset="0"/>
              </a:rPr>
              <a:t>In the c programming language, there are two decision-making statements they are as follows.</a:t>
            </a:r>
          </a:p>
          <a:p>
            <a:pPr marL="342900" indent="-342900" algn="just" fontAlgn="auto">
              <a:spcBef>
                <a:spcPts val="0"/>
              </a:spcBef>
              <a:spcAft>
                <a:spcPts val="0"/>
              </a:spcAft>
              <a:buFont typeface="Arial" panose="020B0604020202020204" pitchFamily="34" charset="0"/>
              <a:buChar char="•"/>
              <a:defRPr/>
            </a:pPr>
            <a:endParaRPr lang="en-IN" sz="2400" dirty="0">
              <a:cs typeface="Times New Roman" panose="02020603050405020304" pitchFamily="18" charset="0"/>
            </a:endParaRPr>
          </a:p>
          <a:p>
            <a:pPr marL="1371600" lvl="2" indent="-457200" algn="just">
              <a:buFont typeface="+mj-lt"/>
              <a:buAutoNum type="arabicPeriod"/>
              <a:defRPr/>
            </a:pPr>
            <a:r>
              <a:rPr lang="en-IN" sz="2400" dirty="0">
                <a:cs typeface="Times New Roman" panose="02020603050405020304" pitchFamily="18" charset="0"/>
              </a:rPr>
              <a:t>if statement</a:t>
            </a:r>
          </a:p>
          <a:p>
            <a:pPr marL="1371600" lvl="2" indent="-457200" algn="just">
              <a:buFont typeface="+mj-lt"/>
              <a:buAutoNum type="arabicPeriod"/>
              <a:defRPr/>
            </a:pPr>
            <a:r>
              <a:rPr lang="en-IN" sz="2400" dirty="0">
                <a:cs typeface="Times New Roman" panose="02020603050405020304" pitchFamily="18" charset="0"/>
              </a:rPr>
              <a:t>switch statement</a:t>
            </a:r>
          </a:p>
          <a:p>
            <a:pPr marL="457200" indent="-457200" algn="just" fontAlgn="auto">
              <a:spcBef>
                <a:spcPts val="0"/>
              </a:spcBef>
              <a:spcAft>
                <a:spcPts val="0"/>
              </a:spcAft>
              <a:buFont typeface="+mj-lt"/>
              <a:buAutoNum type="arabicPeriod"/>
              <a:defRPr/>
            </a:pPr>
            <a:endParaRPr lang="en-IN" sz="2400" dirty="0">
              <a:cs typeface="Times New Roman" panose="02020603050405020304" pitchFamily="18" charset="0"/>
            </a:endParaRPr>
          </a:p>
          <a:p>
            <a:pPr marL="457200" indent="-457200" algn="just" fontAlgn="auto">
              <a:spcBef>
                <a:spcPts val="0"/>
              </a:spcBef>
              <a:spcAft>
                <a:spcPts val="0"/>
              </a:spcAft>
              <a:buFont typeface="+mj-lt"/>
              <a:buAutoNum type="arabicPeriod"/>
              <a:defRPr/>
            </a:pPr>
            <a:endParaRPr lang="en-IN" sz="2400" dirty="0">
              <a:cs typeface="Times New Roman" panose="02020603050405020304" pitchFamily="18" charset="0"/>
            </a:endParaRPr>
          </a:p>
          <a:p>
            <a:pPr marL="457200" indent="-457200" algn="just" fontAlgn="auto">
              <a:spcBef>
                <a:spcPts val="0"/>
              </a:spcBef>
              <a:spcAft>
                <a:spcPts val="0"/>
              </a:spcAft>
              <a:buFont typeface="+mj-lt"/>
              <a:buAutoNum type="arabicPeriod"/>
              <a:defRPr/>
            </a:pPr>
            <a:endParaRPr lang="en-IN" sz="2400" dirty="0">
              <a:latin typeface="+mj-lt"/>
              <a:cs typeface="Times New Roman" panose="02020603050405020304" pitchFamily="18" charset="0"/>
            </a:endParaRPr>
          </a:p>
          <a:p>
            <a:pPr marL="457200" indent="-457200" algn="just" fontAlgn="auto">
              <a:spcBef>
                <a:spcPts val="0"/>
              </a:spcBef>
              <a:spcAft>
                <a:spcPts val="0"/>
              </a:spcAft>
              <a:buFont typeface="+mj-lt"/>
              <a:buAutoNum type="arabicPeriod"/>
              <a:defRPr/>
            </a:pPr>
            <a:endParaRPr lang="en-IN" sz="2400" dirty="0">
              <a:latin typeface="+mj-lt"/>
              <a:cs typeface="Times New Roman" panose="02020603050405020304" pitchFamily="18" charset="0"/>
            </a:endParaRPr>
          </a:p>
          <a:p>
            <a:pPr marL="457200" indent="-457200" algn="just" fontAlgn="auto">
              <a:spcBef>
                <a:spcPts val="0"/>
              </a:spcBef>
              <a:spcAft>
                <a:spcPts val="0"/>
              </a:spcAft>
              <a:buFont typeface="+mj-lt"/>
              <a:buAutoNum type="arabicPeriod"/>
              <a:defRPr/>
            </a:pPr>
            <a:endParaRPr lang="en-US" sz="2400" dirty="0">
              <a:latin typeface="+mj-lt"/>
            </a:endParaRPr>
          </a:p>
        </p:txBody>
      </p:sp>
    </p:spTree>
    <p:extLst>
      <p:ext uri="{BB962C8B-B14F-4D97-AF65-F5344CB8AC3E}">
        <p14:creationId xmlns:p14="http://schemas.microsoft.com/office/powerpoint/2010/main" val="657903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9F5D0-3547-98A7-2AE3-7771EE28706A}"/>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70826F2-C375-0E02-F9A5-B546CBB5CDCA}"/>
              </a:ext>
            </a:extLst>
          </p:cNvPr>
          <p:cNvSpPr>
            <a:spLocks noGrp="1"/>
          </p:cNvSpPr>
          <p:nvPr>
            <p:ph type="ftr" sz="quarter" idx="11"/>
          </p:nvPr>
        </p:nvSpPr>
        <p:spPr>
          <a:xfrm>
            <a:off x="4382430" y="6341496"/>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6" name="Slide Number Placeholder 5">
            <a:extLst>
              <a:ext uri="{FF2B5EF4-FFF2-40B4-BE49-F238E27FC236}">
                <a16:creationId xmlns:a16="http://schemas.microsoft.com/office/drawing/2014/main" id="{319D3E93-39A1-CA6E-F649-474AFB2BE01F}"/>
              </a:ext>
            </a:extLst>
          </p:cNvPr>
          <p:cNvSpPr>
            <a:spLocks noGrp="1"/>
          </p:cNvSpPr>
          <p:nvPr>
            <p:ph type="sldNum" sz="quarter" idx="12"/>
          </p:nvPr>
        </p:nvSpPr>
        <p:spPr>
          <a:xfrm>
            <a:off x="8922835" y="6341498"/>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26</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1F08C864-8A29-0F02-6DAB-7D70D8C1F6A2}"/>
              </a:ext>
            </a:extLst>
          </p:cNvPr>
          <p:cNvSpPr txBox="1">
            <a:spLocks/>
          </p:cNvSpPr>
          <p:nvPr/>
        </p:nvSpPr>
        <p:spPr>
          <a:xfrm>
            <a:off x="89211" y="6341495"/>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
        <p:nvSpPr>
          <p:cNvPr id="4" name="TextBox 3">
            <a:extLst>
              <a:ext uri="{FF2B5EF4-FFF2-40B4-BE49-F238E27FC236}">
                <a16:creationId xmlns:a16="http://schemas.microsoft.com/office/drawing/2014/main" id="{EFC98670-CA3E-BCDB-5C2C-4B667CA09572}"/>
              </a:ext>
            </a:extLst>
          </p:cNvPr>
          <p:cNvSpPr txBox="1"/>
          <p:nvPr/>
        </p:nvSpPr>
        <p:spPr>
          <a:xfrm>
            <a:off x="80382" y="664136"/>
            <a:ext cx="12031236" cy="461665"/>
          </a:xfrm>
          <a:prstGeom prst="rect">
            <a:avLst/>
          </a:prstGeom>
          <a:noFill/>
        </p:spPr>
        <p:txBody>
          <a:bodyPr wrap="square">
            <a:spAutoFit/>
          </a:bodyPr>
          <a:lstStyle/>
          <a:p>
            <a:pPr lvl="2"/>
            <a:r>
              <a:rPr lang="en-US" sz="2400" dirty="0"/>
              <a:t> </a:t>
            </a:r>
          </a:p>
        </p:txBody>
      </p:sp>
      <p:pic>
        <p:nvPicPr>
          <p:cNvPr id="10" name="Picture 9">
            <a:extLst>
              <a:ext uri="{FF2B5EF4-FFF2-40B4-BE49-F238E27FC236}">
                <a16:creationId xmlns:a16="http://schemas.microsoft.com/office/drawing/2014/main" id="{41D00A81-BD7F-8C33-6F98-508E7EB8DD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903" y="151377"/>
            <a:ext cx="11372193" cy="6116059"/>
          </a:xfrm>
          <a:prstGeom prst="rect">
            <a:avLst/>
          </a:prstGeom>
        </p:spPr>
      </p:pic>
    </p:spTree>
    <p:extLst>
      <p:ext uri="{BB962C8B-B14F-4D97-AF65-F5344CB8AC3E}">
        <p14:creationId xmlns:p14="http://schemas.microsoft.com/office/powerpoint/2010/main" val="3073185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ustomShape 3">
            <a:extLst>
              <a:ext uri="{FF2B5EF4-FFF2-40B4-BE49-F238E27FC236}">
                <a16:creationId xmlns:a16="http://schemas.microsoft.com/office/drawing/2014/main" id="{5FDFED79-FE50-F683-D878-E1F4D81C8893}"/>
              </a:ext>
            </a:extLst>
          </p:cNvPr>
          <p:cNvSpPr>
            <a:spLocks noChangeArrowheads="1"/>
          </p:cNvSpPr>
          <p:nvPr/>
        </p:nvSpPr>
        <p:spPr bwMode="auto">
          <a:xfrm>
            <a:off x="705287" y="215216"/>
            <a:ext cx="10362105" cy="542650"/>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if statement in C</a:t>
            </a:r>
            <a:endParaRPr lang="en-US" altLang="en-US" sz="4000" b="1" dirty="0">
              <a:solidFill>
                <a:srgbClr val="FF000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5C54B6A-5121-0237-BCD8-B09DD0659CC2}"/>
              </a:ext>
            </a:extLst>
          </p:cNvPr>
          <p:cNvSpPr/>
          <p:nvPr/>
        </p:nvSpPr>
        <p:spPr>
          <a:xfrm>
            <a:off x="609600" y="1060538"/>
            <a:ext cx="10552386" cy="4457952"/>
          </a:xfrm>
          <a:prstGeom prst="rect">
            <a:avLst/>
          </a:prstGeom>
        </p:spPr>
        <p:txBody>
          <a:bodyPr wrap="square">
            <a:spAutoFit/>
          </a:bodyPr>
          <a:lstStyle/>
          <a:p>
            <a:pPr marL="342900" indent="-342900">
              <a:buFont typeface="Wingdings" panose="05000000000000000000" pitchFamily="2" charset="2"/>
              <a:buChar char="§"/>
            </a:pPr>
            <a:r>
              <a:rPr lang="en-US" sz="2400" dirty="0">
                <a:latin typeface="+mj-lt"/>
              </a:rPr>
              <a:t>The </a:t>
            </a:r>
            <a:r>
              <a:rPr lang="en-US" dirty="0">
                <a:latin typeface="+mj-lt"/>
              </a:rPr>
              <a:t>if</a:t>
            </a:r>
            <a:r>
              <a:rPr lang="en-US" sz="2400" dirty="0">
                <a:latin typeface="+mj-lt"/>
              </a:rPr>
              <a:t> statement is used to </a:t>
            </a:r>
            <a:r>
              <a:rPr lang="en-US" sz="2400" b="1" dirty="0">
                <a:latin typeface="+mj-lt"/>
              </a:rPr>
              <a:t>make a decision based on a condition</a:t>
            </a:r>
            <a:r>
              <a:rPr lang="en-US" sz="2400" dirty="0">
                <a:latin typeface="+mj-lt"/>
              </a:rPr>
              <a:t>. </a:t>
            </a:r>
          </a:p>
          <a:p>
            <a:pPr marL="342900" indent="-342900">
              <a:buFont typeface="Wingdings" panose="05000000000000000000" pitchFamily="2" charset="2"/>
              <a:buChar char="§"/>
            </a:pPr>
            <a:endParaRPr lang="en-US" sz="2400" dirty="0">
              <a:latin typeface="+mj-lt"/>
            </a:endParaRPr>
          </a:p>
          <a:p>
            <a:pPr marL="342900" indent="-342900">
              <a:buFont typeface="Wingdings" panose="05000000000000000000" pitchFamily="2" charset="2"/>
              <a:buChar char="§"/>
            </a:pPr>
            <a:r>
              <a:rPr lang="en-US" sz="2400" dirty="0">
                <a:latin typeface="+mj-lt"/>
              </a:rPr>
              <a:t>It executes a block of statements </a:t>
            </a:r>
            <a:r>
              <a:rPr lang="en-US" sz="2400" b="1" dirty="0">
                <a:latin typeface="+mj-lt"/>
              </a:rPr>
              <a:t>only when the condition is true</a:t>
            </a:r>
            <a:r>
              <a:rPr lang="en-US" sz="2400" dirty="0">
                <a:latin typeface="+mj-lt"/>
              </a:rPr>
              <a:t>.</a:t>
            </a:r>
          </a:p>
          <a:p>
            <a:pPr marL="342900" indent="-342900" algn="just">
              <a:lnSpc>
                <a:spcPct val="150000"/>
              </a:lnSpc>
              <a:buFont typeface="Wingdings" panose="05000000000000000000" pitchFamily="2" charset="2"/>
              <a:buChar char="§"/>
              <a:defRPr/>
            </a:pPr>
            <a:endParaRPr lang="en-IN" sz="2400" dirty="0">
              <a:latin typeface="+mj-lt"/>
              <a:cs typeface="Times New Roman" panose="02020603050405020304" pitchFamily="18" charset="0"/>
            </a:endParaRPr>
          </a:p>
          <a:p>
            <a:pPr algn="just">
              <a:lnSpc>
                <a:spcPct val="150000"/>
              </a:lnSpc>
              <a:defRPr/>
            </a:pPr>
            <a:r>
              <a:rPr lang="en-IN" sz="2400" dirty="0">
                <a:latin typeface="+mj-lt"/>
                <a:cs typeface="Times New Roman" panose="02020603050405020304" pitchFamily="18" charset="0"/>
              </a:rPr>
              <a:t>In c, if statement is classified into four types as follows...</a:t>
            </a:r>
          </a:p>
          <a:p>
            <a:pPr marL="1257300" lvl="2" indent="-342900" algn="just">
              <a:lnSpc>
                <a:spcPct val="150000"/>
              </a:lnSpc>
              <a:buFont typeface="Arial" panose="020B0604020202020204" pitchFamily="34" charset="0"/>
              <a:buChar char="•"/>
              <a:defRPr/>
            </a:pPr>
            <a:r>
              <a:rPr lang="en-IN" sz="2400" dirty="0">
                <a:latin typeface="+mj-lt"/>
                <a:cs typeface="Times New Roman" panose="02020603050405020304" pitchFamily="18" charset="0"/>
              </a:rPr>
              <a:t>Simple if statement</a:t>
            </a:r>
          </a:p>
          <a:p>
            <a:pPr marL="1257300" lvl="2" indent="-342900" algn="just">
              <a:lnSpc>
                <a:spcPct val="150000"/>
              </a:lnSpc>
              <a:buFont typeface="Arial" panose="020B0604020202020204" pitchFamily="34" charset="0"/>
              <a:buChar char="•"/>
              <a:defRPr/>
            </a:pPr>
            <a:r>
              <a:rPr lang="en-IN" sz="2400" dirty="0">
                <a:latin typeface="+mj-lt"/>
                <a:cs typeface="Times New Roman" panose="02020603050405020304" pitchFamily="18" charset="0"/>
              </a:rPr>
              <a:t>if-else statement</a:t>
            </a:r>
          </a:p>
          <a:p>
            <a:pPr marL="1257300" lvl="2" indent="-342900" algn="just">
              <a:lnSpc>
                <a:spcPct val="150000"/>
              </a:lnSpc>
              <a:buFont typeface="Arial" panose="020B0604020202020204" pitchFamily="34" charset="0"/>
              <a:buChar char="•"/>
              <a:defRPr/>
            </a:pPr>
            <a:r>
              <a:rPr lang="en-IN" sz="2400" dirty="0">
                <a:latin typeface="+mj-lt"/>
                <a:cs typeface="Times New Roman" panose="02020603050405020304" pitchFamily="18" charset="0"/>
              </a:rPr>
              <a:t>Nested if statement</a:t>
            </a:r>
          </a:p>
          <a:p>
            <a:pPr marL="1257300" lvl="2" indent="-342900" algn="just">
              <a:lnSpc>
                <a:spcPct val="150000"/>
              </a:lnSpc>
              <a:buFont typeface="Arial" panose="020B0604020202020204" pitchFamily="34" charset="0"/>
              <a:buChar char="•"/>
              <a:defRPr/>
            </a:pPr>
            <a:r>
              <a:rPr lang="en-IN" sz="2400" dirty="0">
                <a:latin typeface="+mj-lt"/>
                <a:cs typeface="Times New Roman" panose="02020603050405020304" pitchFamily="18" charset="0"/>
              </a:rPr>
              <a:t>if-else-if statement (if-else ladder)</a:t>
            </a:r>
          </a:p>
        </p:txBody>
      </p:sp>
      <p:sp>
        <p:nvSpPr>
          <p:cNvPr id="2" name="Footer Placeholder 4">
            <a:extLst>
              <a:ext uri="{FF2B5EF4-FFF2-40B4-BE49-F238E27FC236}">
                <a16:creationId xmlns:a16="http://schemas.microsoft.com/office/drawing/2014/main" id="{278458E7-DC07-EE03-B525-23C85A848162}"/>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D49E765E-FC5D-77CC-6AAF-93529CC046DD}"/>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27</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D8BB3C7E-C6A7-4553-C5F1-65A42B8DC4D0}"/>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96D7A-3967-2DA4-136D-ED85F59C20BC}"/>
            </a:ext>
          </a:extLst>
        </p:cNvPr>
        <p:cNvGrpSpPr/>
        <p:nvPr/>
      </p:nvGrpSpPr>
      <p:grpSpPr>
        <a:xfrm>
          <a:off x="0" y="0"/>
          <a:ext cx="0" cy="0"/>
          <a:chOff x="0" y="0"/>
          <a:chExt cx="0" cy="0"/>
        </a:xfrm>
      </p:grpSpPr>
      <p:sp>
        <p:nvSpPr>
          <p:cNvPr id="2" name="Footer Placeholder 4">
            <a:extLst>
              <a:ext uri="{FF2B5EF4-FFF2-40B4-BE49-F238E27FC236}">
                <a16:creationId xmlns:a16="http://schemas.microsoft.com/office/drawing/2014/main" id="{0DB85123-FDA8-3383-5E64-89C06510CB73}"/>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D93DEE27-0AA0-F21C-2282-B0E9194C15D6}"/>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28</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47220F2A-15F9-6652-1DA2-23C8491AFFCF}"/>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7" name="Picture 6">
            <a:extLst>
              <a:ext uri="{FF2B5EF4-FFF2-40B4-BE49-F238E27FC236}">
                <a16:creationId xmlns:a16="http://schemas.microsoft.com/office/drawing/2014/main" id="{7D6FC7C4-A0B0-6189-56DD-18D7C075A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5572" y="420413"/>
            <a:ext cx="6057263" cy="5418508"/>
          </a:xfrm>
          <a:prstGeom prst="rect">
            <a:avLst/>
          </a:prstGeom>
        </p:spPr>
      </p:pic>
    </p:spTree>
    <p:extLst>
      <p:ext uri="{BB962C8B-B14F-4D97-AF65-F5344CB8AC3E}">
        <p14:creationId xmlns:p14="http://schemas.microsoft.com/office/powerpoint/2010/main" val="531055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ustomShape 3">
            <a:extLst>
              <a:ext uri="{FF2B5EF4-FFF2-40B4-BE49-F238E27FC236}">
                <a16:creationId xmlns:a16="http://schemas.microsoft.com/office/drawing/2014/main" id="{1F7F332D-C883-E535-08C0-75CDC031A148}"/>
              </a:ext>
            </a:extLst>
          </p:cNvPr>
          <p:cNvSpPr>
            <a:spLocks noChangeArrowheads="1"/>
          </p:cNvSpPr>
          <p:nvPr/>
        </p:nvSpPr>
        <p:spPr bwMode="auto">
          <a:xfrm>
            <a:off x="683172" y="141206"/>
            <a:ext cx="10982863" cy="543197"/>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Simple if statement</a:t>
            </a:r>
          </a:p>
        </p:txBody>
      </p:sp>
      <p:sp>
        <p:nvSpPr>
          <p:cNvPr id="6147" name="Rectangle 3">
            <a:extLst>
              <a:ext uri="{FF2B5EF4-FFF2-40B4-BE49-F238E27FC236}">
                <a16:creationId xmlns:a16="http://schemas.microsoft.com/office/drawing/2014/main" id="{868C7D3F-85FE-4456-4951-A8974412BA8E}"/>
              </a:ext>
            </a:extLst>
          </p:cNvPr>
          <p:cNvSpPr>
            <a:spLocks noChangeArrowheads="1"/>
          </p:cNvSpPr>
          <p:nvPr/>
        </p:nvSpPr>
        <p:spPr bwMode="auto">
          <a:xfrm>
            <a:off x="776013" y="1507634"/>
            <a:ext cx="4321021" cy="2677656"/>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b="1" dirty="0">
                <a:latin typeface="Times New Roman" panose="02020603050405020304" pitchFamily="18" charset="0"/>
                <a:cs typeface="Times New Roman" panose="02020603050405020304" pitchFamily="18" charset="0"/>
              </a:rPr>
              <a:t>Syntax:</a:t>
            </a:r>
          </a:p>
          <a:p>
            <a:pPr algn="just"/>
            <a:endParaRPr lang="en-IN" altLang="en-US" sz="2400" b="1" dirty="0">
              <a:latin typeface="Times New Roman" panose="02020603050405020304" pitchFamily="18" charset="0"/>
              <a:cs typeface="Times New Roman" panose="02020603050405020304" pitchFamily="18" charset="0"/>
            </a:endParaRPr>
          </a:p>
          <a:p>
            <a:pPr algn="just"/>
            <a:r>
              <a:rPr lang="en-IN" altLang="en-US" sz="2400" dirty="0">
                <a:latin typeface="Times New Roman" panose="02020603050405020304" pitchFamily="18" charset="0"/>
                <a:cs typeface="Times New Roman" panose="02020603050405020304" pitchFamily="18" charset="0"/>
              </a:rPr>
              <a:t>if(condition) </a:t>
            </a:r>
          </a:p>
          <a:p>
            <a:pPr algn="just"/>
            <a:r>
              <a:rPr lang="en-IN" altLang="en-US" sz="2400" dirty="0">
                <a:latin typeface="Times New Roman" panose="02020603050405020304" pitchFamily="18" charset="0"/>
                <a:cs typeface="Times New Roman" panose="02020603050405020304" pitchFamily="18" charset="0"/>
              </a:rPr>
              <a:t>{</a:t>
            </a:r>
          </a:p>
          <a:p>
            <a:pPr algn="just"/>
            <a:r>
              <a:rPr lang="en-IN" altLang="en-US" sz="2400" dirty="0">
                <a:latin typeface="Times New Roman" panose="02020603050405020304" pitchFamily="18" charset="0"/>
                <a:cs typeface="Times New Roman" panose="02020603050405020304" pitchFamily="18" charset="0"/>
              </a:rPr>
              <a:t>   // Statements to execute if</a:t>
            </a:r>
          </a:p>
          <a:p>
            <a:pPr algn="just"/>
            <a:r>
              <a:rPr lang="en-IN" altLang="en-US" sz="2400" dirty="0">
                <a:latin typeface="Times New Roman" panose="02020603050405020304" pitchFamily="18" charset="0"/>
                <a:cs typeface="Times New Roman" panose="02020603050405020304" pitchFamily="18" charset="0"/>
              </a:rPr>
              <a:t>   // condition is true</a:t>
            </a:r>
          </a:p>
          <a:p>
            <a:pPr algn="just"/>
            <a:r>
              <a:rPr lang="en-IN" altLang="en-US" sz="2400" dirty="0">
                <a:latin typeface="Times New Roman" panose="02020603050405020304" pitchFamily="18" charset="0"/>
                <a:cs typeface="Times New Roman" panose="02020603050405020304" pitchFamily="18" charset="0"/>
              </a:rPr>
              <a:t>}</a:t>
            </a:r>
          </a:p>
        </p:txBody>
      </p:sp>
      <p:sp>
        <p:nvSpPr>
          <p:cNvPr id="2" name="Footer Placeholder 4">
            <a:extLst>
              <a:ext uri="{FF2B5EF4-FFF2-40B4-BE49-F238E27FC236}">
                <a16:creationId xmlns:a16="http://schemas.microsoft.com/office/drawing/2014/main" id="{E37285CF-65C0-1031-6E99-C7D166BA0739}"/>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13273AE9-92D4-8AA1-2B28-2929EABED75A}"/>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29</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1C3A5468-137E-E8E0-F0FC-FB896CF2B0A6}"/>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6" name="Picture 5">
            <a:extLst>
              <a:ext uri="{FF2B5EF4-FFF2-40B4-BE49-F238E27FC236}">
                <a16:creationId xmlns:a16="http://schemas.microsoft.com/office/drawing/2014/main" id="{E1980BF3-DB70-F1EB-E181-4132338F5B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4442" y="957442"/>
            <a:ext cx="4647531" cy="468984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ustomShape 3">
            <a:extLst>
              <a:ext uri="{FF2B5EF4-FFF2-40B4-BE49-F238E27FC236}">
                <a16:creationId xmlns:a16="http://schemas.microsoft.com/office/drawing/2014/main" id="{F60966BD-745A-3544-A16A-0DC402A4A8DD}"/>
              </a:ext>
            </a:extLst>
          </p:cNvPr>
          <p:cNvSpPr>
            <a:spLocks noChangeArrowheads="1"/>
          </p:cNvSpPr>
          <p:nvPr/>
        </p:nvSpPr>
        <p:spPr bwMode="auto">
          <a:xfrm>
            <a:off x="662152" y="117923"/>
            <a:ext cx="10304562" cy="617801"/>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Simple if statement- Example</a:t>
            </a:r>
          </a:p>
        </p:txBody>
      </p:sp>
      <p:sp>
        <p:nvSpPr>
          <p:cNvPr id="7171" name="Rectangle 3">
            <a:extLst>
              <a:ext uri="{FF2B5EF4-FFF2-40B4-BE49-F238E27FC236}">
                <a16:creationId xmlns:a16="http://schemas.microsoft.com/office/drawing/2014/main" id="{8D09970C-D3A8-840B-5A20-AB9F147834E8}"/>
              </a:ext>
            </a:extLst>
          </p:cNvPr>
          <p:cNvSpPr>
            <a:spLocks noChangeArrowheads="1"/>
          </p:cNvSpPr>
          <p:nvPr/>
        </p:nvSpPr>
        <p:spPr bwMode="auto">
          <a:xfrm>
            <a:off x="914400" y="1096964"/>
            <a:ext cx="994721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b="1" dirty="0">
                <a:latin typeface="Times New Roman" panose="02020603050405020304" pitchFamily="18" charset="0"/>
                <a:cs typeface="Times New Roman" panose="02020603050405020304" pitchFamily="18" charset="0"/>
              </a:rPr>
              <a:t>// C program to illustrate If statement </a:t>
            </a:r>
          </a:p>
          <a:p>
            <a:pPr algn="just"/>
            <a:endParaRPr lang="en-IN" altLang="en-US" sz="2400" dirty="0">
              <a:latin typeface="Times New Roman" panose="02020603050405020304" pitchFamily="18" charset="0"/>
              <a:cs typeface="Times New Roman" panose="02020603050405020304" pitchFamily="18" charset="0"/>
            </a:endParaRPr>
          </a:p>
          <a:p>
            <a:pPr algn="just"/>
            <a:r>
              <a:rPr lang="en-IN" altLang="en-US" sz="2400" dirty="0">
                <a:latin typeface="Times New Roman" panose="02020603050405020304" pitchFamily="18" charset="0"/>
                <a:cs typeface="Times New Roman" panose="02020603050405020304" pitchFamily="18" charset="0"/>
              </a:rPr>
              <a:t>#include &lt;</a:t>
            </a:r>
            <a:r>
              <a:rPr lang="en-IN" altLang="en-US" sz="2400" dirty="0" err="1">
                <a:latin typeface="Times New Roman" panose="02020603050405020304" pitchFamily="18" charset="0"/>
                <a:cs typeface="Times New Roman" panose="02020603050405020304" pitchFamily="18" charset="0"/>
              </a:rPr>
              <a:t>stdio.h</a:t>
            </a:r>
            <a:r>
              <a:rPr lang="en-IN" altLang="en-US" sz="2400" dirty="0">
                <a:latin typeface="Times New Roman" panose="02020603050405020304" pitchFamily="18" charset="0"/>
                <a:cs typeface="Times New Roman" panose="02020603050405020304" pitchFamily="18" charset="0"/>
              </a:rPr>
              <a:t>&gt; </a:t>
            </a:r>
          </a:p>
          <a:p>
            <a:pPr algn="just"/>
            <a:r>
              <a:rPr lang="en-IN" altLang="en-US" sz="2400" dirty="0">
                <a:latin typeface="Times New Roman" panose="02020603050405020304" pitchFamily="18" charset="0"/>
                <a:cs typeface="Times New Roman" panose="02020603050405020304" pitchFamily="18" charset="0"/>
              </a:rPr>
              <a:t>int main() </a:t>
            </a:r>
          </a:p>
          <a:p>
            <a:pPr algn="just"/>
            <a:r>
              <a:rPr lang="en-IN" altLang="en-US" sz="2400" dirty="0">
                <a:latin typeface="Times New Roman" panose="02020603050405020304" pitchFamily="18" charset="0"/>
                <a:cs typeface="Times New Roman" panose="02020603050405020304" pitchFamily="18" charset="0"/>
              </a:rPr>
              <a:t>{ </a:t>
            </a:r>
          </a:p>
          <a:p>
            <a:pPr algn="just"/>
            <a:r>
              <a:rPr lang="en-IN" altLang="en-US" sz="2400" dirty="0">
                <a:latin typeface="Times New Roman" panose="02020603050405020304" pitchFamily="18" charset="0"/>
                <a:cs typeface="Times New Roman" panose="02020603050405020304" pitchFamily="18" charset="0"/>
              </a:rPr>
              <a:t>	int </a:t>
            </a:r>
            <a:r>
              <a:rPr lang="en-IN" altLang="en-US" sz="2400" dirty="0" err="1">
                <a:latin typeface="Times New Roman" panose="02020603050405020304" pitchFamily="18" charset="0"/>
                <a:cs typeface="Times New Roman" panose="02020603050405020304" pitchFamily="18" charset="0"/>
              </a:rPr>
              <a:t>i</a:t>
            </a:r>
            <a:r>
              <a:rPr lang="en-IN" altLang="en-US" sz="2400" dirty="0">
                <a:latin typeface="Times New Roman" panose="02020603050405020304" pitchFamily="18" charset="0"/>
                <a:cs typeface="Times New Roman" panose="02020603050405020304" pitchFamily="18" charset="0"/>
              </a:rPr>
              <a:t> = 10; </a:t>
            </a:r>
          </a:p>
          <a:p>
            <a:pPr algn="just"/>
            <a:r>
              <a:rPr lang="en-IN" altLang="en-US" sz="2400" dirty="0">
                <a:latin typeface="Times New Roman" panose="02020603050405020304" pitchFamily="18" charset="0"/>
                <a:cs typeface="Times New Roman" panose="02020603050405020304" pitchFamily="18" charset="0"/>
              </a:rPr>
              <a:t>	if (</a:t>
            </a:r>
            <a:r>
              <a:rPr lang="en-IN" altLang="en-US" sz="2400" dirty="0" err="1">
                <a:latin typeface="Times New Roman" panose="02020603050405020304" pitchFamily="18" charset="0"/>
                <a:cs typeface="Times New Roman" panose="02020603050405020304" pitchFamily="18" charset="0"/>
              </a:rPr>
              <a:t>i</a:t>
            </a:r>
            <a:r>
              <a:rPr lang="en-IN" altLang="en-US" sz="2400" dirty="0">
                <a:latin typeface="Times New Roman" panose="02020603050405020304" pitchFamily="18" charset="0"/>
                <a:cs typeface="Times New Roman" panose="02020603050405020304" pitchFamily="18" charset="0"/>
              </a:rPr>
              <a:t> &gt; 15) </a:t>
            </a:r>
          </a:p>
          <a:p>
            <a:pPr algn="just"/>
            <a:r>
              <a:rPr lang="en-IN" altLang="en-US" sz="2400" dirty="0">
                <a:latin typeface="Times New Roman" panose="02020603050405020304" pitchFamily="18" charset="0"/>
                <a:cs typeface="Times New Roman" panose="02020603050405020304" pitchFamily="18" charset="0"/>
              </a:rPr>
              <a:t>	{ </a:t>
            </a:r>
          </a:p>
          <a:p>
            <a:pPr algn="just"/>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printf</a:t>
            </a:r>
            <a:r>
              <a:rPr lang="en-IN" altLang="en-US" sz="2400" dirty="0">
                <a:latin typeface="Times New Roman" panose="02020603050405020304" pitchFamily="18" charset="0"/>
                <a:cs typeface="Times New Roman" panose="02020603050405020304" pitchFamily="18" charset="0"/>
              </a:rPr>
              <a:t>("10 is less than 15"); </a:t>
            </a:r>
          </a:p>
          <a:p>
            <a:pPr algn="just"/>
            <a:r>
              <a:rPr lang="en-IN" altLang="en-US" sz="2400" dirty="0">
                <a:latin typeface="Times New Roman" panose="02020603050405020304" pitchFamily="18" charset="0"/>
                <a:cs typeface="Times New Roman" panose="02020603050405020304" pitchFamily="18" charset="0"/>
              </a:rPr>
              <a:t>	}	 </a:t>
            </a:r>
          </a:p>
          <a:p>
            <a:pPr algn="just"/>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printf</a:t>
            </a:r>
            <a:r>
              <a:rPr lang="en-IN" altLang="en-US" sz="2400" dirty="0">
                <a:latin typeface="Times New Roman" panose="02020603050405020304" pitchFamily="18" charset="0"/>
                <a:cs typeface="Times New Roman" panose="02020603050405020304" pitchFamily="18" charset="0"/>
              </a:rPr>
              <a:t>("I am Not in if"); </a:t>
            </a:r>
          </a:p>
          <a:p>
            <a:pPr algn="just"/>
            <a:r>
              <a:rPr lang="en-IN" altLang="en-US" sz="2400" dirty="0">
                <a:latin typeface="Times New Roman" panose="02020603050405020304" pitchFamily="18" charset="0"/>
                <a:cs typeface="Times New Roman" panose="02020603050405020304" pitchFamily="18" charset="0"/>
              </a:rPr>
              <a:t>} </a:t>
            </a:r>
          </a:p>
        </p:txBody>
      </p:sp>
      <p:sp>
        <p:nvSpPr>
          <p:cNvPr id="2" name="Footer Placeholder 4">
            <a:extLst>
              <a:ext uri="{FF2B5EF4-FFF2-40B4-BE49-F238E27FC236}">
                <a16:creationId xmlns:a16="http://schemas.microsoft.com/office/drawing/2014/main" id="{02379392-C38A-2C09-608C-4403F7D2DDF6}"/>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14C3632A-BA66-C36B-60D1-2A771CBAB843}"/>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30</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F0F81AB1-C6A6-E492-5030-1F98D9AA3566}"/>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ustomShape 3">
            <a:extLst>
              <a:ext uri="{FF2B5EF4-FFF2-40B4-BE49-F238E27FC236}">
                <a16:creationId xmlns:a16="http://schemas.microsoft.com/office/drawing/2014/main" id="{27C6F388-65D6-8D5C-D68B-EF0A910322A0}"/>
              </a:ext>
            </a:extLst>
          </p:cNvPr>
          <p:cNvSpPr>
            <a:spLocks noChangeArrowheads="1"/>
          </p:cNvSpPr>
          <p:nvPr/>
        </p:nvSpPr>
        <p:spPr bwMode="auto">
          <a:xfrm>
            <a:off x="89210" y="121133"/>
            <a:ext cx="11861051" cy="488467"/>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If-else statement</a:t>
            </a:r>
          </a:p>
        </p:txBody>
      </p:sp>
      <p:sp>
        <p:nvSpPr>
          <p:cNvPr id="8195" name="Rectangle 3">
            <a:extLst>
              <a:ext uri="{FF2B5EF4-FFF2-40B4-BE49-F238E27FC236}">
                <a16:creationId xmlns:a16="http://schemas.microsoft.com/office/drawing/2014/main" id="{816AA595-5334-1847-6FD5-D53BCA0C3AFB}"/>
              </a:ext>
            </a:extLst>
          </p:cNvPr>
          <p:cNvSpPr>
            <a:spLocks noChangeArrowheads="1"/>
          </p:cNvSpPr>
          <p:nvPr/>
        </p:nvSpPr>
        <p:spPr bwMode="auto">
          <a:xfrm>
            <a:off x="547030" y="1064986"/>
            <a:ext cx="3835400" cy="452437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b="1" dirty="0">
                <a:latin typeface="Times New Roman" panose="02020603050405020304" pitchFamily="18" charset="0"/>
                <a:cs typeface="Times New Roman" panose="02020603050405020304" pitchFamily="18" charset="0"/>
              </a:rPr>
              <a:t>Syntax:</a:t>
            </a:r>
          </a:p>
          <a:p>
            <a:pPr algn="just"/>
            <a:endParaRPr lang="en-IN" altLang="en-US" sz="2400" dirty="0">
              <a:latin typeface="Times New Roman" panose="02020603050405020304" pitchFamily="18" charset="0"/>
              <a:cs typeface="Times New Roman" panose="02020603050405020304" pitchFamily="18" charset="0"/>
            </a:endParaRPr>
          </a:p>
          <a:p>
            <a:pPr algn="just"/>
            <a:r>
              <a:rPr lang="en-IN" altLang="en-US" sz="2400" dirty="0">
                <a:latin typeface="Times New Roman" panose="02020603050405020304" pitchFamily="18" charset="0"/>
                <a:cs typeface="Times New Roman" panose="02020603050405020304" pitchFamily="18" charset="0"/>
              </a:rPr>
              <a:t>if (condition)</a:t>
            </a:r>
          </a:p>
          <a:p>
            <a:pPr algn="just"/>
            <a:r>
              <a:rPr lang="en-IN" altLang="en-US" sz="2400" dirty="0">
                <a:latin typeface="Times New Roman" panose="02020603050405020304" pitchFamily="18" charset="0"/>
                <a:cs typeface="Times New Roman" panose="02020603050405020304" pitchFamily="18" charset="0"/>
              </a:rPr>
              <a:t>{</a:t>
            </a:r>
          </a:p>
          <a:p>
            <a:pPr algn="just"/>
            <a:r>
              <a:rPr lang="en-IN" altLang="en-US" sz="2400" dirty="0">
                <a:latin typeface="Times New Roman" panose="02020603050405020304" pitchFamily="18" charset="0"/>
                <a:cs typeface="Times New Roman" panose="02020603050405020304" pitchFamily="18" charset="0"/>
              </a:rPr>
              <a:t>    // Executes this block if</a:t>
            </a:r>
          </a:p>
          <a:p>
            <a:pPr algn="just"/>
            <a:r>
              <a:rPr lang="en-IN" altLang="en-US" sz="2400" dirty="0">
                <a:latin typeface="Times New Roman" panose="02020603050405020304" pitchFamily="18" charset="0"/>
                <a:cs typeface="Times New Roman" panose="02020603050405020304" pitchFamily="18" charset="0"/>
              </a:rPr>
              <a:t>    // condition is true</a:t>
            </a:r>
          </a:p>
          <a:p>
            <a:pPr algn="just"/>
            <a:r>
              <a:rPr lang="en-IN" altLang="en-US" sz="2400" dirty="0">
                <a:latin typeface="Times New Roman" panose="02020603050405020304" pitchFamily="18" charset="0"/>
                <a:cs typeface="Times New Roman" panose="02020603050405020304" pitchFamily="18" charset="0"/>
              </a:rPr>
              <a:t>}</a:t>
            </a:r>
          </a:p>
          <a:p>
            <a:pPr algn="just"/>
            <a:r>
              <a:rPr lang="en-IN" altLang="en-US" sz="2400" dirty="0">
                <a:latin typeface="Times New Roman" panose="02020603050405020304" pitchFamily="18" charset="0"/>
                <a:cs typeface="Times New Roman" panose="02020603050405020304" pitchFamily="18" charset="0"/>
              </a:rPr>
              <a:t>else</a:t>
            </a:r>
          </a:p>
          <a:p>
            <a:pPr algn="just"/>
            <a:r>
              <a:rPr lang="en-IN" altLang="en-US" sz="2400" dirty="0">
                <a:latin typeface="Times New Roman" panose="02020603050405020304" pitchFamily="18" charset="0"/>
                <a:cs typeface="Times New Roman" panose="02020603050405020304" pitchFamily="18" charset="0"/>
              </a:rPr>
              <a:t>{</a:t>
            </a:r>
          </a:p>
          <a:p>
            <a:pPr algn="just"/>
            <a:r>
              <a:rPr lang="en-IN" altLang="en-US" sz="2400" dirty="0">
                <a:latin typeface="Times New Roman" panose="02020603050405020304" pitchFamily="18" charset="0"/>
                <a:cs typeface="Times New Roman" panose="02020603050405020304" pitchFamily="18" charset="0"/>
              </a:rPr>
              <a:t>    // Executes this block if</a:t>
            </a:r>
          </a:p>
          <a:p>
            <a:pPr algn="just"/>
            <a:r>
              <a:rPr lang="en-IN" altLang="en-US" sz="2400" dirty="0">
                <a:latin typeface="Times New Roman" panose="02020603050405020304" pitchFamily="18" charset="0"/>
                <a:cs typeface="Times New Roman" panose="02020603050405020304" pitchFamily="18" charset="0"/>
              </a:rPr>
              <a:t>    // condition is false</a:t>
            </a:r>
          </a:p>
          <a:p>
            <a:pPr algn="just"/>
            <a:r>
              <a:rPr lang="en-IN" altLang="en-US" sz="2400" dirty="0">
                <a:latin typeface="Times New Roman" panose="02020603050405020304" pitchFamily="18" charset="0"/>
                <a:cs typeface="Times New Roman" panose="02020603050405020304" pitchFamily="18" charset="0"/>
              </a:rPr>
              <a:t>}</a:t>
            </a:r>
          </a:p>
        </p:txBody>
      </p:sp>
      <p:sp>
        <p:nvSpPr>
          <p:cNvPr id="2" name="Footer Placeholder 4">
            <a:extLst>
              <a:ext uri="{FF2B5EF4-FFF2-40B4-BE49-F238E27FC236}">
                <a16:creationId xmlns:a16="http://schemas.microsoft.com/office/drawing/2014/main" id="{20BA5641-9C33-592A-8358-5DF6FF4672F8}"/>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AC91AC53-3441-E9CE-39FD-DA4DA3FF420D}"/>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31</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92D321C8-5A7F-3771-DCCB-76F0CC196EB5}"/>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8" name="Picture 7">
            <a:extLst>
              <a:ext uri="{FF2B5EF4-FFF2-40B4-BE49-F238E27FC236}">
                <a16:creationId xmlns:a16="http://schemas.microsoft.com/office/drawing/2014/main" id="{F3B3CD54-5780-DC21-5A81-E3AF68E1A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7089" y="1008970"/>
            <a:ext cx="5044966" cy="46364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ustomShape 3">
            <a:extLst>
              <a:ext uri="{FF2B5EF4-FFF2-40B4-BE49-F238E27FC236}">
                <a16:creationId xmlns:a16="http://schemas.microsoft.com/office/drawing/2014/main" id="{1265D034-0716-DFE6-F93F-638C16FD8BF8}"/>
              </a:ext>
            </a:extLst>
          </p:cNvPr>
          <p:cNvSpPr>
            <a:spLocks noChangeArrowheads="1"/>
          </p:cNvSpPr>
          <p:nvPr/>
        </p:nvSpPr>
        <p:spPr bwMode="auto">
          <a:xfrm>
            <a:off x="726308" y="167396"/>
            <a:ext cx="10739383" cy="662152"/>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If-else statement-Example</a:t>
            </a:r>
          </a:p>
        </p:txBody>
      </p:sp>
      <p:sp>
        <p:nvSpPr>
          <p:cNvPr id="9219" name="Rectangle 3">
            <a:extLst>
              <a:ext uri="{FF2B5EF4-FFF2-40B4-BE49-F238E27FC236}">
                <a16:creationId xmlns:a16="http://schemas.microsoft.com/office/drawing/2014/main" id="{4551DF94-93BA-C359-9D42-A3521564F2C7}"/>
              </a:ext>
            </a:extLst>
          </p:cNvPr>
          <p:cNvSpPr>
            <a:spLocks noChangeArrowheads="1"/>
          </p:cNvSpPr>
          <p:nvPr/>
        </p:nvSpPr>
        <p:spPr bwMode="auto">
          <a:xfrm>
            <a:off x="1524000" y="970969"/>
            <a:ext cx="885190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dirty="0">
                <a:latin typeface="Times New Roman" panose="02020603050405020304" pitchFamily="18" charset="0"/>
                <a:cs typeface="Times New Roman" panose="02020603050405020304" pitchFamily="18" charset="0"/>
              </a:rPr>
              <a:t>// C program to illustrate If statement </a:t>
            </a:r>
          </a:p>
          <a:p>
            <a:pPr algn="just"/>
            <a:endParaRPr lang="en-IN" altLang="en-US" sz="2400" dirty="0">
              <a:latin typeface="Times New Roman" panose="02020603050405020304" pitchFamily="18" charset="0"/>
              <a:cs typeface="Times New Roman" panose="02020603050405020304" pitchFamily="18" charset="0"/>
            </a:endParaRPr>
          </a:p>
          <a:p>
            <a:pPr algn="just"/>
            <a:r>
              <a:rPr lang="en-IN" altLang="en-US" sz="2400" dirty="0">
                <a:latin typeface="Times New Roman" panose="02020603050405020304" pitchFamily="18" charset="0"/>
                <a:cs typeface="Times New Roman" panose="02020603050405020304" pitchFamily="18" charset="0"/>
              </a:rPr>
              <a:t>#include &lt;</a:t>
            </a:r>
            <a:r>
              <a:rPr lang="en-IN" altLang="en-US" sz="2400" dirty="0" err="1">
                <a:latin typeface="Times New Roman" panose="02020603050405020304" pitchFamily="18" charset="0"/>
                <a:cs typeface="Times New Roman" panose="02020603050405020304" pitchFamily="18" charset="0"/>
              </a:rPr>
              <a:t>stdio.h</a:t>
            </a:r>
            <a:r>
              <a:rPr lang="en-IN" altLang="en-US" sz="2400" dirty="0">
                <a:latin typeface="Times New Roman" panose="02020603050405020304" pitchFamily="18" charset="0"/>
                <a:cs typeface="Times New Roman" panose="02020603050405020304" pitchFamily="18" charset="0"/>
              </a:rPr>
              <a:t>&gt; </a:t>
            </a:r>
          </a:p>
          <a:p>
            <a:pPr algn="just"/>
            <a:r>
              <a:rPr lang="en-IN" altLang="en-US" sz="2400" dirty="0">
                <a:latin typeface="Times New Roman" panose="02020603050405020304" pitchFamily="18" charset="0"/>
                <a:cs typeface="Times New Roman" panose="02020603050405020304" pitchFamily="18" charset="0"/>
              </a:rPr>
              <a:t>int main()</a:t>
            </a:r>
          </a:p>
          <a:p>
            <a:pPr algn="just"/>
            <a:r>
              <a:rPr lang="en-IN" altLang="en-US" sz="2400" dirty="0">
                <a:latin typeface="Times New Roman" panose="02020603050405020304" pitchFamily="18" charset="0"/>
                <a:cs typeface="Times New Roman" panose="02020603050405020304" pitchFamily="18" charset="0"/>
              </a:rPr>
              <a:t> { </a:t>
            </a:r>
          </a:p>
          <a:p>
            <a:pPr algn="just"/>
            <a:r>
              <a:rPr lang="en-IN" altLang="en-US" sz="2400" dirty="0">
                <a:latin typeface="Times New Roman" panose="02020603050405020304" pitchFamily="18" charset="0"/>
                <a:cs typeface="Times New Roman" panose="02020603050405020304" pitchFamily="18" charset="0"/>
              </a:rPr>
              <a:t>	int </a:t>
            </a:r>
            <a:r>
              <a:rPr lang="en-IN" altLang="en-US" sz="2400" dirty="0" err="1">
                <a:latin typeface="Times New Roman" panose="02020603050405020304" pitchFamily="18" charset="0"/>
                <a:cs typeface="Times New Roman" panose="02020603050405020304" pitchFamily="18" charset="0"/>
              </a:rPr>
              <a:t>i</a:t>
            </a:r>
            <a:r>
              <a:rPr lang="en-IN" altLang="en-US" sz="2400" dirty="0">
                <a:latin typeface="Times New Roman" panose="02020603050405020304" pitchFamily="18" charset="0"/>
                <a:cs typeface="Times New Roman" panose="02020603050405020304" pitchFamily="18" charset="0"/>
              </a:rPr>
              <a:t> = 20; </a:t>
            </a:r>
          </a:p>
          <a:p>
            <a:pPr algn="just"/>
            <a:endParaRPr lang="en-IN" altLang="en-US" sz="2400" dirty="0">
              <a:latin typeface="Times New Roman" panose="02020603050405020304" pitchFamily="18" charset="0"/>
              <a:cs typeface="Times New Roman" panose="02020603050405020304" pitchFamily="18" charset="0"/>
            </a:endParaRPr>
          </a:p>
          <a:p>
            <a:pPr algn="just"/>
            <a:r>
              <a:rPr lang="en-IN" altLang="en-US" sz="2400" dirty="0">
                <a:latin typeface="Times New Roman" panose="02020603050405020304" pitchFamily="18" charset="0"/>
                <a:cs typeface="Times New Roman" panose="02020603050405020304" pitchFamily="18" charset="0"/>
              </a:rPr>
              <a:t>	if (</a:t>
            </a:r>
            <a:r>
              <a:rPr lang="en-IN" altLang="en-US" sz="2400" dirty="0" err="1">
                <a:latin typeface="Times New Roman" panose="02020603050405020304" pitchFamily="18" charset="0"/>
                <a:cs typeface="Times New Roman" panose="02020603050405020304" pitchFamily="18" charset="0"/>
              </a:rPr>
              <a:t>i</a:t>
            </a:r>
            <a:r>
              <a:rPr lang="en-IN" altLang="en-US" sz="2400" dirty="0">
                <a:latin typeface="Times New Roman" panose="02020603050405020304" pitchFamily="18" charset="0"/>
                <a:cs typeface="Times New Roman" panose="02020603050405020304" pitchFamily="18" charset="0"/>
              </a:rPr>
              <a:t> &lt; 15) </a:t>
            </a:r>
          </a:p>
          <a:p>
            <a:pPr algn="just"/>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printf</a:t>
            </a:r>
            <a:r>
              <a:rPr lang="en-IN" altLang="en-US" sz="2400" dirty="0">
                <a:latin typeface="Times New Roman" panose="02020603050405020304" pitchFamily="18" charset="0"/>
                <a:cs typeface="Times New Roman" panose="02020603050405020304" pitchFamily="18" charset="0"/>
              </a:rPr>
              <a:t>("</a:t>
            </a:r>
            <a:r>
              <a:rPr lang="en-IN" altLang="en-US" sz="2400" dirty="0" err="1">
                <a:latin typeface="Times New Roman" panose="02020603050405020304" pitchFamily="18" charset="0"/>
                <a:cs typeface="Times New Roman" panose="02020603050405020304" pitchFamily="18" charset="0"/>
              </a:rPr>
              <a:t>i</a:t>
            </a:r>
            <a:r>
              <a:rPr lang="en-IN" altLang="en-US" sz="2400" dirty="0">
                <a:latin typeface="Times New Roman" panose="02020603050405020304" pitchFamily="18" charset="0"/>
                <a:cs typeface="Times New Roman" panose="02020603050405020304" pitchFamily="18" charset="0"/>
              </a:rPr>
              <a:t> is smaller than 15"); </a:t>
            </a:r>
          </a:p>
          <a:p>
            <a:pPr algn="just"/>
            <a:r>
              <a:rPr lang="en-IN" altLang="en-US" sz="2400" dirty="0">
                <a:latin typeface="Times New Roman" panose="02020603050405020304" pitchFamily="18" charset="0"/>
                <a:cs typeface="Times New Roman" panose="02020603050405020304" pitchFamily="18" charset="0"/>
              </a:rPr>
              <a:t>	else</a:t>
            </a:r>
          </a:p>
          <a:p>
            <a:pPr algn="just"/>
            <a:r>
              <a:rPr lang="en-IN" altLang="en-US" sz="2400" dirty="0">
                <a:latin typeface="Times New Roman" panose="02020603050405020304" pitchFamily="18" charset="0"/>
                <a:cs typeface="Times New Roman" panose="02020603050405020304" pitchFamily="18" charset="0"/>
              </a:rPr>
              <a:t>		</a:t>
            </a:r>
            <a:r>
              <a:rPr lang="en-IN" altLang="en-US" sz="2400" dirty="0" err="1">
                <a:latin typeface="Times New Roman" panose="02020603050405020304" pitchFamily="18" charset="0"/>
                <a:cs typeface="Times New Roman" panose="02020603050405020304" pitchFamily="18" charset="0"/>
              </a:rPr>
              <a:t>printf</a:t>
            </a:r>
            <a:r>
              <a:rPr lang="en-IN" altLang="en-US" sz="2400" dirty="0">
                <a:latin typeface="Times New Roman" panose="02020603050405020304" pitchFamily="18" charset="0"/>
                <a:cs typeface="Times New Roman" panose="02020603050405020304" pitchFamily="18" charset="0"/>
              </a:rPr>
              <a:t>("</a:t>
            </a:r>
            <a:r>
              <a:rPr lang="en-IN" altLang="en-US" sz="2400" dirty="0" err="1">
                <a:latin typeface="Times New Roman" panose="02020603050405020304" pitchFamily="18" charset="0"/>
                <a:cs typeface="Times New Roman" panose="02020603050405020304" pitchFamily="18" charset="0"/>
              </a:rPr>
              <a:t>i</a:t>
            </a:r>
            <a:r>
              <a:rPr lang="en-IN" altLang="en-US" sz="2400" dirty="0">
                <a:latin typeface="Times New Roman" panose="02020603050405020304" pitchFamily="18" charset="0"/>
                <a:cs typeface="Times New Roman" panose="02020603050405020304" pitchFamily="18" charset="0"/>
              </a:rPr>
              <a:t> is greater than 15"); </a:t>
            </a:r>
          </a:p>
          <a:p>
            <a:pPr algn="just"/>
            <a:r>
              <a:rPr lang="en-IN" altLang="en-US" sz="2400" dirty="0">
                <a:latin typeface="Times New Roman" panose="02020603050405020304" pitchFamily="18" charset="0"/>
                <a:cs typeface="Times New Roman" panose="02020603050405020304" pitchFamily="18" charset="0"/>
              </a:rPr>
              <a:t>			</a:t>
            </a:r>
          </a:p>
          <a:p>
            <a:pPr algn="just"/>
            <a:r>
              <a:rPr lang="en-IN" altLang="en-US" sz="2400" dirty="0">
                <a:latin typeface="Times New Roman" panose="02020603050405020304" pitchFamily="18" charset="0"/>
                <a:cs typeface="Times New Roman" panose="02020603050405020304" pitchFamily="18" charset="0"/>
              </a:rPr>
              <a:t>	return 0;	 </a:t>
            </a:r>
          </a:p>
          <a:p>
            <a:pPr algn="just"/>
            <a:r>
              <a:rPr lang="en-IN" altLang="en-US" sz="2400" dirty="0">
                <a:latin typeface="Times New Roman" panose="02020603050405020304" pitchFamily="18" charset="0"/>
                <a:cs typeface="Times New Roman" panose="02020603050405020304" pitchFamily="18" charset="0"/>
              </a:rPr>
              <a:t>} </a:t>
            </a:r>
          </a:p>
        </p:txBody>
      </p:sp>
      <p:sp>
        <p:nvSpPr>
          <p:cNvPr id="2" name="Footer Placeholder 4">
            <a:extLst>
              <a:ext uri="{FF2B5EF4-FFF2-40B4-BE49-F238E27FC236}">
                <a16:creationId xmlns:a16="http://schemas.microsoft.com/office/drawing/2014/main" id="{75177E9C-8D75-B1CB-89A2-09B3D2C0643F}"/>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DE4D8345-7336-5027-A1E4-F46DEB1D2546}"/>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32</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7074D895-70FD-E013-4CEC-8F8C08D481B7}"/>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ustomShape 3">
            <a:extLst>
              <a:ext uri="{FF2B5EF4-FFF2-40B4-BE49-F238E27FC236}">
                <a16:creationId xmlns:a16="http://schemas.microsoft.com/office/drawing/2014/main" id="{136EECB8-9FAF-034C-5BEC-6358123FB514}"/>
              </a:ext>
            </a:extLst>
          </p:cNvPr>
          <p:cNvSpPr>
            <a:spLocks noChangeArrowheads="1"/>
          </p:cNvSpPr>
          <p:nvPr/>
        </p:nvSpPr>
        <p:spPr bwMode="auto">
          <a:xfrm>
            <a:off x="630620" y="127754"/>
            <a:ext cx="11151028" cy="601059"/>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Nested if-else statement</a:t>
            </a:r>
          </a:p>
        </p:txBody>
      </p:sp>
      <p:sp>
        <p:nvSpPr>
          <p:cNvPr id="10243" name="Rectangle 3">
            <a:extLst>
              <a:ext uri="{FF2B5EF4-FFF2-40B4-BE49-F238E27FC236}">
                <a16:creationId xmlns:a16="http://schemas.microsoft.com/office/drawing/2014/main" id="{11327680-DDFE-9B83-E263-0F0A0DE028B9}"/>
              </a:ext>
            </a:extLst>
          </p:cNvPr>
          <p:cNvSpPr>
            <a:spLocks noChangeArrowheads="1"/>
          </p:cNvSpPr>
          <p:nvPr/>
        </p:nvSpPr>
        <p:spPr bwMode="auto">
          <a:xfrm>
            <a:off x="656936" y="923311"/>
            <a:ext cx="3570287" cy="550862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b="1" dirty="0">
                <a:latin typeface="Times New Roman" panose="02020603050405020304" pitchFamily="18" charset="0"/>
                <a:cs typeface="Times New Roman" panose="02020603050405020304" pitchFamily="18" charset="0"/>
              </a:rPr>
              <a:t>Syntax:</a:t>
            </a:r>
          </a:p>
          <a:p>
            <a:pPr algn="just"/>
            <a:r>
              <a:rPr lang="en-IN" altLang="en-US" sz="2200" dirty="0">
                <a:latin typeface="Times New Roman" panose="02020603050405020304" pitchFamily="18" charset="0"/>
                <a:cs typeface="Times New Roman" panose="02020603050405020304" pitchFamily="18" charset="0"/>
              </a:rPr>
              <a:t>if( condition 1 )</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    if(condition 2 )</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statement 1;</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else </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statement 2;</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else</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    statement 3;</a:t>
            </a:r>
          </a:p>
          <a:p>
            <a:pPr algn="just"/>
            <a:r>
              <a:rPr lang="en-IN" altLang="en-US" sz="2200" dirty="0">
                <a:latin typeface="Times New Roman" panose="02020603050405020304" pitchFamily="18" charset="0"/>
                <a:cs typeface="Times New Roman" panose="02020603050405020304" pitchFamily="18" charset="0"/>
              </a:rPr>
              <a:t>}</a:t>
            </a:r>
          </a:p>
        </p:txBody>
      </p:sp>
      <p:sp>
        <p:nvSpPr>
          <p:cNvPr id="2" name="Footer Placeholder 4">
            <a:extLst>
              <a:ext uri="{FF2B5EF4-FFF2-40B4-BE49-F238E27FC236}">
                <a16:creationId xmlns:a16="http://schemas.microsoft.com/office/drawing/2014/main" id="{BDD5A33A-4C8A-8C5A-DA4D-953A3295FE88}"/>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DB7E3437-5CD9-C0BC-E7EC-AFC3E71380C5}"/>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33</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F6B721DF-11DD-D52C-6F54-EE93D299E4B7}"/>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8" name="Picture 7">
            <a:extLst>
              <a:ext uri="{FF2B5EF4-FFF2-40B4-BE49-F238E27FC236}">
                <a16:creationId xmlns:a16="http://schemas.microsoft.com/office/drawing/2014/main" id="{4E2F9059-7658-1B60-7CA3-15DA4F9F9D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8264" y="923309"/>
            <a:ext cx="6907771" cy="525714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ustomShape 3">
            <a:extLst>
              <a:ext uri="{FF2B5EF4-FFF2-40B4-BE49-F238E27FC236}">
                <a16:creationId xmlns:a16="http://schemas.microsoft.com/office/drawing/2014/main" id="{0FB309D4-562F-80F5-D133-1E3625D7F09D}"/>
              </a:ext>
            </a:extLst>
          </p:cNvPr>
          <p:cNvSpPr>
            <a:spLocks noChangeArrowheads="1"/>
          </p:cNvSpPr>
          <p:nvPr/>
        </p:nvSpPr>
        <p:spPr bwMode="auto">
          <a:xfrm>
            <a:off x="202261" y="125701"/>
            <a:ext cx="11787477" cy="650199"/>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Nested if-else statement-Example</a:t>
            </a:r>
          </a:p>
        </p:txBody>
      </p:sp>
      <p:sp>
        <p:nvSpPr>
          <p:cNvPr id="11267" name="Rectangle 3">
            <a:extLst>
              <a:ext uri="{FF2B5EF4-FFF2-40B4-BE49-F238E27FC236}">
                <a16:creationId xmlns:a16="http://schemas.microsoft.com/office/drawing/2014/main" id="{1AF35F59-CA29-2B7E-F11F-161FE02362CF}"/>
              </a:ext>
            </a:extLst>
          </p:cNvPr>
          <p:cNvSpPr>
            <a:spLocks noChangeArrowheads="1"/>
          </p:cNvSpPr>
          <p:nvPr/>
        </p:nvSpPr>
        <p:spPr bwMode="auto">
          <a:xfrm>
            <a:off x="1120273" y="891724"/>
            <a:ext cx="4425950"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200" dirty="0">
                <a:latin typeface="Times New Roman" panose="02020603050405020304" pitchFamily="18" charset="0"/>
                <a:cs typeface="Times New Roman" panose="02020603050405020304" pitchFamily="18" charset="0"/>
              </a:rPr>
              <a:t>#include &lt;</a:t>
            </a:r>
            <a:r>
              <a:rPr lang="en-IN" altLang="en-US" sz="2200" dirty="0" err="1">
                <a:latin typeface="Times New Roman" panose="02020603050405020304" pitchFamily="18" charset="0"/>
                <a:cs typeface="Times New Roman" panose="02020603050405020304" pitchFamily="18" charset="0"/>
              </a:rPr>
              <a:t>stdio.h</a:t>
            </a:r>
            <a:r>
              <a:rPr lang="en-IN" altLang="en-US" sz="2200" dirty="0">
                <a:latin typeface="Times New Roman" panose="02020603050405020304" pitchFamily="18" charset="0"/>
                <a:cs typeface="Times New Roman" panose="02020603050405020304" pitchFamily="18" charset="0"/>
              </a:rPr>
              <a:t>&gt;</a:t>
            </a:r>
          </a:p>
          <a:p>
            <a:pPr algn="just"/>
            <a:r>
              <a:rPr lang="en-IN" altLang="en-US" sz="2200" dirty="0">
                <a:latin typeface="Times New Roman" panose="02020603050405020304" pitchFamily="18" charset="0"/>
                <a:cs typeface="Times New Roman" panose="02020603050405020304" pitchFamily="18" charset="0"/>
              </a:rPr>
              <a:t>void main( )</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    int a, b, c;</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("Enter 3 numbers...");</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scanf</a:t>
            </a:r>
            <a:r>
              <a:rPr lang="en-IN" altLang="en-US" sz="2200" dirty="0">
                <a:latin typeface="Times New Roman" panose="02020603050405020304" pitchFamily="18" charset="0"/>
                <a:cs typeface="Times New Roman" panose="02020603050405020304" pitchFamily="18" charset="0"/>
              </a:rPr>
              <a:t>("%</a:t>
            </a:r>
            <a:r>
              <a:rPr lang="en-IN" altLang="en-US" sz="2200" dirty="0" err="1">
                <a:latin typeface="Times New Roman" panose="02020603050405020304" pitchFamily="18" charset="0"/>
                <a:cs typeface="Times New Roman" panose="02020603050405020304" pitchFamily="18" charset="0"/>
              </a:rPr>
              <a:t>d%d%d</a:t>
            </a:r>
            <a:r>
              <a:rPr lang="en-IN" altLang="en-US" sz="2200" dirty="0">
                <a:latin typeface="Times New Roman" panose="02020603050405020304" pitchFamily="18" charset="0"/>
                <a:cs typeface="Times New Roman" panose="02020603050405020304" pitchFamily="18" charset="0"/>
              </a:rPr>
              <a:t>",&amp;a, &amp;b, &amp;c);</a:t>
            </a:r>
          </a:p>
          <a:p>
            <a:pPr algn="just"/>
            <a:r>
              <a:rPr lang="en-IN" altLang="en-US" sz="2200" dirty="0">
                <a:latin typeface="Times New Roman" panose="02020603050405020304" pitchFamily="18" charset="0"/>
                <a:cs typeface="Times New Roman" panose="02020603050405020304" pitchFamily="18" charset="0"/>
              </a:rPr>
              <a:t>    if(a &gt; b)</a:t>
            </a:r>
          </a:p>
          <a:p>
            <a:pPr algn="just"/>
            <a:r>
              <a:rPr lang="en-IN" altLang="en-US" sz="2200" dirty="0">
                <a:latin typeface="Times New Roman" panose="02020603050405020304" pitchFamily="18" charset="0"/>
                <a:cs typeface="Times New Roman" panose="02020603050405020304" pitchFamily="18" charset="0"/>
              </a:rPr>
              <a:t>    { </a:t>
            </a:r>
          </a:p>
          <a:p>
            <a:pPr algn="just"/>
            <a:r>
              <a:rPr lang="en-IN" altLang="en-US" sz="2200" dirty="0">
                <a:latin typeface="Times New Roman" panose="02020603050405020304" pitchFamily="18" charset="0"/>
                <a:cs typeface="Times New Roman" panose="02020603050405020304" pitchFamily="18" charset="0"/>
              </a:rPr>
              <a:t>        if(a &gt; c)</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("a is the greatest");</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else </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("c is the greatest");</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p>
        </p:txBody>
      </p:sp>
      <p:sp>
        <p:nvSpPr>
          <p:cNvPr id="11268" name="Rectangle 1">
            <a:extLst>
              <a:ext uri="{FF2B5EF4-FFF2-40B4-BE49-F238E27FC236}">
                <a16:creationId xmlns:a16="http://schemas.microsoft.com/office/drawing/2014/main" id="{16FC5329-BC3D-B750-3BFA-61AB692BB8AC}"/>
              </a:ext>
            </a:extLst>
          </p:cNvPr>
          <p:cNvSpPr>
            <a:spLocks noChangeArrowheads="1"/>
          </p:cNvSpPr>
          <p:nvPr/>
        </p:nvSpPr>
        <p:spPr bwMode="auto">
          <a:xfrm>
            <a:off x="6218019" y="1172289"/>
            <a:ext cx="4335462"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200" dirty="0">
                <a:latin typeface="Times New Roman" panose="02020603050405020304" pitchFamily="18" charset="0"/>
                <a:cs typeface="Times New Roman" panose="02020603050405020304" pitchFamily="18" charset="0"/>
              </a:rPr>
              <a:t> else</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if(b &gt; c)</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("b is the greatest");</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else</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("c is the greatest");</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endParaRPr lang="en-IN" altLang="en-US" sz="2200" dirty="0"/>
          </a:p>
        </p:txBody>
      </p:sp>
      <p:sp>
        <p:nvSpPr>
          <p:cNvPr id="2" name="Footer Placeholder 4">
            <a:extLst>
              <a:ext uri="{FF2B5EF4-FFF2-40B4-BE49-F238E27FC236}">
                <a16:creationId xmlns:a16="http://schemas.microsoft.com/office/drawing/2014/main" id="{C9E7EB87-51B5-4540-57D2-4547C9D35B4E}"/>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7333A135-1D43-9B1B-CB00-0C00B96948ED}"/>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34</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3229B410-08ED-4746-C5BB-F2F39E86D1CC}"/>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ustomShape 3">
            <a:extLst>
              <a:ext uri="{FF2B5EF4-FFF2-40B4-BE49-F238E27FC236}">
                <a16:creationId xmlns:a16="http://schemas.microsoft.com/office/drawing/2014/main" id="{7E7DDA45-F55E-41C9-0217-6CDA82828C31}"/>
              </a:ext>
            </a:extLst>
          </p:cNvPr>
          <p:cNvSpPr>
            <a:spLocks noChangeArrowheads="1"/>
          </p:cNvSpPr>
          <p:nvPr/>
        </p:nvSpPr>
        <p:spPr bwMode="auto">
          <a:xfrm>
            <a:off x="798785" y="117923"/>
            <a:ext cx="10983311" cy="501417"/>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if-else-if ladder statement</a:t>
            </a:r>
          </a:p>
        </p:txBody>
      </p:sp>
      <p:sp>
        <p:nvSpPr>
          <p:cNvPr id="12291" name="Rectangle 3">
            <a:extLst>
              <a:ext uri="{FF2B5EF4-FFF2-40B4-BE49-F238E27FC236}">
                <a16:creationId xmlns:a16="http://schemas.microsoft.com/office/drawing/2014/main" id="{2432649C-35C9-ED19-2F94-F717F3A16A21}"/>
              </a:ext>
            </a:extLst>
          </p:cNvPr>
          <p:cNvSpPr>
            <a:spLocks noChangeArrowheads="1"/>
          </p:cNvSpPr>
          <p:nvPr/>
        </p:nvSpPr>
        <p:spPr bwMode="auto">
          <a:xfrm>
            <a:off x="1145440" y="867887"/>
            <a:ext cx="3024187" cy="553878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b="1" dirty="0">
                <a:latin typeface="Times New Roman" panose="02020603050405020304" pitchFamily="18" charset="0"/>
                <a:cs typeface="Times New Roman" panose="02020603050405020304" pitchFamily="18" charset="0"/>
              </a:rPr>
              <a:t>Syntax:</a:t>
            </a:r>
          </a:p>
          <a:p>
            <a:pPr algn="just"/>
            <a:r>
              <a:rPr lang="en-IN" altLang="en-US" sz="2200" dirty="0">
                <a:latin typeface="Times New Roman" panose="02020603050405020304" pitchFamily="18" charset="0"/>
                <a:cs typeface="Times New Roman" panose="02020603050405020304" pitchFamily="18" charset="0"/>
              </a:rPr>
              <a:t>if(Condition 1)</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    statement block1;</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else if(Condition 2) </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    statement block2;</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else if(Condition 3 ) </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    statement block3;</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else </a:t>
            </a:r>
          </a:p>
          <a:p>
            <a:pPr algn="just"/>
            <a:r>
              <a:rPr lang="en-IN" altLang="en-US" sz="2200" dirty="0">
                <a:latin typeface="Times New Roman" panose="02020603050405020304" pitchFamily="18" charset="0"/>
                <a:cs typeface="Times New Roman" panose="02020603050405020304" pitchFamily="18" charset="0"/>
              </a:rPr>
              <a:t>    default statement;</a:t>
            </a:r>
          </a:p>
        </p:txBody>
      </p:sp>
      <p:sp>
        <p:nvSpPr>
          <p:cNvPr id="2" name="Footer Placeholder 4">
            <a:extLst>
              <a:ext uri="{FF2B5EF4-FFF2-40B4-BE49-F238E27FC236}">
                <a16:creationId xmlns:a16="http://schemas.microsoft.com/office/drawing/2014/main" id="{A807CA53-F5B2-7DC3-DE33-7739B2783C9F}"/>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9AB6F628-16FF-9B85-28CA-D8D677C76CFE}"/>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35</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17CFD567-D69C-49DD-5FFB-A7745C5CA747}"/>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10" name="Picture 9">
            <a:extLst>
              <a:ext uri="{FF2B5EF4-FFF2-40B4-BE49-F238E27FC236}">
                <a16:creationId xmlns:a16="http://schemas.microsoft.com/office/drawing/2014/main" id="{52DC3786-BE78-DD55-B659-BD7BA91F9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8518" y="899614"/>
            <a:ext cx="6771393" cy="547533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ustomShape 3">
            <a:extLst>
              <a:ext uri="{FF2B5EF4-FFF2-40B4-BE49-F238E27FC236}">
                <a16:creationId xmlns:a16="http://schemas.microsoft.com/office/drawing/2014/main" id="{0DA4FA92-A3C1-97F0-CBB4-DAD37BA4AB59}"/>
              </a:ext>
            </a:extLst>
          </p:cNvPr>
          <p:cNvSpPr>
            <a:spLocks noChangeArrowheads="1"/>
          </p:cNvSpPr>
          <p:nvPr/>
        </p:nvSpPr>
        <p:spPr bwMode="auto">
          <a:xfrm>
            <a:off x="704193" y="0"/>
            <a:ext cx="10825655" cy="683172"/>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if-else-if ladder statement-Example</a:t>
            </a:r>
          </a:p>
        </p:txBody>
      </p:sp>
      <p:sp>
        <p:nvSpPr>
          <p:cNvPr id="13315" name="Rectangle 3">
            <a:extLst>
              <a:ext uri="{FF2B5EF4-FFF2-40B4-BE49-F238E27FC236}">
                <a16:creationId xmlns:a16="http://schemas.microsoft.com/office/drawing/2014/main" id="{B131DD92-9D65-E7D5-AB35-694EBF59A37D}"/>
              </a:ext>
            </a:extLst>
          </p:cNvPr>
          <p:cNvSpPr>
            <a:spLocks noChangeArrowheads="1"/>
          </p:cNvSpPr>
          <p:nvPr/>
        </p:nvSpPr>
        <p:spPr bwMode="auto">
          <a:xfrm>
            <a:off x="892285" y="853056"/>
            <a:ext cx="5059363"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200" dirty="0">
                <a:latin typeface="Times New Roman" panose="02020603050405020304" pitchFamily="18" charset="0"/>
                <a:cs typeface="Times New Roman" panose="02020603050405020304" pitchFamily="18" charset="0"/>
              </a:rPr>
              <a:t>#include &lt;</a:t>
            </a:r>
            <a:r>
              <a:rPr lang="en-IN" altLang="en-US" sz="2200" dirty="0" err="1">
                <a:latin typeface="Times New Roman" panose="02020603050405020304" pitchFamily="18" charset="0"/>
                <a:cs typeface="Times New Roman" panose="02020603050405020304" pitchFamily="18" charset="0"/>
              </a:rPr>
              <a:t>stdio.h</a:t>
            </a:r>
            <a:r>
              <a:rPr lang="en-IN" altLang="en-US" sz="2200" dirty="0">
                <a:latin typeface="Times New Roman" panose="02020603050405020304" pitchFamily="18" charset="0"/>
                <a:cs typeface="Times New Roman" panose="02020603050405020304" pitchFamily="18" charset="0"/>
              </a:rPr>
              <a:t>&gt;</a:t>
            </a:r>
          </a:p>
          <a:p>
            <a:pPr algn="just"/>
            <a:r>
              <a:rPr lang="en-IN" altLang="en-US" sz="2200" dirty="0">
                <a:latin typeface="Times New Roman" panose="02020603050405020304" pitchFamily="18" charset="0"/>
                <a:cs typeface="Times New Roman" panose="02020603050405020304" pitchFamily="18" charset="0"/>
              </a:rPr>
              <a:t>void main( )</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    int a;</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("Enter a number...");</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scanf</a:t>
            </a:r>
            <a:r>
              <a:rPr lang="en-IN" altLang="en-US" sz="2200" dirty="0">
                <a:latin typeface="Times New Roman" panose="02020603050405020304" pitchFamily="18" charset="0"/>
                <a:cs typeface="Times New Roman" panose="02020603050405020304" pitchFamily="18" charset="0"/>
              </a:rPr>
              <a:t>("%d", &amp;a);</a:t>
            </a:r>
          </a:p>
          <a:p>
            <a:pPr algn="just"/>
            <a:r>
              <a:rPr lang="en-IN" altLang="en-US" sz="2200" dirty="0">
                <a:latin typeface="Times New Roman" panose="02020603050405020304" pitchFamily="18" charset="0"/>
                <a:cs typeface="Times New Roman" panose="02020603050405020304" pitchFamily="18" charset="0"/>
              </a:rPr>
              <a:t>    if(a%5 == 0 &amp;&amp; a%8 == 0)</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("Divisible by both 5 and 8");</a:t>
            </a:r>
          </a:p>
          <a:p>
            <a:pPr algn="just"/>
            <a:r>
              <a:rPr lang="en-IN" altLang="en-US" sz="2200" dirty="0">
                <a:latin typeface="Times New Roman" panose="02020603050405020304" pitchFamily="18" charset="0"/>
                <a:cs typeface="Times New Roman" panose="02020603050405020304" pitchFamily="18" charset="0"/>
              </a:rPr>
              <a:t>    }  </a:t>
            </a:r>
          </a:p>
          <a:p>
            <a:pPr algn="just"/>
            <a:r>
              <a:rPr lang="en-IN" altLang="en-US" sz="2200" dirty="0">
                <a:latin typeface="Times New Roman" panose="02020603050405020304" pitchFamily="18" charset="0"/>
                <a:cs typeface="Times New Roman" panose="02020603050405020304" pitchFamily="18" charset="0"/>
              </a:rPr>
              <a:t>    else if(a%8 == 0)</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("Divisible by 8");</a:t>
            </a:r>
          </a:p>
          <a:p>
            <a:pPr algn="just"/>
            <a:r>
              <a:rPr lang="en-IN" altLang="en-US" sz="2200" dirty="0">
                <a:latin typeface="Times New Roman" panose="02020603050405020304" pitchFamily="18" charset="0"/>
                <a:cs typeface="Times New Roman" panose="02020603050405020304" pitchFamily="18" charset="0"/>
              </a:rPr>
              <a:t>    }</a:t>
            </a:r>
          </a:p>
        </p:txBody>
      </p:sp>
      <p:sp>
        <p:nvSpPr>
          <p:cNvPr id="13316" name="Rectangle 2">
            <a:extLst>
              <a:ext uri="{FF2B5EF4-FFF2-40B4-BE49-F238E27FC236}">
                <a16:creationId xmlns:a16="http://schemas.microsoft.com/office/drawing/2014/main" id="{2357F5B3-EFC7-6B17-A524-4BAF019CCB86}"/>
              </a:ext>
            </a:extLst>
          </p:cNvPr>
          <p:cNvSpPr>
            <a:spLocks noChangeArrowheads="1"/>
          </p:cNvSpPr>
          <p:nvPr/>
        </p:nvSpPr>
        <p:spPr bwMode="auto">
          <a:xfrm>
            <a:off x="6519999" y="1205733"/>
            <a:ext cx="3954462"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200" dirty="0">
                <a:latin typeface="Times New Roman" panose="02020603050405020304" pitchFamily="18" charset="0"/>
                <a:cs typeface="Times New Roman" panose="02020603050405020304" pitchFamily="18" charset="0"/>
              </a:rPr>
              <a:t>else if(a%5 == 0)</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("Divisible by 5");</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else </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printf</a:t>
            </a:r>
            <a:r>
              <a:rPr lang="en-IN" altLang="en-US" sz="2200" dirty="0">
                <a:latin typeface="Times New Roman" panose="02020603050405020304" pitchFamily="18" charset="0"/>
                <a:cs typeface="Times New Roman" panose="02020603050405020304" pitchFamily="18" charset="0"/>
              </a:rPr>
              <a:t>("Divisible by none");</a:t>
            </a:r>
          </a:p>
          <a:p>
            <a:pPr algn="just"/>
            <a:r>
              <a:rPr lang="en-IN" altLang="en-US" sz="2200" dirty="0">
                <a:latin typeface="Times New Roman" panose="02020603050405020304" pitchFamily="18" charset="0"/>
                <a:cs typeface="Times New Roman" panose="02020603050405020304" pitchFamily="18" charset="0"/>
              </a:rPr>
              <a:t>    }</a:t>
            </a:r>
          </a:p>
          <a:p>
            <a:pPr algn="just"/>
            <a:r>
              <a:rPr lang="en-IN" altLang="en-US" sz="2200" dirty="0">
                <a:latin typeface="Times New Roman" panose="02020603050405020304" pitchFamily="18" charset="0"/>
                <a:cs typeface="Times New Roman" panose="02020603050405020304" pitchFamily="18" charset="0"/>
              </a:rPr>
              <a:t>}</a:t>
            </a:r>
            <a:endParaRPr lang="en-IN" altLang="en-US" sz="2200" dirty="0"/>
          </a:p>
        </p:txBody>
      </p:sp>
      <p:sp>
        <p:nvSpPr>
          <p:cNvPr id="2" name="Footer Placeholder 4">
            <a:extLst>
              <a:ext uri="{FF2B5EF4-FFF2-40B4-BE49-F238E27FC236}">
                <a16:creationId xmlns:a16="http://schemas.microsoft.com/office/drawing/2014/main" id="{7D341ABD-8C07-F408-9DA6-D2FB4A7E77D2}"/>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B62D8C60-3502-E96A-65FC-9B3F2DB36C06}"/>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36</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E627E510-3C04-2947-D657-F7683AECE92D}"/>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ustomShape 3">
            <a:extLst>
              <a:ext uri="{FF2B5EF4-FFF2-40B4-BE49-F238E27FC236}">
                <a16:creationId xmlns:a16="http://schemas.microsoft.com/office/drawing/2014/main" id="{C92B8781-D2E3-DD16-F266-D8C6FC897537}"/>
              </a:ext>
            </a:extLst>
          </p:cNvPr>
          <p:cNvSpPr>
            <a:spLocks noChangeArrowheads="1"/>
          </p:cNvSpPr>
          <p:nvPr/>
        </p:nvSpPr>
        <p:spPr bwMode="auto">
          <a:xfrm>
            <a:off x="378372" y="117924"/>
            <a:ext cx="11603421" cy="596780"/>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Switch Statement</a:t>
            </a:r>
          </a:p>
        </p:txBody>
      </p:sp>
      <p:sp>
        <p:nvSpPr>
          <p:cNvPr id="14339" name="Rectangle 3">
            <a:extLst>
              <a:ext uri="{FF2B5EF4-FFF2-40B4-BE49-F238E27FC236}">
                <a16:creationId xmlns:a16="http://schemas.microsoft.com/office/drawing/2014/main" id="{ADF3EDFA-92F5-49C9-3D01-A01DE25CC934}"/>
              </a:ext>
            </a:extLst>
          </p:cNvPr>
          <p:cNvSpPr>
            <a:spLocks noChangeArrowheads="1"/>
          </p:cNvSpPr>
          <p:nvPr/>
        </p:nvSpPr>
        <p:spPr bwMode="auto">
          <a:xfrm>
            <a:off x="640038" y="978120"/>
            <a:ext cx="11341755" cy="279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lnSpc>
                <a:spcPct val="15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Switch</a:t>
            </a:r>
            <a:r>
              <a:rPr lang="en-IN" altLang="en-US" sz="2400" dirty="0">
                <a:latin typeface="Times New Roman" panose="02020603050405020304" pitchFamily="18" charset="0"/>
                <a:cs typeface="Times New Roman" panose="02020603050405020304" pitchFamily="18" charset="0"/>
              </a:rPr>
              <a:t> statement is a control statement that allows us to choose only one choice among the many given choices.</a:t>
            </a:r>
          </a:p>
          <a:p>
            <a:pPr algn="just">
              <a:lnSpc>
                <a:spcPct val="150000"/>
              </a:lnSpc>
              <a:buFont typeface="Arial" panose="020B0604020202020204" pitchFamily="34" charset="0"/>
              <a:buChar char="•"/>
            </a:pPr>
            <a:r>
              <a:rPr lang="en-IN" altLang="en-US" sz="2400" dirty="0">
                <a:latin typeface="Times New Roman" panose="02020603050405020304" pitchFamily="18" charset="0"/>
                <a:cs typeface="Times New Roman" panose="02020603050405020304" pitchFamily="18" charset="0"/>
              </a:rPr>
              <a:t> The expression in switch evaluates is compared to the values present in different cases. </a:t>
            </a:r>
          </a:p>
          <a:p>
            <a:pPr algn="just">
              <a:lnSpc>
                <a:spcPct val="150000"/>
              </a:lnSpc>
              <a:buFont typeface="Arial" panose="020B0604020202020204" pitchFamily="34" charset="0"/>
              <a:buChar char="•"/>
            </a:pPr>
            <a:r>
              <a:rPr lang="en-IN" altLang="en-US" sz="2400" dirty="0">
                <a:latin typeface="Times New Roman" panose="02020603050405020304" pitchFamily="18" charset="0"/>
                <a:cs typeface="Times New Roman" panose="02020603050405020304" pitchFamily="18" charset="0"/>
              </a:rPr>
              <a:t>It executes that block of code which matches the case value. </a:t>
            </a:r>
          </a:p>
          <a:p>
            <a:pPr algn="just">
              <a:lnSpc>
                <a:spcPct val="150000"/>
              </a:lnSpc>
              <a:buFont typeface="Arial" panose="020B0604020202020204" pitchFamily="34" charset="0"/>
              <a:buChar char="•"/>
            </a:pPr>
            <a:r>
              <a:rPr lang="en-IN" altLang="en-US" sz="2400" dirty="0">
                <a:latin typeface="Times New Roman" panose="02020603050405020304" pitchFamily="18" charset="0"/>
                <a:cs typeface="Times New Roman" panose="02020603050405020304" pitchFamily="18" charset="0"/>
              </a:rPr>
              <a:t>If there is no match, then default block is executed(if present). </a:t>
            </a:r>
          </a:p>
        </p:txBody>
      </p:sp>
      <p:sp>
        <p:nvSpPr>
          <p:cNvPr id="2" name="Footer Placeholder 4">
            <a:extLst>
              <a:ext uri="{FF2B5EF4-FFF2-40B4-BE49-F238E27FC236}">
                <a16:creationId xmlns:a16="http://schemas.microsoft.com/office/drawing/2014/main" id="{D5B47DBC-9DAD-05FA-D7D0-2746F528D63A}"/>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088B45EB-B0B5-5A04-F838-69AD26450D7C}"/>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37</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415F158E-A375-A633-5F93-E4CF1724FEB9}"/>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ustomShape 3">
            <a:extLst>
              <a:ext uri="{FF2B5EF4-FFF2-40B4-BE49-F238E27FC236}">
                <a16:creationId xmlns:a16="http://schemas.microsoft.com/office/drawing/2014/main" id="{F76AD7AA-71D2-AF1F-0BDF-FD5D76DF753E}"/>
              </a:ext>
            </a:extLst>
          </p:cNvPr>
          <p:cNvSpPr>
            <a:spLocks noChangeArrowheads="1"/>
          </p:cNvSpPr>
          <p:nvPr/>
        </p:nvSpPr>
        <p:spPr bwMode="auto">
          <a:xfrm>
            <a:off x="420415" y="109360"/>
            <a:ext cx="11498316" cy="536028"/>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Switch Statement</a:t>
            </a:r>
          </a:p>
        </p:txBody>
      </p:sp>
      <p:sp>
        <p:nvSpPr>
          <p:cNvPr id="15363" name="Rectangle 3">
            <a:extLst>
              <a:ext uri="{FF2B5EF4-FFF2-40B4-BE49-F238E27FC236}">
                <a16:creationId xmlns:a16="http://schemas.microsoft.com/office/drawing/2014/main" id="{466E267B-47C4-D522-6F71-892719A1DC18}"/>
              </a:ext>
            </a:extLst>
          </p:cNvPr>
          <p:cNvSpPr>
            <a:spLocks noChangeArrowheads="1"/>
          </p:cNvSpPr>
          <p:nvPr/>
        </p:nvSpPr>
        <p:spPr bwMode="auto">
          <a:xfrm>
            <a:off x="1515986" y="742499"/>
            <a:ext cx="3171825" cy="5632450"/>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000" dirty="0">
                <a:latin typeface="Times New Roman" panose="02020603050405020304" pitchFamily="18" charset="0"/>
                <a:cs typeface="Times New Roman" panose="02020603050405020304" pitchFamily="18" charset="0"/>
              </a:rPr>
              <a:t>switch(expression)</a:t>
            </a:r>
          </a:p>
          <a:p>
            <a:pPr algn="just"/>
            <a:r>
              <a:rPr lang="en-IN" altLang="en-US" sz="2000" dirty="0">
                <a:latin typeface="Times New Roman" panose="02020603050405020304" pitchFamily="18" charset="0"/>
                <a:cs typeface="Times New Roman" panose="02020603050405020304" pitchFamily="18" charset="0"/>
              </a:rPr>
              <a:t>{</a:t>
            </a:r>
          </a:p>
          <a:p>
            <a:pPr algn="just"/>
            <a:r>
              <a:rPr lang="en-IN" altLang="en-US" sz="2000" dirty="0">
                <a:latin typeface="Times New Roman" panose="02020603050405020304" pitchFamily="18" charset="0"/>
                <a:cs typeface="Times New Roman" panose="02020603050405020304" pitchFamily="18" charset="0"/>
              </a:rPr>
              <a:t>    case value-1:</a:t>
            </a:r>
          </a:p>
          <a:p>
            <a:pPr algn="just"/>
            <a:r>
              <a:rPr lang="en-IN" altLang="en-US" sz="2000" dirty="0">
                <a:latin typeface="Times New Roman" panose="02020603050405020304" pitchFamily="18" charset="0"/>
                <a:cs typeface="Times New Roman" panose="02020603050405020304" pitchFamily="18" charset="0"/>
              </a:rPr>
              <a:t>    	block-1;</a:t>
            </a:r>
          </a:p>
          <a:p>
            <a:pPr algn="just"/>
            <a:r>
              <a:rPr lang="en-IN" altLang="en-US" sz="2000" dirty="0">
                <a:latin typeface="Times New Roman" panose="02020603050405020304" pitchFamily="18" charset="0"/>
                <a:cs typeface="Times New Roman" panose="02020603050405020304" pitchFamily="18" charset="0"/>
              </a:rPr>
              <a:t>    	break;</a:t>
            </a:r>
          </a:p>
          <a:p>
            <a:pPr algn="just"/>
            <a:r>
              <a:rPr lang="en-IN" altLang="en-US" sz="2000" dirty="0">
                <a:latin typeface="Times New Roman" panose="02020603050405020304" pitchFamily="18" charset="0"/>
                <a:cs typeface="Times New Roman" panose="02020603050405020304" pitchFamily="18" charset="0"/>
              </a:rPr>
              <a:t>    case value-2:</a:t>
            </a:r>
          </a:p>
          <a:p>
            <a:pPr algn="just"/>
            <a:r>
              <a:rPr lang="en-IN" altLang="en-US" sz="2000" dirty="0">
                <a:latin typeface="Times New Roman" panose="02020603050405020304" pitchFamily="18" charset="0"/>
                <a:cs typeface="Times New Roman" panose="02020603050405020304" pitchFamily="18" charset="0"/>
              </a:rPr>
              <a:t>    	block-2;</a:t>
            </a:r>
          </a:p>
          <a:p>
            <a:pPr algn="just"/>
            <a:r>
              <a:rPr lang="en-IN" altLang="en-US" sz="2000" dirty="0">
                <a:latin typeface="Times New Roman" panose="02020603050405020304" pitchFamily="18" charset="0"/>
                <a:cs typeface="Times New Roman" panose="02020603050405020304" pitchFamily="18" charset="0"/>
              </a:rPr>
              <a:t>    	break;</a:t>
            </a:r>
          </a:p>
          <a:p>
            <a:pPr algn="just"/>
            <a:r>
              <a:rPr lang="en-IN" altLang="en-US" sz="2000" dirty="0">
                <a:latin typeface="Times New Roman" panose="02020603050405020304" pitchFamily="18" charset="0"/>
                <a:cs typeface="Times New Roman" panose="02020603050405020304" pitchFamily="18" charset="0"/>
              </a:rPr>
              <a:t>    case value-3:</a:t>
            </a:r>
          </a:p>
          <a:p>
            <a:pPr algn="just"/>
            <a:r>
              <a:rPr lang="en-IN" altLang="en-US" sz="2000" dirty="0">
                <a:latin typeface="Times New Roman" panose="02020603050405020304" pitchFamily="18" charset="0"/>
                <a:cs typeface="Times New Roman" panose="02020603050405020304" pitchFamily="18" charset="0"/>
              </a:rPr>
              <a:t>    	block-3;</a:t>
            </a:r>
          </a:p>
          <a:p>
            <a:pPr algn="just"/>
            <a:r>
              <a:rPr lang="en-IN" altLang="en-US" sz="2000" dirty="0">
                <a:latin typeface="Times New Roman" panose="02020603050405020304" pitchFamily="18" charset="0"/>
                <a:cs typeface="Times New Roman" panose="02020603050405020304" pitchFamily="18" charset="0"/>
              </a:rPr>
              <a:t>    	break;</a:t>
            </a:r>
          </a:p>
          <a:p>
            <a:pPr algn="just"/>
            <a:r>
              <a:rPr lang="en-IN" altLang="en-US" sz="2000" dirty="0">
                <a:latin typeface="Times New Roman" panose="02020603050405020304" pitchFamily="18" charset="0"/>
                <a:cs typeface="Times New Roman" panose="02020603050405020304" pitchFamily="18" charset="0"/>
              </a:rPr>
              <a:t>    case value-4:</a:t>
            </a:r>
          </a:p>
          <a:p>
            <a:pPr algn="just"/>
            <a:r>
              <a:rPr lang="en-IN" altLang="en-US" sz="2000" dirty="0">
                <a:latin typeface="Times New Roman" panose="02020603050405020304" pitchFamily="18" charset="0"/>
                <a:cs typeface="Times New Roman" panose="02020603050405020304" pitchFamily="18" charset="0"/>
              </a:rPr>
              <a:t>    	block-4;</a:t>
            </a:r>
          </a:p>
          <a:p>
            <a:pPr algn="just"/>
            <a:r>
              <a:rPr lang="en-IN" altLang="en-US" sz="2000" dirty="0">
                <a:latin typeface="Times New Roman" panose="02020603050405020304" pitchFamily="18" charset="0"/>
                <a:cs typeface="Times New Roman" panose="02020603050405020304" pitchFamily="18" charset="0"/>
              </a:rPr>
              <a:t>   	    break;</a:t>
            </a:r>
          </a:p>
          <a:p>
            <a:pPr algn="just"/>
            <a:r>
              <a:rPr lang="en-IN" altLang="en-US" sz="2000" dirty="0">
                <a:latin typeface="Times New Roman" panose="02020603050405020304" pitchFamily="18" charset="0"/>
                <a:cs typeface="Times New Roman" panose="02020603050405020304" pitchFamily="18" charset="0"/>
              </a:rPr>
              <a:t>    default:</a:t>
            </a:r>
          </a:p>
          <a:p>
            <a:pPr algn="just"/>
            <a:r>
              <a:rPr lang="en-IN" altLang="en-US" sz="2000" dirty="0">
                <a:latin typeface="Times New Roman" panose="02020603050405020304" pitchFamily="18" charset="0"/>
                <a:cs typeface="Times New Roman" panose="02020603050405020304" pitchFamily="18" charset="0"/>
              </a:rPr>
              <a:t>   	    default-block;</a:t>
            </a:r>
          </a:p>
          <a:p>
            <a:pPr algn="just"/>
            <a:r>
              <a:rPr lang="en-IN" altLang="en-US" sz="2000" dirty="0">
                <a:latin typeface="Times New Roman" panose="02020603050405020304" pitchFamily="18" charset="0"/>
                <a:cs typeface="Times New Roman" panose="02020603050405020304" pitchFamily="18" charset="0"/>
              </a:rPr>
              <a:t>    	break;</a:t>
            </a:r>
          </a:p>
          <a:p>
            <a:pPr algn="just"/>
            <a:r>
              <a:rPr lang="en-IN" altLang="en-US" sz="2000" dirty="0">
                <a:latin typeface="Times New Roman" panose="02020603050405020304" pitchFamily="18" charset="0"/>
                <a:cs typeface="Times New Roman" panose="02020603050405020304" pitchFamily="18" charset="0"/>
              </a:rPr>
              <a:t>}</a:t>
            </a:r>
          </a:p>
        </p:txBody>
      </p:sp>
      <p:sp>
        <p:nvSpPr>
          <p:cNvPr id="2" name="Footer Placeholder 4">
            <a:extLst>
              <a:ext uri="{FF2B5EF4-FFF2-40B4-BE49-F238E27FC236}">
                <a16:creationId xmlns:a16="http://schemas.microsoft.com/office/drawing/2014/main" id="{DCABDA05-1C4D-F437-2BAB-3C34BD2CBFEA}"/>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7D8D1E32-3BB2-8E1D-DE22-AAC195429D53}"/>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38</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ED4D2FCA-5DB4-9711-4115-2184FAB06988}"/>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8" name="Picture 7">
            <a:extLst>
              <a:ext uri="{FF2B5EF4-FFF2-40B4-BE49-F238E27FC236}">
                <a16:creationId xmlns:a16="http://schemas.microsoft.com/office/drawing/2014/main" id="{0AB80E88-FD9A-71B7-6520-06F4350DD4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799" y="797890"/>
            <a:ext cx="5446835" cy="552166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ustomShape 3">
            <a:extLst>
              <a:ext uri="{FF2B5EF4-FFF2-40B4-BE49-F238E27FC236}">
                <a16:creationId xmlns:a16="http://schemas.microsoft.com/office/drawing/2014/main" id="{A3A01942-0873-CDD6-B343-47BDDABC969B}"/>
              </a:ext>
            </a:extLst>
          </p:cNvPr>
          <p:cNvSpPr>
            <a:spLocks noChangeArrowheads="1"/>
          </p:cNvSpPr>
          <p:nvPr/>
        </p:nvSpPr>
        <p:spPr bwMode="auto">
          <a:xfrm>
            <a:off x="399393" y="117923"/>
            <a:ext cx="11393214" cy="575760"/>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Switch Statement Rules</a:t>
            </a:r>
          </a:p>
        </p:txBody>
      </p:sp>
      <p:sp>
        <p:nvSpPr>
          <p:cNvPr id="16387" name="Rectangle 3">
            <a:extLst>
              <a:ext uri="{FF2B5EF4-FFF2-40B4-BE49-F238E27FC236}">
                <a16:creationId xmlns:a16="http://schemas.microsoft.com/office/drawing/2014/main" id="{30003090-175C-C720-319A-8477DD6B73FC}"/>
              </a:ext>
            </a:extLst>
          </p:cNvPr>
          <p:cNvSpPr>
            <a:spLocks noChangeArrowheads="1"/>
          </p:cNvSpPr>
          <p:nvPr/>
        </p:nvSpPr>
        <p:spPr bwMode="auto">
          <a:xfrm>
            <a:off x="496503" y="1068060"/>
            <a:ext cx="11296103" cy="279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IN" altLang="en-US" sz="2400" dirty="0">
                <a:latin typeface="Times New Roman" panose="02020603050405020304" pitchFamily="18" charset="0"/>
                <a:cs typeface="Times New Roman" panose="02020603050405020304" pitchFamily="18" charset="0"/>
              </a:rPr>
              <a:t>1) The switch expression must be of an integer or character type.</a:t>
            </a:r>
          </a:p>
          <a:p>
            <a:pPr algn="just">
              <a:lnSpc>
                <a:spcPct val="150000"/>
              </a:lnSpc>
            </a:pPr>
            <a:r>
              <a:rPr lang="en-IN" altLang="en-US" sz="2400" dirty="0">
                <a:latin typeface="Times New Roman" panose="02020603050405020304" pitchFamily="18" charset="0"/>
                <a:cs typeface="Times New Roman" panose="02020603050405020304" pitchFamily="18" charset="0"/>
              </a:rPr>
              <a:t>2) The case value must be an integer or character constant.</a:t>
            </a:r>
          </a:p>
          <a:p>
            <a:pPr algn="just">
              <a:lnSpc>
                <a:spcPct val="150000"/>
              </a:lnSpc>
            </a:pPr>
            <a:r>
              <a:rPr lang="en-IN" altLang="en-US" sz="2400" dirty="0">
                <a:latin typeface="Times New Roman" panose="02020603050405020304" pitchFamily="18" charset="0"/>
                <a:cs typeface="Times New Roman" panose="02020603050405020304" pitchFamily="18" charset="0"/>
              </a:rPr>
              <a:t>3) The case value can be used only inside the switch statement.</a:t>
            </a:r>
          </a:p>
          <a:p>
            <a:pPr algn="just">
              <a:lnSpc>
                <a:spcPct val="150000"/>
              </a:lnSpc>
            </a:pPr>
            <a:r>
              <a:rPr lang="en-IN" altLang="en-US" sz="2400" dirty="0">
                <a:latin typeface="Times New Roman" panose="02020603050405020304" pitchFamily="18" charset="0"/>
                <a:cs typeface="Times New Roman" panose="02020603050405020304" pitchFamily="18" charset="0"/>
              </a:rPr>
              <a:t>4) The break statement in switch case is not must. It is optional. If there is no break statement found in the case, all the cases will be executed present after the matched case.</a:t>
            </a:r>
          </a:p>
        </p:txBody>
      </p:sp>
      <p:sp>
        <p:nvSpPr>
          <p:cNvPr id="2" name="Footer Placeholder 4">
            <a:extLst>
              <a:ext uri="{FF2B5EF4-FFF2-40B4-BE49-F238E27FC236}">
                <a16:creationId xmlns:a16="http://schemas.microsoft.com/office/drawing/2014/main" id="{EC289263-8090-320D-A0E7-80F0C7068943}"/>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60B7916F-479E-E482-1C46-E2092D1E9A71}"/>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39</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CEAF513C-D112-D6FB-769A-83463CEADA8E}"/>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3">
            <a:extLst>
              <a:ext uri="{FF2B5EF4-FFF2-40B4-BE49-F238E27FC236}">
                <a16:creationId xmlns:a16="http://schemas.microsoft.com/office/drawing/2014/main" id="{BF32A04A-30B6-0379-6621-D29C978A2B1F}"/>
              </a:ext>
            </a:extLst>
          </p:cNvPr>
          <p:cNvSpPr>
            <a:spLocks noChangeArrowheads="1"/>
          </p:cNvSpPr>
          <p:nvPr/>
        </p:nvSpPr>
        <p:spPr bwMode="auto">
          <a:xfrm>
            <a:off x="262759" y="161157"/>
            <a:ext cx="11666482" cy="564057"/>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Switch Statement Example</a:t>
            </a:r>
          </a:p>
        </p:txBody>
      </p:sp>
      <p:sp>
        <p:nvSpPr>
          <p:cNvPr id="17411" name="Rectangle 3">
            <a:extLst>
              <a:ext uri="{FF2B5EF4-FFF2-40B4-BE49-F238E27FC236}">
                <a16:creationId xmlns:a16="http://schemas.microsoft.com/office/drawing/2014/main" id="{9FB5AE96-6777-B4EA-7F2A-B38896623E7C}"/>
              </a:ext>
            </a:extLst>
          </p:cNvPr>
          <p:cNvSpPr>
            <a:spLocks noChangeArrowheads="1"/>
          </p:cNvSpPr>
          <p:nvPr/>
        </p:nvSpPr>
        <p:spPr bwMode="auto">
          <a:xfrm>
            <a:off x="675180" y="887843"/>
            <a:ext cx="871855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000" dirty="0">
                <a:latin typeface="Times New Roman" panose="02020603050405020304" pitchFamily="18" charset="0"/>
                <a:cs typeface="Times New Roman" panose="02020603050405020304" pitchFamily="18" charset="0"/>
              </a:rPr>
              <a:t>#include &lt;</a:t>
            </a:r>
            <a:r>
              <a:rPr lang="en-IN" altLang="en-US" sz="2000" dirty="0" err="1">
                <a:latin typeface="Times New Roman" panose="02020603050405020304" pitchFamily="18" charset="0"/>
                <a:cs typeface="Times New Roman" panose="02020603050405020304" pitchFamily="18" charset="0"/>
              </a:rPr>
              <a:t>stdio.h</a:t>
            </a:r>
            <a:r>
              <a:rPr lang="en-IN" altLang="en-US" sz="2000" dirty="0">
                <a:latin typeface="Times New Roman" panose="02020603050405020304" pitchFamily="18" charset="0"/>
                <a:cs typeface="Times New Roman" panose="02020603050405020304" pitchFamily="18" charset="0"/>
              </a:rPr>
              <a:t>&gt;</a:t>
            </a:r>
          </a:p>
          <a:p>
            <a:pPr algn="just"/>
            <a:r>
              <a:rPr lang="en-IN" altLang="en-US" sz="2000" dirty="0">
                <a:latin typeface="Times New Roman" panose="02020603050405020304" pitchFamily="18" charset="0"/>
                <a:cs typeface="Times New Roman" panose="02020603050405020304" pitchFamily="18" charset="0"/>
              </a:rPr>
              <a:t>int main() </a:t>
            </a:r>
          </a:p>
          <a:p>
            <a:pPr algn="just"/>
            <a:r>
              <a:rPr lang="en-IN" altLang="en-US" sz="2000" dirty="0">
                <a:latin typeface="Times New Roman" panose="02020603050405020304" pitchFamily="18" charset="0"/>
                <a:cs typeface="Times New Roman" panose="02020603050405020304" pitchFamily="18" charset="0"/>
              </a:rPr>
              <a:t>{</a:t>
            </a:r>
          </a:p>
          <a:p>
            <a:pPr algn="just"/>
            <a:r>
              <a:rPr lang="en-IN" altLang="en-US" sz="2000" dirty="0">
                <a:latin typeface="Times New Roman" panose="02020603050405020304" pitchFamily="18" charset="0"/>
                <a:cs typeface="Times New Roman" panose="02020603050405020304" pitchFamily="18" charset="0"/>
              </a:rPr>
              <a:t>    char operator;</a:t>
            </a:r>
          </a:p>
          <a:p>
            <a:pPr algn="just"/>
            <a:r>
              <a:rPr lang="en-IN" altLang="en-US" sz="2000" dirty="0">
                <a:latin typeface="Times New Roman" panose="02020603050405020304" pitchFamily="18" charset="0"/>
                <a:cs typeface="Times New Roman" panose="02020603050405020304" pitchFamily="18" charset="0"/>
              </a:rPr>
              <a:t>    int n1, n2;</a:t>
            </a:r>
          </a:p>
          <a:p>
            <a:pPr algn="just"/>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printf</a:t>
            </a:r>
            <a:r>
              <a:rPr lang="en-IN" altLang="en-US" sz="2000" dirty="0">
                <a:latin typeface="Times New Roman" panose="02020603050405020304" pitchFamily="18" charset="0"/>
                <a:cs typeface="Times New Roman" panose="02020603050405020304" pitchFamily="18" charset="0"/>
              </a:rPr>
              <a:t>("Enter an operator (+, -, *, /): ");</a:t>
            </a:r>
          </a:p>
          <a:p>
            <a:pPr algn="just"/>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scanf</a:t>
            </a:r>
            <a:r>
              <a:rPr lang="en-IN" altLang="en-US" sz="2000" dirty="0">
                <a:latin typeface="Times New Roman" panose="02020603050405020304" pitchFamily="18" charset="0"/>
                <a:cs typeface="Times New Roman" panose="02020603050405020304" pitchFamily="18" charset="0"/>
              </a:rPr>
              <a:t>("%c", &amp;operator);</a:t>
            </a:r>
          </a:p>
          <a:p>
            <a:pPr algn="just"/>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printf</a:t>
            </a:r>
            <a:r>
              <a:rPr lang="en-IN" altLang="en-US" sz="2000" dirty="0">
                <a:latin typeface="Times New Roman" panose="02020603050405020304" pitchFamily="18" charset="0"/>
                <a:cs typeface="Times New Roman" panose="02020603050405020304" pitchFamily="18" charset="0"/>
              </a:rPr>
              <a:t>("Enter two operands: ");</a:t>
            </a:r>
          </a:p>
          <a:p>
            <a:pPr algn="just"/>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scanf</a:t>
            </a:r>
            <a:r>
              <a:rPr lang="en-IN" altLang="en-US" sz="2000" dirty="0">
                <a:latin typeface="Times New Roman" panose="02020603050405020304" pitchFamily="18" charset="0"/>
                <a:cs typeface="Times New Roman" panose="02020603050405020304" pitchFamily="18" charset="0"/>
              </a:rPr>
              <a:t>("%d %d",&amp;n1, &amp;n2);</a:t>
            </a:r>
          </a:p>
          <a:p>
            <a:pPr algn="just"/>
            <a:r>
              <a:rPr lang="en-IN" altLang="en-US" sz="2000" dirty="0">
                <a:latin typeface="Times New Roman" panose="02020603050405020304" pitchFamily="18" charset="0"/>
                <a:cs typeface="Times New Roman" panose="02020603050405020304" pitchFamily="18" charset="0"/>
              </a:rPr>
              <a:t>    switch(operator)</a:t>
            </a:r>
          </a:p>
          <a:p>
            <a:pPr algn="just"/>
            <a:r>
              <a:rPr lang="en-IN" altLang="en-US" sz="2000" dirty="0">
                <a:latin typeface="Times New Roman" panose="02020603050405020304" pitchFamily="18" charset="0"/>
                <a:cs typeface="Times New Roman" panose="02020603050405020304" pitchFamily="18" charset="0"/>
              </a:rPr>
              <a:t>    {</a:t>
            </a:r>
          </a:p>
          <a:p>
            <a:pPr algn="just"/>
            <a:r>
              <a:rPr lang="en-IN" altLang="en-US" sz="2000" dirty="0">
                <a:latin typeface="Times New Roman" panose="02020603050405020304" pitchFamily="18" charset="0"/>
                <a:cs typeface="Times New Roman" panose="02020603050405020304" pitchFamily="18" charset="0"/>
              </a:rPr>
              <a:t>        case '+':</a:t>
            </a:r>
          </a:p>
          <a:p>
            <a:pPr algn="just"/>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printf</a:t>
            </a:r>
            <a:r>
              <a:rPr lang="en-IN" altLang="en-US" sz="2000" dirty="0">
                <a:latin typeface="Times New Roman" panose="02020603050405020304" pitchFamily="18" charset="0"/>
                <a:cs typeface="Times New Roman" panose="02020603050405020304" pitchFamily="18" charset="0"/>
              </a:rPr>
              <a:t>("%d + %d = %d",n1, n2, n1+n2);</a:t>
            </a:r>
          </a:p>
          <a:p>
            <a:pPr algn="just"/>
            <a:r>
              <a:rPr lang="en-IN" altLang="en-US" sz="2000" dirty="0">
                <a:latin typeface="Times New Roman" panose="02020603050405020304" pitchFamily="18" charset="0"/>
                <a:cs typeface="Times New Roman" panose="02020603050405020304" pitchFamily="18" charset="0"/>
              </a:rPr>
              <a:t>            break;</a:t>
            </a:r>
          </a:p>
          <a:p>
            <a:pPr algn="just"/>
            <a:r>
              <a:rPr lang="en-IN" altLang="en-US" sz="2000" dirty="0">
                <a:latin typeface="Times New Roman" panose="02020603050405020304" pitchFamily="18" charset="0"/>
                <a:cs typeface="Times New Roman" panose="02020603050405020304" pitchFamily="18" charset="0"/>
              </a:rPr>
              <a:t>        case '-':</a:t>
            </a:r>
          </a:p>
          <a:p>
            <a:pPr algn="just"/>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printf</a:t>
            </a:r>
            <a:r>
              <a:rPr lang="en-IN" altLang="en-US" sz="2000" dirty="0">
                <a:latin typeface="Times New Roman" panose="02020603050405020304" pitchFamily="18" charset="0"/>
                <a:cs typeface="Times New Roman" panose="02020603050405020304" pitchFamily="18" charset="0"/>
              </a:rPr>
              <a:t>("%d - %d = %d",n1, n2, n1-n2);</a:t>
            </a:r>
          </a:p>
          <a:p>
            <a:pPr algn="just"/>
            <a:r>
              <a:rPr lang="en-IN" altLang="en-US" sz="2000" dirty="0">
                <a:latin typeface="Times New Roman" panose="02020603050405020304" pitchFamily="18" charset="0"/>
                <a:cs typeface="Times New Roman" panose="02020603050405020304" pitchFamily="18" charset="0"/>
              </a:rPr>
              <a:t>            break;</a:t>
            </a:r>
          </a:p>
        </p:txBody>
      </p:sp>
      <p:sp>
        <p:nvSpPr>
          <p:cNvPr id="17412" name="Rectangle 1">
            <a:extLst>
              <a:ext uri="{FF2B5EF4-FFF2-40B4-BE49-F238E27FC236}">
                <a16:creationId xmlns:a16="http://schemas.microsoft.com/office/drawing/2014/main" id="{7E2E365C-4F40-7033-1277-C867D182AB98}"/>
              </a:ext>
            </a:extLst>
          </p:cNvPr>
          <p:cNvSpPr>
            <a:spLocks noChangeArrowheads="1"/>
          </p:cNvSpPr>
          <p:nvPr/>
        </p:nvSpPr>
        <p:spPr bwMode="auto">
          <a:xfrm>
            <a:off x="6439830" y="1239236"/>
            <a:ext cx="45720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r>
              <a:rPr lang="en-IN" altLang="en-US" sz="2000" dirty="0">
                <a:latin typeface="Times New Roman" panose="02020603050405020304" pitchFamily="18" charset="0"/>
                <a:cs typeface="Times New Roman" panose="02020603050405020304" pitchFamily="18" charset="0"/>
              </a:rPr>
              <a:t> case '*':</a:t>
            </a:r>
          </a:p>
          <a:p>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printf</a:t>
            </a:r>
            <a:r>
              <a:rPr lang="en-IN" altLang="en-US" sz="2000" dirty="0">
                <a:latin typeface="Times New Roman" panose="02020603050405020304" pitchFamily="18" charset="0"/>
                <a:cs typeface="Times New Roman" panose="02020603050405020304" pitchFamily="18" charset="0"/>
              </a:rPr>
              <a:t>("%d * %d = %d",n1, n2, n1*n2);</a:t>
            </a:r>
          </a:p>
          <a:p>
            <a:r>
              <a:rPr lang="en-IN" altLang="en-US" sz="2000" dirty="0">
                <a:latin typeface="Times New Roman" panose="02020603050405020304" pitchFamily="18" charset="0"/>
                <a:cs typeface="Times New Roman" panose="02020603050405020304" pitchFamily="18" charset="0"/>
              </a:rPr>
              <a:t>    break;</a:t>
            </a:r>
          </a:p>
          <a:p>
            <a:r>
              <a:rPr lang="en-IN" altLang="en-US" sz="2000" dirty="0">
                <a:latin typeface="Times New Roman" panose="02020603050405020304" pitchFamily="18" charset="0"/>
                <a:cs typeface="Times New Roman" panose="02020603050405020304" pitchFamily="18" charset="0"/>
              </a:rPr>
              <a:t> case '/':</a:t>
            </a:r>
          </a:p>
          <a:p>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printf</a:t>
            </a:r>
            <a:r>
              <a:rPr lang="en-IN" altLang="en-US" sz="2000" dirty="0">
                <a:latin typeface="Times New Roman" panose="02020603050405020304" pitchFamily="18" charset="0"/>
                <a:cs typeface="Times New Roman" panose="02020603050405020304" pitchFamily="18" charset="0"/>
              </a:rPr>
              <a:t>("%d / %d = %d",n1, n2, n1/n2);</a:t>
            </a:r>
          </a:p>
          <a:p>
            <a:r>
              <a:rPr lang="en-IN" altLang="en-US" sz="2000" dirty="0">
                <a:latin typeface="Times New Roman" panose="02020603050405020304" pitchFamily="18" charset="0"/>
                <a:cs typeface="Times New Roman" panose="02020603050405020304" pitchFamily="18" charset="0"/>
              </a:rPr>
              <a:t>    break;</a:t>
            </a:r>
          </a:p>
          <a:p>
            <a:r>
              <a:rPr lang="en-IN" altLang="en-US" sz="2000" dirty="0">
                <a:latin typeface="Times New Roman" panose="02020603050405020304" pitchFamily="18" charset="0"/>
                <a:cs typeface="Times New Roman" panose="02020603050405020304" pitchFamily="18" charset="0"/>
              </a:rPr>
              <a:t>  default:</a:t>
            </a:r>
          </a:p>
          <a:p>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printf</a:t>
            </a:r>
            <a:r>
              <a:rPr lang="en-IN" altLang="en-US" sz="2000" dirty="0">
                <a:latin typeface="Times New Roman" panose="02020603050405020304" pitchFamily="18" charset="0"/>
                <a:cs typeface="Times New Roman" panose="02020603050405020304" pitchFamily="18" charset="0"/>
              </a:rPr>
              <a:t>("Error! operator is not correct");</a:t>
            </a:r>
          </a:p>
          <a:p>
            <a:r>
              <a:rPr lang="en-IN" altLang="en-US" sz="2000" dirty="0">
                <a:latin typeface="Times New Roman" panose="02020603050405020304" pitchFamily="18" charset="0"/>
                <a:cs typeface="Times New Roman" panose="02020603050405020304" pitchFamily="18" charset="0"/>
              </a:rPr>
              <a:t>    }</a:t>
            </a:r>
          </a:p>
          <a:p>
            <a:r>
              <a:rPr lang="en-IN" altLang="en-US" sz="2000" dirty="0">
                <a:latin typeface="Times New Roman" panose="02020603050405020304" pitchFamily="18" charset="0"/>
                <a:cs typeface="Times New Roman" panose="02020603050405020304" pitchFamily="18" charset="0"/>
              </a:rPr>
              <a:t>    return 0;</a:t>
            </a:r>
          </a:p>
          <a:p>
            <a:r>
              <a:rPr lang="en-IN" altLang="en-US" sz="2000" dirty="0">
                <a:latin typeface="Times New Roman" panose="02020603050405020304" pitchFamily="18" charset="0"/>
                <a:cs typeface="Times New Roman" panose="02020603050405020304" pitchFamily="18" charset="0"/>
              </a:rPr>
              <a:t>}</a:t>
            </a:r>
            <a:endParaRPr lang="en-IN" altLang="en-US" sz="2000" dirty="0"/>
          </a:p>
        </p:txBody>
      </p:sp>
      <p:sp>
        <p:nvSpPr>
          <p:cNvPr id="2" name="Footer Placeholder 4">
            <a:extLst>
              <a:ext uri="{FF2B5EF4-FFF2-40B4-BE49-F238E27FC236}">
                <a16:creationId xmlns:a16="http://schemas.microsoft.com/office/drawing/2014/main" id="{0BA644D3-D523-401A-24DF-241B3D910DD7}"/>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606A971F-CA1A-5DB3-F78E-541427507410}"/>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40</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127621B9-0C21-B040-8FD1-A0C262031F60}"/>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ustomShape 3">
            <a:extLst>
              <a:ext uri="{FF2B5EF4-FFF2-40B4-BE49-F238E27FC236}">
                <a16:creationId xmlns:a16="http://schemas.microsoft.com/office/drawing/2014/main" id="{CE30A8E7-CAE7-C9FA-80AE-A68C5F6E572D}"/>
              </a:ext>
            </a:extLst>
          </p:cNvPr>
          <p:cNvSpPr>
            <a:spLocks noChangeArrowheads="1"/>
          </p:cNvSpPr>
          <p:nvPr/>
        </p:nvSpPr>
        <p:spPr bwMode="auto">
          <a:xfrm>
            <a:off x="935420" y="117923"/>
            <a:ext cx="9144000" cy="568775"/>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Iterative Statements/ Loops</a:t>
            </a:r>
          </a:p>
        </p:txBody>
      </p:sp>
      <p:sp>
        <p:nvSpPr>
          <p:cNvPr id="4" name="Rectangle 3">
            <a:extLst>
              <a:ext uri="{FF2B5EF4-FFF2-40B4-BE49-F238E27FC236}">
                <a16:creationId xmlns:a16="http://schemas.microsoft.com/office/drawing/2014/main" id="{C7304585-8B54-3F02-7B70-0C0A25B4C4A8}"/>
              </a:ext>
            </a:extLst>
          </p:cNvPr>
          <p:cNvSpPr/>
          <p:nvPr/>
        </p:nvSpPr>
        <p:spPr>
          <a:xfrm>
            <a:off x="843346" y="1127348"/>
            <a:ext cx="10024351" cy="4524315"/>
          </a:xfrm>
          <a:prstGeom prst="rect">
            <a:avLst/>
          </a:prstGeom>
        </p:spPr>
        <p:txBody>
          <a:bodyPr wrap="square">
            <a:spAutoFit/>
          </a:bodyPr>
          <a:lstStyle/>
          <a:p>
            <a:pPr algn="just">
              <a:defRPr/>
            </a:pPr>
            <a:r>
              <a:rPr lang="en-IN" sz="2400" dirty="0">
                <a:latin typeface="Times New Roman" panose="02020603050405020304" pitchFamily="18" charset="0"/>
                <a:cs typeface="Times New Roman" panose="02020603050405020304" pitchFamily="18" charset="0"/>
              </a:rPr>
              <a:t>A loop is used to repeat a block of code until the specified condition is met. Using loops we do not need to write the same code again and again.</a:t>
            </a:r>
          </a:p>
          <a:p>
            <a:pPr algn="just">
              <a:defRPr/>
            </a:pPr>
            <a:endParaRPr lang="en-IN" sz="2400" dirty="0">
              <a:latin typeface="Times New Roman" panose="02020603050405020304" pitchFamily="18" charset="0"/>
              <a:cs typeface="Times New Roman" panose="02020603050405020304" pitchFamily="18" charset="0"/>
            </a:endParaRPr>
          </a:p>
          <a:p>
            <a:pPr algn="just">
              <a:defRPr/>
            </a:pPr>
            <a:r>
              <a:rPr lang="en-IN" sz="2400" dirty="0">
                <a:latin typeface="Times New Roman" panose="02020603050405020304" pitchFamily="18" charset="0"/>
                <a:cs typeface="Times New Roman" panose="02020603050405020304" pitchFamily="18" charset="0"/>
              </a:rPr>
              <a:t>C programming has three types of loops:</a:t>
            </a:r>
          </a:p>
          <a:p>
            <a:pPr marL="342900" indent="-342900" algn="just">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while loop</a:t>
            </a:r>
          </a:p>
          <a:p>
            <a:pPr marL="342900" indent="-342900" algn="just">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do...while loop</a:t>
            </a:r>
          </a:p>
          <a:p>
            <a:pPr marL="342900" indent="-342900" algn="just">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for loop</a:t>
            </a:r>
          </a:p>
          <a:p>
            <a:pPr algn="just">
              <a:defRPr/>
            </a:pPr>
            <a:endParaRPr lang="en-IN" sz="2400" dirty="0">
              <a:latin typeface="Times New Roman" panose="02020603050405020304" pitchFamily="18" charset="0"/>
              <a:cs typeface="Times New Roman" panose="02020603050405020304" pitchFamily="18" charset="0"/>
            </a:endParaRPr>
          </a:p>
          <a:p>
            <a:pPr algn="just">
              <a:defRPr/>
            </a:pPr>
            <a:r>
              <a:rPr lang="en-IN" sz="2400" dirty="0">
                <a:latin typeface="Times New Roman" panose="02020603050405020304" pitchFamily="18" charset="0"/>
                <a:cs typeface="Times New Roman" panose="02020603050405020304" pitchFamily="18" charset="0"/>
              </a:rPr>
              <a:t>These loops controlled either at entry level or at exit level hence loops can be controlled two ways:</a:t>
            </a:r>
          </a:p>
          <a:p>
            <a:pPr>
              <a:buFont typeface="+mj-lt"/>
              <a:buAutoNum type="arabicPeriod"/>
              <a:defRPr/>
            </a:pPr>
            <a:r>
              <a:rPr lang="en-IN" sz="2400" dirty="0">
                <a:latin typeface="Times New Roman" panose="02020603050405020304" pitchFamily="18" charset="0"/>
                <a:cs typeface="Times New Roman" panose="02020603050405020304" pitchFamily="18" charset="0"/>
              </a:rPr>
              <a:t>Entry Controlled Loop</a:t>
            </a:r>
          </a:p>
          <a:p>
            <a:pPr>
              <a:buFont typeface="+mj-lt"/>
              <a:buAutoNum type="arabicPeriod"/>
              <a:defRPr/>
            </a:pPr>
            <a:r>
              <a:rPr lang="en-IN" sz="2400" dirty="0">
                <a:latin typeface="Times New Roman" panose="02020603050405020304" pitchFamily="18" charset="0"/>
                <a:cs typeface="Times New Roman" panose="02020603050405020304" pitchFamily="18" charset="0"/>
              </a:rPr>
              <a:t>Exit Controlled Loop</a:t>
            </a:r>
          </a:p>
        </p:txBody>
      </p:sp>
      <p:sp>
        <p:nvSpPr>
          <p:cNvPr id="2" name="Footer Placeholder 4">
            <a:extLst>
              <a:ext uri="{FF2B5EF4-FFF2-40B4-BE49-F238E27FC236}">
                <a16:creationId xmlns:a16="http://schemas.microsoft.com/office/drawing/2014/main" id="{2613F1C7-B9D2-2D56-0883-75CB0298CDC6}"/>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0E4877E5-92B8-F30C-123F-42C618B8E4FF}"/>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41</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10F3F8B-6137-8B2A-26AF-CA56B53E8323}"/>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ustomShape 3">
            <a:extLst>
              <a:ext uri="{FF2B5EF4-FFF2-40B4-BE49-F238E27FC236}">
                <a16:creationId xmlns:a16="http://schemas.microsoft.com/office/drawing/2014/main" id="{52B15C34-078F-C9F4-1356-A4A4B1E2566D}"/>
              </a:ext>
            </a:extLst>
          </p:cNvPr>
          <p:cNvSpPr>
            <a:spLocks noChangeArrowheads="1"/>
          </p:cNvSpPr>
          <p:nvPr/>
        </p:nvSpPr>
        <p:spPr bwMode="auto">
          <a:xfrm>
            <a:off x="168167" y="63610"/>
            <a:ext cx="11824136" cy="533718"/>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Iterative Statements/ Loops</a:t>
            </a:r>
          </a:p>
        </p:txBody>
      </p:sp>
      <p:sp>
        <p:nvSpPr>
          <p:cNvPr id="19460" name="TextBox 9">
            <a:extLst>
              <a:ext uri="{FF2B5EF4-FFF2-40B4-BE49-F238E27FC236}">
                <a16:creationId xmlns:a16="http://schemas.microsoft.com/office/drawing/2014/main" id="{1EAE5724-0910-BA6F-FD7D-B0780D4CD6DC}"/>
              </a:ext>
            </a:extLst>
          </p:cNvPr>
          <p:cNvSpPr txBox="1">
            <a:spLocks noChangeArrowheads="1"/>
          </p:cNvSpPr>
          <p:nvPr/>
        </p:nvSpPr>
        <p:spPr bwMode="auto">
          <a:xfrm>
            <a:off x="168166" y="651642"/>
            <a:ext cx="11824137"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342900" indent="-342900" algn="just">
              <a:buFont typeface="Wingdings" panose="05000000000000000000" pitchFamily="2" charset="2"/>
              <a:buChar char="§"/>
            </a:pPr>
            <a:r>
              <a:rPr lang="en-IN" altLang="en-US" sz="2400" b="1" dirty="0">
                <a:solidFill>
                  <a:srgbClr val="FF0000"/>
                </a:solidFill>
                <a:latin typeface="+mn-lt"/>
                <a:cs typeface="Times New Roman" panose="02020603050405020304" pitchFamily="18" charset="0"/>
              </a:rPr>
              <a:t>Entry Controlled Loop</a:t>
            </a:r>
          </a:p>
          <a:p>
            <a:r>
              <a:rPr lang="en-US" sz="2400" dirty="0">
                <a:latin typeface="+mn-lt"/>
              </a:rPr>
              <a:t>     A loop in which the condition is checked before executing the loop body is called an    entry Controlled Loop.</a:t>
            </a:r>
          </a:p>
          <a:p>
            <a:r>
              <a:rPr lang="en-US" sz="2400" dirty="0">
                <a:latin typeface="+mn-lt"/>
              </a:rPr>
              <a:t>     </a:t>
            </a:r>
            <a:r>
              <a:rPr lang="en-US" sz="2400" b="1" dirty="0">
                <a:latin typeface="+mn-lt"/>
              </a:rPr>
              <a:t>Examples:</a:t>
            </a:r>
            <a:r>
              <a:rPr lang="en-US" sz="2400" dirty="0">
                <a:latin typeface="+mn-lt"/>
              </a:rPr>
              <a:t> </a:t>
            </a:r>
            <a:r>
              <a:rPr lang="en-US" dirty="0">
                <a:latin typeface="+mn-lt"/>
              </a:rPr>
              <a:t>while</a:t>
            </a:r>
            <a:r>
              <a:rPr lang="en-US" sz="2400" dirty="0">
                <a:latin typeface="+mn-lt"/>
              </a:rPr>
              <a:t> loop, </a:t>
            </a:r>
            <a:r>
              <a:rPr lang="en-US" dirty="0">
                <a:latin typeface="+mn-lt"/>
              </a:rPr>
              <a:t>for</a:t>
            </a:r>
            <a:r>
              <a:rPr lang="en-US" sz="2400" dirty="0">
                <a:latin typeface="+mn-lt"/>
              </a:rPr>
              <a:t> loop</a:t>
            </a:r>
          </a:p>
          <a:p>
            <a:pPr marL="342900" indent="-342900" algn="just">
              <a:buFont typeface="Wingdings" panose="05000000000000000000" pitchFamily="2" charset="2"/>
              <a:buChar char="§"/>
            </a:pPr>
            <a:r>
              <a:rPr lang="en-IN" altLang="en-US" sz="2400" b="1" dirty="0">
                <a:solidFill>
                  <a:srgbClr val="FF0000"/>
                </a:solidFill>
                <a:latin typeface="+mn-lt"/>
                <a:cs typeface="Times New Roman" panose="02020603050405020304" pitchFamily="18" charset="0"/>
              </a:rPr>
              <a:t>Exit Controlled Loop</a:t>
            </a:r>
          </a:p>
          <a:p>
            <a:pPr algn="just"/>
            <a:r>
              <a:rPr lang="en-IN" sz="2400" b="1" dirty="0">
                <a:solidFill>
                  <a:srgbClr val="222222"/>
                </a:solidFill>
                <a:latin typeface="+mn-lt"/>
                <a:cs typeface="Times New Roman" panose="02020603050405020304" pitchFamily="18" charset="0"/>
              </a:rPr>
              <a:t>      </a:t>
            </a:r>
            <a:r>
              <a:rPr lang="en-US" sz="2400" dirty="0">
                <a:latin typeface="+mn-lt"/>
              </a:rPr>
              <a:t>A loop in which the condition is checked after executing the loop body is called an               	exit Controlled Loop.</a:t>
            </a:r>
          </a:p>
          <a:p>
            <a:r>
              <a:rPr lang="en-US" sz="2400" b="1" dirty="0">
                <a:latin typeface="+mn-lt"/>
              </a:rPr>
              <a:t>Example:</a:t>
            </a:r>
            <a:r>
              <a:rPr lang="en-US" sz="2400" dirty="0">
                <a:latin typeface="+mn-lt"/>
              </a:rPr>
              <a:t> </a:t>
            </a:r>
            <a:r>
              <a:rPr lang="en-US" dirty="0">
                <a:latin typeface="+mn-lt"/>
              </a:rPr>
              <a:t>do-while</a:t>
            </a:r>
            <a:r>
              <a:rPr lang="en-US" sz="2400" dirty="0">
                <a:latin typeface="+mn-lt"/>
              </a:rPr>
              <a:t> loop</a:t>
            </a:r>
          </a:p>
          <a:p>
            <a:pPr algn="just"/>
            <a:endParaRPr lang="en-IN" altLang="en-US" sz="2400" b="1" dirty="0">
              <a:solidFill>
                <a:srgbClr val="222222"/>
              </a:solidFill>
              <a:latin typeface="Times New Roman" panose="02020603050405020304" pitchFamily="18" charset="0"/>
              <a:cs typeface="Times New Roman" panose="02020603050405020304" pitchFamily="18" charset="0"/>
            </a:endParaRPr>
          </a:p>
        </p:txBody>
      </p:sp>
      <p:sp>
        <p:nvSpPr>
          <p:cNvPr id="2" name="Footer Placeholder 4">
            <a:extLst>
              <a:ext uri="{FF2B5EF4-FFF2-40B4-BE49-F238E27FC236}">
                <a16:creationId xmlns:a16="http://schemas.microsoft.com/office/drawing/2014/main" id="{9B07A2D3-FD53-88C6-DCE0-3662A12A26BE}"/>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32E5E1C9-B766-BCFD-6900-F712436832CF}"/>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42</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AC6F3A13-4909-D37C-5A20-3EB8FEE3020B}"/>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6" name="Picture 5">
            <a:extLst>
              <a:ext uri="{FF2B5EF4-FFF2-40B4-BE49-F238E27FC236}">
                <a16:creationId xmlns:a16="http://schemas.microsoft.com/office/drawing/2014/main" id="{AEB7156A-A82B-808B-2857-68911BDBC4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5555" y="3749414"/>
            <a:ext cx="8528113" cy="262553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ustomShape 3">
            <a:extLst>
              <a:ext uri="{FF2B5EF4-FFF2-40B4-BE49-F238E27FC236}">
                <a16:creationId xmlns:a16="http://schemas.microsoft.com/office/drawing/2014/main" id="{8FE4C6AA-F92D-50C2-8335-887CEC5CA9B7}"/>
              </a:ext>
            </a:extLst>
          </p:cNvPr>
          <p:cNvSpPr>
            <a:spLocks noChangeArrowheads="1"/>
          </p:cNvSpPr>
          <p:nvPr/>
        </p:nvSpPr>
        <p:spPr bwMode="auto">
          <a:xfrm>
            <a:off x="217865" y="254558"/>
            <a:ext cx="11356875" cy="630620"/>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Times New Roman" panose="02020603050405020304" pitchFamily="18" charset="0"/>
                <a:cs typeface="Times New Roman" panose="02020603050405020304" pitchFamily="18" charset="0"/>
              </a:rPr>
              <a:t>While Loop</a:t>
            </a:r>
          </a:p>
        </p:txBody>
      </p:sp>
      <p:sp>
        <p:nvSpPr>
          <p:cNvPr id="20483" name="Rectangle 3">
            <a:extLst>
              <a:ext uri="{FF2B5EF4-FFF2-40B4-BE49-F238E27FC236}">
                <a16:creationId xmlns:a16="http://schemas.microsoft.com/office/drawing/2014/main" id="{DA4DB1AE-EDA8-1C17-A7E6-A55662CE2EC8}"/>
              </a:ext>
            </a:extLst>
          </p:cNvPr>
          <p:cNvSpPr>
            <a:spLocks noChangeArrowheads="1"/>
          </p:cNvSpPr>
          <p:nvPr/>
        </p:nvSpPr>
        <p:spPr bwMode="auto">
          <a:xfrm>
            <a:off x="309161" y="1372860"/>
            <a:ext cx="11356874"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lvl="0" algn="just">
              <a:buFont typeface="Wingdings" panose="05000000000000000000" pitchFamily="2" charset="2"/>
              <a:buChar char="§"/>
            </a:pPr>
            <a:r>
              <a:rPr lang="en-US" sz="3200" dirty="0">
                <a:latin typeface="+mn-lt"/>
              </a:rPr>
              <a:t>The </a:t>
            </a:r>
            <a:r>
              <a:rPr lang="en-US" sz="3200" b="1" dirty="0">
                <a:latin typeface="+mn-lt"/>
              </a:rPr>
              <a:t>while loop</a:t>
            </a:r>
            <a:r>
              <a:rPr lang="en-US" sz="3200" dirty="0">
                <a:latin typeface="+mn-lt"/>
              </a:rPr>
              <a:t> is an </a:t>
            </a:r>
            <a:r>
              <a:rPr lang="en-US" sz="3200" b="1" dirty="0">
                <a:latin typeface="+mn-lt"/>
              </a:rPr>
              <a:t>Entry-Controlled Loop</a:t>
            </a:r>
            <a:r>
              <a:rPr lang="en-US" sz="3200" dirty="0">
                <a:latin typeface="+mn-lt"/>
              </a:rPr>
              <a:t> or </a:t>
            </a:r>
            <a:r>
              <a:rPr lang="en-US" sz="3200" b="1" dirty="0">
                <a:latin typeface="+mn-lt"/>
              </a:rPr>
              <a:t>Pre-Test Loop</a:t>
            </a:r>
            <a:r>
              <a:rPr lang="en-US" sz="3200" dirty="0">
                <a:latin typeface="+mn-lt"/>
              </a:rPr>
              <a:t>. </a:t>
            </a:r>
          </a:p>
          <a:p>
            <a:pPr lvl="0" algn="just">
              <a:buFont typeface="Wingdings" panose="05000000000000000000" pitchFamily="2" charset="2"/>
              <a:buChar char="§"/>
            </a:pPr>
            <a:r>
              <a:rPr lang="en-US" sz="3200" dirty="0">
                <a:latin typeface="+mn-lt"/>
              </a:rPr>
              <a:t>It checks the </a:t>
            </a:r>
            <a:r>
              <a:rPr lang="en-US" sz="3200" b="1" dirty="0">
                <a:latin typeface="+mn-lt"/>
              </a:rPr>
              <a:t>condition before</a:t>
            </a:r>
            <a:r>
              <a:rPr lang="en-US" sz="3200" dirty="0">
                <a:latin typeface="+mn-lt"/>
              </a:rPr>
              <a:t> executing the loop body. </a:t>
            </a:r>
          </a:p>
          <a:p>
            <a:pPr lvl="0" algn="just">
              <a:buFont typeface="Wingdings" panose="05000000000000000000" pitchFamily="2" charset="2"/>
              <a:buChar char="§"/>
            </a:pPr>
            <a:r>
              <a:rPr lang="en-US" sz="3200" dirty="0">
                <a:latin typeface="+mn-lt"/>
              </a:rPr>
              <a:t>If the condition is </a:t>
            </a:r>
            <a:r>
              <a:rPr lang="en-US" sz="3200" b="1" dirty="0">
                <a:latin typeface="+mn-lt"/>
              </a:rPr>
              <a:t>true</a:t>
            </a:r>
            <a:r>
              <a:rPr lang="en-US" sz="3200" dirty="0">
                <a:latin typeface="+mn-lt"/>
              </a:rPr>
              <a:t>, the statements inside the loop are executed. </a:t>
            </a:r>
          </a:p>
          <a:p>
            <a:pPr lvl="0" algn="just">
              <a:buFont typeface="Wingdings" panose="05000000000000000000" pitchFamily="2" charset="2"/>
              <a:buChar char="§"/>
            </a:pPr>
            <a:r>
              <a:rPr lang="en-US" sz="3200" dirty="0">
                <a:latin typeface="+mn-lt"/>
              </a:rPr>
              <a:t>After execution, the condition is checked again. </a:t>
            </a:r>
          </a:p>
          <a:p>
            <a:pPr lvl="0" algn="just">
              <a:buFont typeface="Wingdings" panose="05000000000000000000" pitchFamily="2" charset="2"/>
              <a:buChar char="§"/>
            </a:pPr>
            <a:r>
              <a:rPr lang="en-US" sz="3200" dirty="0">
                <a:latin typeface="+mn-lt"/>
              </a:rPr>
              <a:t>This process continues until the condition becomes </a:t>
            </a:r>
            <a:r>
              <a:rPr lang="en-US" sz="3200" b="1" dirty="0">
                <a:latin typeface="+mn-lt"/>
              </a:rPr>
              <a:t>false</a:t>
            </a:r>
            <a:r>
              <a:rPr lang="en-US" sz="3200" dirty="0">
                <a:latin typeface="+mn-lt"/>
              </a:rPr>
              <a:t>. </a:t>
            </a:r>
          </a:p>
          <a:p>
            <a:pPr lvl="0" algn="just">
              <a:buFont typeface="Wingdings" panose="05000000000000000000" pitchFamily="2" charset="2"/>
              <a:buChar char="§"/>
            </a:pPr>
            <a:r>
              <a:rPr lang="en-US" sz="3200" dirty="0">
                <a:latin typeface="+mn-lt"/>
              </a:rPr>
              <a:t>If the condition is </a:t>
            </a:r>
            <a:r>
              <a:rPr lang="en-US" sz="3200" b="1" dirty="0">
                <a:latin typeface="+mn-lt"/>
              </a:rPr>
              <a:t>false initially</a:t>
            </a:r>
            <a:r>
              <a:rPr lang="en-US" sz="3200" dirty="0">
                <a:latin typeface="+mn-lt"/>
              </a:rPr>
              <a:t>, the loop body is </a:t>
            </a:r>
            <a:r>
              <a:rPr lang="en-US" sz="3200" b="1" dirty="0">
                <a:latin typeface="+mn-lt"/>
              </a:rPr>
              <a:t>not executed</a:t>
            </a:r>
            <a:r>
              <a:rPr lang="en-US" sz="3200" dirty="0">
                <a:latin typeface="+mn-lt"/>
              </a:rPr>
              <a:t>.</a:t>
            </a:r>
          </a:p>
        </p:txBody>
      </p:sp>
      <p:sp>
        <p:nvSpPr>
          <p:cNvPr id="2" name="Footer Placeholder 4">
            <a:extLst>
              <a:ext uri="{FF2B5EF4-FFF2-40B4-BE49-F238E27FC236}">
                <a16:creationId xmlns:a16="http://schemas.microsoft.com/office/drawing/2014/main" id="{202CAC49-90F0-F97C-ADD9-5A4194FEE8A7}"/>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B644F05B-6BF9-FF80-D549-B4FDE6BA0472}"/>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43</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9F63F390-F11E-3A30-28CA-EAC74C0F1CFB}"/>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ustomShape 3">
            <a:extLst>
              <a:ext uri="{FF2B5EF4-FFF2-40B4-BE49-F238E27FC236}">
                <a16:creationId xmlns:a16="http://schemas.microsoft.com/office/drawing/2014/main" id="{1649F080-442E-DF50-5360-3EFB8538C7E5}"/>
              </a:ext>
            </a:extLst>
          </p:cNvPr>
          <p:cNvSpPr>
            <a:spLocks noChangeArrowheads="1"/>
          </p:cNvSpPr>
          <p:nvPr/>
        </p:nvSpPr>
        <p:spPr bwMode="auto">
          <a:xfrm>
            <a:off x="236483" y="117923"/>
            <a:ext cx="11719034" cy="672662"/>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While Loop</a:t>
            </a:r>
          </a:p>
        </p:txBody>
      </p:sp>
      <p:sp>
        <p:nvSpPr>
          <p:cNvPr id="21507" name="Rectangle 3">
            <a:extLst>
              <a:ext uri="{FF2B5EF4-FFF2-40B4-BE49-F238E27FC236}">
                <a16:creationId xmlns:a16="http://schemas.microsoft.com/office/drawing/2014/main" id="{EEF5D760-DA29-1A10-6284-A61455C36544}"/>
              </a:ext>
            </a:extLst>
          </p:cNvPr>
          <p:cNvSpPr>
            <a:spLocks noChangeArrowheads="1"/>
          </p:cNvSpPr>
          <p:nvPr/>
        </p:nvSpPr>
        <p:spPr bwMode="auto">
          <a:xfrm>
            <a:off x="589729" y="1496959"/>
            <a:ext cx="3429000" cy="2797175"/>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IN" altLang="en-US" sz="2400" b="1" dirty="0">
                <a:latin typeface="Times New Roman" panose="02020603050405020304" pitchFamily="18" charset="0"/>
                <a:cs typeface="Times New Roman" panose="02020603050405020304" pitchFamily="18" charset="0"/>
              </a:rPr>
              <a:t>Syntax:</a:t>
            </a:r>
          </a:p>
          <a:p>
            <a:pPr algn="just">
              <a:lnSpc>
                <a:spcPct val="150000"/>
              </a:lnSpc>
            </a:pPr>
            <a:r>
              <a:rPr lang="en-IN" altLang="en-US" sz="2400" dirty="0">
                <a:latin typeface="Times New Roman" panose="02020603050405020304" pitchFamily="18" charset="0"/>
                <a:cs typeface="Times New Roman" panose="02020603050405020304" pitchFamily="18" charset="0"/>
              </a:rPr>
              <a:t>while (condition) </a:t>
            </a:r>
          </a:p>
          <a:p>
            <a:pPr algn="just">
              <a:lnSpc>
                <a:spcPct val="150000"/>
              </a:lnSpc>
            </a:pPr>
            <a:r>
              <a:rPr lang="en-IN" altLang="en-US" sz="2400" dirty="0">
                <a:latin typeface="Times New Roman" panose="02020603050405020304" pitchFamily="18" charset="0"/>
                <a:cs typeface="Times New Roman" panose="02020603050405020304" pitchFamily="18" charset="0"/>
              </a:rPr>
              <a:t>{</a:t>
            </a:r>
          </a:p>
          <a:p>
            <a:pPr algn="just">
              <a:lnSpc>
                <a:spcPct val="150000"/>
              </a:lnSpc>
            </a:pPr>
            <a:r>
              <a:rPr lang="en-IN" altLang="en-US" sz="2400" dirty="0">
                <a:latin typeface="Times New Roman" panose="02020603050405020304" pitchFamily="18" charset="0"/>
                <a:cs typeface="Times New Roman" panose="02020603050405020304" pitchFamily="18" charset="0"/>
              </a:rPr>
              <a:t>    // body of the loop </a:t>
            </a:r>
          </a:p>
          <a:p>
            <a:pPr algn="just">
              <a:lnSpc>
                <a:spcPct val="150000"/>
              </a:lnSpc>
            </a:pPr>
            <a:r>
              <a:rPr lang="en-IN" altLang="en-US" sz="2400" dirty="0">
                <a:latin typeface="Times New Roman" panose="02020603050405020304" pitchFamily="18" charset="0"/>
                <a:cs typeface="Times New Roman" panose="02020603050405020304" pitchFamily="18" charset="0"/>
              </a:rPr>
              <a:t>}</a:t>
            </a:r>
          </a:p>
        </p:txBody>
      </p:sp>
      <p:sp>
        <p:nvSpPr>
          <p:cNvPr id="2" name="Footer Placeholder 4">
            <a:extLst>
              <a:ext uri="{FF2B5EF4-FFF2-40B4-BE49-F238E27FC236}">
                <a16:creationId xmlns:a16="http://schemas.microsoft.com/office/drawing/2014/main" id="{8D387AA7-41DB-9E00-4C7B-BF1FCC1A5F0D}"/>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0948811E-B26E-1BC1-F1A6-2AB7AFEB79DB}"/>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44</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6B5CB032-17DB-9514-5DE0-D19E7E62B4AB}"/>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solidFill>
                  <a:srgbClr val="0617BA"/>
                </a:solidFill>
                <a:latin typeface="Calibri" panose="020F0502020204030204" pitchFamily="34" charset="0"/>
                <a:cs typeface="Calibri" panose="020F0502020204030204" pitchFamily="34" charset="0"/>
              </a:rPr>
              <a:t>Department of CSE </a:t>
            </a:r>
          </a:p>
        </p:txBody>
      </p:sp>
      <p:pic>
        <p:nvPicPr>
          <p:cNvPr id="6" name="Picture 5">
            <a:extLst>
              <a:ext uri="{FF2B5EF4-FFF2-40B4-BE49-F238E27FC236}">
                <a16:creationId xmlns:a16="http://schemas.microsoft.com/office/drawing/2014/main" id="{4AABFF19-BBF8-A63E-1B85-020C358FD8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6094" y="1090449"/>
            <a:ext cx="4628527" cy="390196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ustomShape 3">
            <a:extLst>
              <a:ext uri="{FF2B5EF4-FFF2-40B4-BE49-F238E27FC236}">
                <a16:creationId xmlns:a16="http://schemas.microsoft.com/office/drawing/2014/main" id="{C74A8F4B-E055-5E42-8CFA-3B0CA73AD329}"/>
              </a:ext>
            </a:extLst>
          </p:cNvPr>
          <p:cNvSpPr>
            <a:spLocks noChangeArrowheads="1"/>
          </p:cNvSpPr>
          <p:nvPr/>
        </p:nvSpPr>
        <p:spPr bwMode="auto">
          <a:xfrm>
            <a:off x="89211" y="117923"/>
            <a:ext cx="11771586" cy="628312"/>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While Loop-Example</a:t>
            </a:r>
          </a:p>
        </p:txBody>
      </p:sp>
      <p:sp>
        <p:nvSpPr>
          <p:cNvPr id="22531" name="Rectangle 3">
            <a:extLst>
              <a:ext uri="{FF2B5EF4-FFF2-40B4-BE49-F238E27FC236}">
                <a16:creationId xmlns:a16="http://schemas.microsoft.com/office/drawing/2014/main" id="{D30E4584-C9B9-602E-94EC-BCAF9D4162B5}"/>
              </a:ext>
            </a:extLst>
          </p:cNvPr>
          <p:cNvSpPr>
            <a:spLocks noChangeArrowheads="1"/>
          </p:cNvSpPr>
          <p:nvPr/>
        </p:nvSpPr>
        <p:spPr bwMode="auto">
          <a:xfrm>
            <a:off x="359869" y="1026019"/>
            <a:ext cx="87185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b="1" dirty="0">
                <a:latin typeface="+mn-lt"/>
                <a:cs typeface="Times New Roman" panose="02020603050405020304" pitchFamily="18" charset="0"/>
              </a:rPr>
              <a:t>// Print numbers from 1 to 5</a:t>
            </a:r>
          </a:p>
          <a:p>
            <a:pPr algn="just"/>
            <a:r>
              <a:rPr lang="en-IN" altLang="en-US" sz="2400" dirty="0">
                <a:latin typeface="+mn-lt"/>
                <a:cs typeface="Times New Roman" panose="02020603050405020304" pitchFamily="18" charset="0"/>
              </a:rPr>
              <a:t>#include &lt;</a:t>
            </a:r>
            <a:r>
              <a:rPr lang="en-IN" altLang="en-US" sz="2400" dirty="0" err="1">
                <a:latin typeface="+mn-lt"/>
                <a:cs typeface="Times New Roman" panose="02020603050405020304" pitchFamily="18" charset="0"/>
              </a:rPr>
              <a:t>stdio.h</a:t>
            </a:r>
            <a:r>
              <a:rPr lang="en-IN" altLang="en-US" sz="2400" dirty="0">
                <a:latin typeface="+mn-lt"/>
                <a:cs typeface="Times New Roman" panose="02020603050405020304" pitchFamily="18" charset="0"/>
              </a:rPr>
              <a:t>&gt;</a:t>
            </a:r>
          </a:p>
          <a:p>
            <a:pPr algn="just"/>
            <a:r>
              <a:rPr lang="en-IN" altLang="en-US" sz="2400" dirty="0">
                <a:latin typeface="+mn-lt"/>
                <a:cs typeface="Times New Roman" panose="02020603050405020304" pitchFamily="18" charset="0"/>
              </a:rPr>
              <a:t>int main()</a:t>
            </a:r>
          </a:p>
          <a:p>
            <a:pPr algn="just"/>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int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 = 1;</a:t>
            </a:r>
          </a:p>
          <a:p>
            <a:pPr algn="just"/>
            <a:r>
              <a:rPr lang="en-IN" altLang="en-US" sz="2400" dirty="0">
                <a:latin typeface="+mn-lt"/>
                <a:cs typeface="Times New Roman" panose="02020603050405020304" pitchFamily="18" charset="0"/>
              </a:rPr>
              <a:t>    while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 &lt;= 5)</a:t>
            </a:r>
          </a:p>
          <a:p>
            <a:pPr algn="just"/>
            <a:r>
              <a:rPr lang="en-IN" altLang="en-US" sz="2400" dirty="0">
                <a:latin typeface="+mn-lt"/>
                <a:cs typeface="Times New Roman" panose="02020603050405020304" pitchFamily="18" charset="0"/>
              </a:rPr>
              <a:t>    {</a:t>
            </a:r>
          </a:p>
          <a:p>
            <a:pPr algn="just"/>
            <a:r>
              <a:rPr lang="en-IN" altLang="en-US" sz="2400" dirty="0">
                <a:latin typeface="+mn-lt"/>
                <a:cs typeface="Times New Roman" panose="02020603050405020304" pitchFamily="18" charset="0"/>
              </a:rPr>
              <a:t>        </a:t>
            </a:r>
            <a:r>
              <a:rPr lang="en-IN" altLang="en-US" sz="2400" dirty="0" err="1">
                <a:latin typeface="+mn-lt"/>
                <a:cs typeface="Times New Roman" panose="02020603050405020304" pitchFamily="18" charset="0"/>
              </a:rPr>
              <a:t>printf</a:t>
            </a:r>
            <a:r>
              <a:rPr lang="en-IN" altLang="en-US" sz="2400" dirty="0">
                <a:latin typeface="+mn-lt"/>
                <a:cs typeface="Times New Roman" panose="02020603050405020304" pitchFamily="18" charset="0"/>
              </a:rPr>
              <a:t>("%d\n",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a:t>
            </a:r>
          </a:p>
          <a:p>
            <a:pPr algn="just"/>
            <a:r>
              <a:rPr lang="en-IN" altLang="en-US" sz="2400" dirty="0">
                <a:latin typeface="+mn-lt"/>
                <a:cs typeface="Times New Roman" panose="02020603050405020304" pitchFamily="18" charset="0"/>
              </a:rPr>
              <a:t>    return 0;</a:t>
            </a:r>
          </a:p>
          <a:p>
            <a:pPr algn="just"/>
            <a:r>
              <a:rPr lang="en-IN" altLang="en-US" sz="2400" dirty="0">
                <a:latin typeface="+mn-lt"/>
                <a:cs typeface="Times New Roman" panose="02020603050405020304" pitchFamily="18" charset="0"/>
              </a:rPr>
              <a:t>}</a:t>
            </a:r>
          </a:p>
        </p:txBody>
      </p:sp>
      <p:sp>
        <p:nvSpPr>
          <p:cNvPr id="2" name="Footer Placeholder 4">
            <a:extLst>
              <a:ext uri="{FF2B5EF4-FFF2-40B4-BE49-F238E27FC236}">
                <a16:creationId xmlns:a16="http://schemas.microsoft.com/office/drawing/2014/main" id="{64B9F200-AE30-6CEC-D451-BAE71B2A052F}"/>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EA57266A-A5D5-926E-8716-A38B110792D5}"/>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45</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BA224C4E-ACB5-E2D9-2F0A-11F963BE8D6D}"/>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ustomShape 3">
            <a:extLst>
              <a:ext uri="{FF2B5EF4-FFF2-40B4-BE49-F238E27FC236}">
                <a16:creationId xmlns:a16="http://schemas.microsoft.com/office/drawing/2014/main" id="{66A54091-17D0-DD50-B705-FB748E248552}"/>
              </a:ext>
            </a:extLst>
          </p:cNvPr>
          <p:cNvSpPr>
            <a:spLocks noChangeArrowheads="1"/>
          </p:cNvSpPr>
          <p:nvPr/>
        </p:nvSpPr>
        <p:spPr bwMode="auto">
          <a:xfrm>
            <a:off x="252248" y="117923"/>
            <a:ext cx="11687503" cy="560272"/>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do-while Loop</a:t>
            </a:r>
          </a:p>
        </p:txBody>
      </p:sp>
      <p:sp>
        <p:nvSpPr>
          <p:cNvPr id="23555" name="Rectangle 3">
            <a:extLst>
              <a:ext uri="{FF2B5EF4-FFF2-40B4-BE49-F238E27FC236}">
                <a16:creationId xmlns:a16="http://schemas.microsoft.com/office/drawing/2014/main" id="{2A1B21BE-3840-DEF1-0DA5-F60C4A927B01}"/>
              </a:ext>
            </a:extLst>
          </p:cNvPr>
          <p:cNvSpPr>
            <a:spLocks noChangeArrowheads="1"/>
          </p:cNvSpPr>
          <p:nvPr/>
        </p:nvSpPr>
        <p:spPr bwMode="auto">
          <a:xfrm>
            <a:off x="170236" y="926880"/>
            <a:ext cx="11687503" cy="359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457200" lvl="0" indent="-457200">
              <a:buFont typeface="Wingdings" panose="05000000000000000000" pitchFamily="2" charset="2"/>
              <a:buChar char="§"/>
            </a:pPr>
            <a:r>
              <a:rPr lang="en-US" sz="2800" dirty="0">
                <a:latin typeface="+mn-lt"/>
              </a:rPr>
              <a:t>The </a:t>
            </a:r>
            <a:r>
              <a:rPr lang="en-US" sz="2800" b="1" dirty="0">
                <a:latin typeface="+mn-lt"/>
              </a:rPr>
              <a:t>do-while loop</a:t>
            </a:r>
            <a:r>
              <a:rPr lang="en-US" sz="2800" dirty="0">
                <a:latin typeface="+mn-lt"/>
              </a:rPr>
              <a:t> is an </a:t>
            </a:r>
            <a:r>
              <a:rPr lang="en-US" sz="2800" b="1" dirty="0">
                <a:latin typeface="+mn-lt"/>
              </a:rPr>
              <a:t>Exit-Controlled Loop</a:t>
            </a:r>
            <a:r>
              <a:rPr lang="en-US" sz="2800" dirty="0">
                <a:latin typeface="+mn-lt"/>
              </a:rPr>
              <a:t> or </a:t>
            </a:r>
            <a:r>
              <a:rPr lang="en-US" sz="2800" b="1" dirty="0">
                <a:latin typeface="+mn-lt"/>
              </a:rPr>
              <a:t>Post-Test Loop</a:t>
            </a:r>
            <a:r>
              <a:rPr lang="en-US" sz="2800" dirty="0">
                <a:latin typeface="+mn-lt"/>
              </a:rPr>
              <a:t>. </a:t>
            </a:r>
          </a:p>
          <a:p>
            <a:pPr marL="457200" lvl="0" indent="-457200">
              <a:buFont typeface="Wingdings" panose="05000000000000000000" pitchFamily="2" charset="2"/>
              <a:buChar char="§"/>
            </a:pPr>
            <a:r>
              <a:rPr lang="en-US" sz="2800" dirty="0">
                <a:latin typeface="+mn-lt"/>
              </a:rPr>
              <a:t>The loop body is executed </a:t>
            </a:r>
            <a:r>
              <a:rPr lang="en-US" sz="2800" b="1" dirty="0">
                <a:latin typeface="+mn-lt"/>
              </a:rPr>
              <a:t>at least once</a:t>
            </a:r>
            <a:r>
              <a:rPr lang="en-US" sz="2800" dirty="0">
                <a:latin typeface="+mn-lt"/>
              </a:rPr>
              <a:t> before the condition is checked. </a:t>
            </a:r>
          </a:p>
          <a:p>
            <a:pPr marL="457200" lvl="0" indent="-457200">
              <a:buFont typeface="Wingdings" panose="05000000000000000000" pitchFamily="2" charset="2"/>
              <a:buChar char="§"/>
            </a:pPr>
            <a:r>
              <a:rPr lang="en-US" sz="2800" dirty="0">
                <a:latin typeface="+mn-lt"/>
              </a:rPr>
              <a:t>After executing the loop body, the </a:t>
            </a:r>
            <a:r>
              <a:rPr lang="en-US" sz="2800" b="1" dirty="0">
                <a:latin typeface="+mn-lt"/>
              </a:rPr>
              <a:t>condition is evaluated</a:t>
            </a:r>
            <a:r>
              <a:rPr lang="en-US" sz="2800" dirty="0">
                <a:latin typeface="+mn-lt"/>
              </a:rPr>
              <a:t>. </a:t>
            </a:r>
          </a:p>
          <a:p>
            <a:pPr marL="457200" lvl="0" indent="-457200">
              <a:buFont typeface="Wingdings" panose="05000000000000000000" pitchFamily="2" charset="2"/>
              <a:buChar char="§"/>
            </a:pPr>
            <a:r>
              <a:rPr lang="en-US" sz="2800" dirty="0">
                <a:latin typeface="+mn-lt"/>
              </a:rPr>
              <a:t>If the condition is </a:t>
            </a:r>
            <a:r>
              <a:rPr lang="en-US" sz="2800" b="1" dirty="0">
                <a:latin typeface="+mn-lt"/>
              </a:rPr>
              <a:t>true</a:t>
            </a:r>
            <a:r>
              <a:rPr lang="en-US" sz="2800" dirty="0">
                <a:latin typeface="+mn-lt"/>
              </a:rPr>
              <a:t>, the loop body executes again. </a:t>
            </a:r>
          </a:p>
          <a:p>
            <a:pPr marL="457200" lvl="0" indent="-457200">
              <a:buFont typeface="Wingdings" panose="05000000000000000000" pitchFamily="2" charset="2"/>
              <a:buChar char="§"/>
            </a:pPr>
            <a:r>
              <a:rPr lang="en-US" sz="2800" dirty="0">
                <a:latin typeface="+mn-lt"/>
              </a:rPr>
              <a:t>This process continues until the condition becomes </a:t>
            </a:r>
            <a:r>
              <a:rPr lang="en-US" sz="2800" b="1" dirty="0">
                <a:latin typeface="+mn-lt"/>
              </a:rPr>
              <a:t>false</a:t>
            </a:r>
            <a:r>
              <a:rPr lang="en-US" sz="2800" dirty="0">
                <a:latin typeface="+mn-lt"/>
              </a:rPr>
              <a:t>. </a:t>
            </a:r>
          </a:p>
          <a:p>
            <a:pPr marL="457200" lvl="0" indent="-457200">
              <a:buFont typeface="Wingdings" panose="05000000000000000000" pitchFamily="2" charset="2"/>
              <a:buChar char="§"/>
            </a:pPr>
            <a:r>
              <a:rPr lang="en-US" sz="2800" dirty="0">
                <a:latin typeface="+mn-lt"/>
              </a:rPr>
              <a:t>When the condition is </a:t>
            </a:r>
            <a:r>
              <a:rPr lang="en-US" sz="2800" b="1" dirty="0">
                <a:latin typeface="+mn-lt"/>
              </a:rPr>
              <a:t>false</a:t>
            </a:r>
            <a:r>
              <a:rPr lang="en-US" sz="2800" dirty="0">
                <a:latin typeface="+mn-lt"/>
              </a:rPr>
              <a:t>, the loop </a:t>
            </a:r>
            <a:r>
              <a:rPr lang="en-US" sz="2800" b="1" dirty="0">
                <a:latin typeface="+mn-lt"/>
              </a:rPr>
              <a:t>terminates</a:t>
            </a:r>
            <a:r>
              <a:rPr lang="en-US" sz="2800" dirty="0">
                <a:latin typeface="+mn-lt"/>
              </a:rPr>
              <a:t>.</a:t>
            </a:r>
          </a:p>
          <a:p>
            <a:pPr algn="just">
              <a:lnSpc>
                <a:spcPct val="150000"/>
              </a:lnSpc>
              <a:buFont typeface="Arial" panose="020B0604020202020204" pitchFamily="34" charset="0"/>
              <a:buChar char="•"/>
            </a:pPr>
            <a:endParaRPr lang="en-IN" altLang="en-US" sz="2400" dirty="0">
              <a:latin typeface="Times New Roman" panose="02020603050405020304" pitchFamily="18" charset="0"/>
              <a:cs typeface="Times New Roman" panose="02020603050405020304" pitchFamily="18" charset="0"/>
            </a:endParaRPr>
          </a:p>
        </p:txBody>
      </p:sp>
      <p:sp>
        <p:nvSpPr>
          <p:cNvPr id="2" name="Footer Placeholder 4">
            <a:extLst>
              <a:ext uri="{FF2B5EF4-FFF2-40B4-BE49-F238E27FC236}">
                <a16:creationId xmlns:a16="http://schemas.microsoft.com/office/drawing/2014/main" id="{C325B062-73CD-EFC7-2578-1061D47ACF5A}"/>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42896210-65BD-E95F-DE40-69BA86202A59}"/>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46</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F5A6C17E-D6B4-EA21-E2BB-EF9073AD8A15}"/>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ustomShape 3">
            <a:extLst>
              <a:ext uri="{FF2B5EF4-FFF2-40B4-BE49-F238E27FC236}">
                <a16:creationId xmlns:a16="http://schemas.microsoft.com/office/drawing/2014/main" id="{1AEDA018-BFBB-71FA-0097-330E43594083}"/>
              </a:ext>
            </a:extLst>
          </p:cNvPr>
          <p:cNvSpPr>
            <a:spLocks noChangeArrowheads="1"/>
          </p:cNvSpPr>
          <p:nvPr/>
        </p:nvSpPr>
        <p:spPr bwMode="auto">
          <a:xfrm>
            <a:off x="189185" y="117923"/>
            <a:ext cx="11655973" cy="596780"/>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do-while Loop</a:t>
            </a:r>
          </a:p>
        </p:txBody>
      </p:sp>
      <p:sp>
        <p:nvSpPr>
          <p:cNvPr id="24579" name="Rectangle 3">
            <a:extLst>
              <a:ext uri="{FF2B5EF4-FFF2-40B4-BE49-F238E27FC236}">
                <a16:creationId xmlns:a16="http://schemas.microsoft.com/office/drawing/2014/main" id="{02BDDB6E-245B-E3B7-0F0E-BAC0A704719E}"/>
              </a:ext>
            </a:extLst>
          </p:cNvPr>
          <p:cNvSpPr>
            <a:spLocks noChangeArrowheads="1"/>
          </p:cNvSpPr>
          <p:nvPr/>
        </p:nvSpPr>
        <p:spPr bwMode="auto">
          <a:xfrm>
            <a:off x="555734" y="1176057"/>
            <a:ext cx="3429000" cy="3351213"/>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lnSpc>
                <a:spcPct val="150000"/>
              </a:lnSpc>
            </a:pPr>
            <a:r>
              <a:rPr lang="en-IN" altLang="en-US" sz="2400" b="1" dirty="0">
                <a:latin typeface="Times New Roman" panose="02020603050405020304" pitchFamily="18" charset="0"/>
                <a:cs typeface="Times New Roman" panose="02020603050405020304" pitchFamily="18" charset="0"/>
              </a:rPr>
              <a:t>Syntax:</a:t>
            </a:r>
            <a:endParaRPr lang="en-IN" altLang="en-US" sz="2400" dirty="0">
              <a:latin typeface="Times New Roman" panose="02020603050405020304" pitchFamily="18" charset="0"/>
              <a:cs typeface="Times New Roman" panose="02020603050405020304" pitchFamily="18" charset="0"/>
            </a:endParaRPr>
          </a:p>
          <a:p>
            <a:pPr algn="just">
              <a:lnSpc>
                <a:spcPct val="150000"/>
              </a:lnSpc>
            </a:pPr>
            <a:r>
              <a:rPr lang="en-IN" altLang="en-US" sz="2400" dirty="0">
                <a:latin typeface="Times New Roman" panose="02020603050405020304" pitchFamily="18" charset="0"/>
                <a:cs typeface="Times New Roman" panose="02020603050405020304" pitchFamily="18" charset="0"/>
              </a:rPr>
              <a:t>do</a:t>
            </a:r>
          </a:p>
          <a:p>
            <a:pPr algn="just">
              <a:lnSpc>
                <a:spcPct val="150000"/>
              </a:lnSpc>
            </a:pPr>
            <a:r>
              <a:rPr lang="en-IN" altLang="en-US" sz="2400" dirty="0">
                <a:latin typeface="Times New Roman" panose="02020603050405020304" pitchFamily="18" charset="0"/>
                <a:cs typeface="Times New Roman" panose="02020603050405020304" pitchFamily="18" charset="0"/>
              </a:rPr>
              <a:t>{</a:t>
            </a:r>
          </a:p>
          <a:p>
            <a:pPr algn="just">
              <a:lnSpc>
                <a:spcPct val="150000"/>
              </a:lnSpc>
            </a:pPr>
            <a:r>
              <a:rPr lang="en-IN" altLang="en-US" sz="2400" dirty="0">
                <a:latin typeface="Times New Roman" panose="02020603050405020304" pitchFamily="18" charset="0"/>
                <a:cs typeface="Times New Roman" panose="02020603050405020304" pitchFamily="18" charset="0"/>
              </a:rPr>
              <a:t>   //body of the loop</a:t>
            </a:r>
          </a:p>
          <a:p>
            <a:pPr algn="just">
              <a:lnSpc>
                <a:spcPct val="150000"/>
              </a:lnSpc>
            </a:pPr>
            <a:r>
              <a:rPr lang="en-IN" altLang="en-US" sz="2400" dirty="0">
                <a:latin typeface="Times New Roman" panose="02020603050405020304" pitchFamily="18" charset="0"/>
                <a:cs typeface="Times New Roman" panose="02020603050405020304" pitchFamily="18" charset="0"/>
              </a:rPr>
              <a:t>}</a:t>
            </a:r>
          </a:p>
          <a:p>
            <a:pPr algn="just">
              <a:lnSpc>
                <a:spcPct val="150000"/>
              </a:lnSpc>
            </a:pPr>
            <a:r>
              <a:rPr lang="en-IN" altLang="en-US" sz="2400" dirty="0">
                <a:latin typeface="Times New Roman" panose="02020603050405020304" pitchFamily="18" charset="0"/>
                <a:cs typeface="Times New Roman" panose="02020603050405020304" pitchFamily="18" charset="0"/>
              </a:rPr>
              <a:t>while (</a:t>
            </a:r>
            <a:r>
              <a:rPr lang="en-IN" altLang="en-US" sz="2400" dirty="0" err="1">
                <a:latin typeface="Times New Roman" panose="02020603050405020304" pitchFamily="18" charset="0"/>
                <a:cs typeface="Times New Roman" panose="02020603050405020304" pitchFamily="18" charset="0"/>
              </a:rPr>
              <a:t>testExpression</a:t>
            </a:r>
            <a:r>
              <a:rPr lang="en-IN" altLang="en-US" sz="2400" dirty="0">
                <a:latin typeface="Times New Roman" panose="02020603050405020304" pitchFamily="18" charset="0"/>
                <a:cs typeface="Times New Roman" panose="02020603050405020304" pitchFamily="18" charset="0"/>
              </a:rPr>
              <a:t>);</a:t>
            </a:r>
          </a:p>
        </p:txBody>
      </p:sp>
      <p:sp>
        <p:nvSpPr>
          <p:cNvPr id="2" name="Footer Placeholder 4">
            <a:extLst>
              <a:ext uri="{FF2B5EF4-FFF2-40B4-BE49-F238E27FC236}">
                <a16:creationId xmlns:a16="http://schemas.microsoft.com/office/drawing/2014/main" id="{DC66B1E6-9D65-E747-BA40-2FB8EEB34D81}"/>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F6D93BBF-F6FC-EEEA-EFDA-5DF8B77B5449}"/>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47</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90504AA1-0C75-33B6-F829-E36DF54A960F}"/>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6" name="Picture 5">
            <a:extLst>
              <a:ext uri="{FF2B5EF4-FFF2-40B4-BE49-F238E27FC236}">
                <a16:creationId xmlns:a16="http://schemas.microsoft.com/office/drawing/2014/main" id="{AB803F50-2EC7-6038-640E-2017874D9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6067" y="1081463"/>
            <a:ext cx="4804471" cy="400554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ustomShape 3">
            <a:extLst>
              <a:ext uri="{FF2B5EF4-FFF2-40B4-BE49-F238E27FC236}">
                <a16:creationId xmlns:a16="http://schemas.microsoft.com/office/drawing/2014/main" id="{9AC69909-17CA-C6F8-B752-F8D875A4BB7E}"/>
              </a:ext>
            </a:extLst>
          </p:cNvPr>
          <p:cNvSpPr>
            <a:spLocks noChangeArrowheads="1"/>
          </p:cNvSpPr>
          <p:nvPr/>
        </p:nvSpPr>
        <p:spPr bwMode="auto">
          <a:xfrm>
            <a:off x="304800" y="185696"/>
            <a:ext cx="11592910" cy="620110"/>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do-while Loop-Example</a:t>
            </a:r>
          </a:p>
        </p:txBody>
      </p:sp>
      <p:sp>
        <p:nvSpPr>
          <p:cNvPr id="25603" name="Rectangle 3">
            <a:extLst>
              <a:ext uri="{FF2B5EF4-FFF2-40B4-BE49-F238E27FC236}">
                <a16:creationId xmlns:a16="http://schemas.microsoft.com/office/drawing/2014/main" id="{8FDB642C-F9FD-6ADB-1939-86ADABF6F065}"/>
              </a:ext>
            </a:extLst>
          </p:cNvPr>
          <p:cNvSpPr>
            <a:spLocks noChangeArrowheads="1"/>
          </p:cNvSpPr>
          <p:nvPr/>
        </p:nvSpPr>
        <p:spPr bwMode="auto">
          <a:xfrm>
            <a:off x="433443" y="973466"/>
            <a:ext cx="87185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dirty="0">
                <a:latin typeface="+mn-lt"/>
                <a:cs typeface="Times New Roman" panose="02020603050405020304" pitchFamily="18" charset="0"/>
              </a:rPr>
              <a:t>#include&lt;stdio.h&gt;</a:t>
            </a:r>
          </a:p>
          <a:p>
            <a:pPr algn="just"/>
            <a:endParaRPr lang="en-IN" altLang="en-US" sz="2400" dirty="0">
              <a:latin typeface="+mn-lt"/>
              <a:cs typeface="Times New Roman" panose="02020603050405020304" pitchFamily="18" charset="0"/>
            </a:endParaRPr>
          </a:p>
          <a:p>
            <a:pPr algn="just"/>
            <a:r>
              <a:rPr lang="en-IN" altLang="en-US" sz="2400" dirty="0">
                <a:latin typeface="+mn-lt"/>
                <a:cs typeface="Times New Roman" panose="02020603050405020304" pitchFamily="18" charset="0"/>
              </a:rPr>
              <a:t>void main()</a:t>
            </a:r>
          </a:p>
          <a:p>
            <a:pPr algn="just"/>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int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 = 1;</a:t>
            </a:r>
          </a:p>
          <a:p>
            <a:pPr algn="just"/>
            <a:r>
              <a:rPr lang="en-IN" altLang="en-US" sz="2400" dirty="0">
                <a:latin typeface="+mn-lt"/>
                <a:cs typeface="Times New Roman" panose="02020603050405020304" pitchFamily="18" charset="0"/>
              </a:rPr>
              <a:t>    do</a:t>
            </a:r>
          </a:p>
          <a:p>
            <a:pPr algn="just"/>
            <a:r>
              <a:rPr lang="en-IN" altLang="en-US" sz="2400" dirty="0">
                <a:latin typeface="+mn-lt"/>
                <a:cs typeface="Times New Roman" panose="02020603050405020304" pitchFamily="18" charset="0"/>
              </a:rPr>
              <a:t>    {</a:t>
            </a:r>
          </a:p>
          <a:p>
            <a:pPr algn="just"/>
            <a:r>
              <a:rPr lang="en-IN" altLang="en-US" sz="2400" dirty="0">
                <a:latin typeface="+mn-lt"/>
                <a:cs typeface="Times New Roman" panose="02020603050405020304" pitchFamily="18" charset="0"/>
              </a:rPr>
              <a:t>        </a:t>
            </a:r>
            <a:r>
              <a:rPr lang="en-IN" altLang="en-US" sz="2400" dirty="0" err="1">
                <a:latin typeface="+mn-lt"/>
                <a:cs typeface="Times New Roman" panose="02020603050405020304" pitchFamily="18" charset="0"/>
              </a:rPr>
              <a:t>printf</a:t>
            </a:r>
            <a:r>
              <a:rPr lang="en-IN" altLang="en-US" sz="2400" dirty="0">
                <a:latin typeface="+mn-lt"/>
                <a:cs typeface="Times New Roman" panose="02020603050405020304" pitchFamily="18" charset="0"/>
              </a:rPr>
              <a:t>("%d\t",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 while(</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 &lt;= 5);</a:t>
            </a:r>
          </a:p>
          <a:p>
            <a:pPr algn="just"/>
            <a:r>
              <a:rPr lang="en-IN" altLang="en-US" sz="2400" dirty="0">
                <a:latin typeface="+mn-lt"/>
                <a:cs typeface="Times New Roman" panose="02020603050405020304" pitchFamily="18" charset="0"/>
              </a:rPr>
              <a:t>}</a:t>
            </a:r>
          </a:p>
        </p:txBody>
      </p:sp>
      <p:sp>
        <p:nvSpPr>
          <p:cNvPr id="2" name="Footer Placeholder 4">
            <a:extLst>
              <a:ext uri="{FF2B5EF4-FFF2-40B4-BE49-F238E27FC236}">
                <a16:creationId xmlns:a16="http://schemas.microsoft.com/office/drawing/2014/main" id="{65E9061A-9C13-EF65-DA0D-FA4B2AF06A0F}"/>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E3FE8255-5AD1-C8B4-DCD4-19F6B104BBCD}"/>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48</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F2D7B635-EFD4-C060-67B9-6B84FEFCF4E9}"/>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ustomShape 3">
            <a:extLst>
              <a:ext uri="{FF2B5EF4-FFF2-40B4-BE49-F238E27FC236}">
                <a16:creationId xmlns:a16="http://schemas.microsoft.com/office/drawing/2014/main" id="{E062AD07-2E68-DC12-CD05-7586ED0902B7}"/>
              </a:ext>
            </a:extLst>
          </p:cNvPr>
          <p:cNvSpPr>
            <a:spLocks noChangeArrowheads="1"/>
          </p:cNvSpPr>
          <p:nvPr/>
        </p:nvSpPr>
        <p:spPr bwMode="auto">
          <a:xfrm>
            <a:off x="278397" y="204947"/>
            <a:ext cx="11514209" cy="625369"/>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for Loop</a:t>
            </a:r>
          </a:p>
        </p:txBody>
      </p:sp>
      <p:sp>
        <p:nvSpPr>
          <p:cNvPr id="26627" name="Rectangle 3">
            <a:extLst>
              <a:ext uri="{FF2B5EF4-FFF2-40B4-BE49-F238E27FC236}">
                <a16:creationId xmlns:a16="http://schemas.microsoft.com/office/drawing/2014/main" id="{3F975184-9658-AE82-A9A4-75769E0A9898}"/>
              </a:ext>
            </a:extLst>
          </p:cNvPr>
          <p:cNvSpPr>
            <a:spLocks noChangeArrowheads="1"/>
          </p:cNvSpPr>
          <p:nvPr/>
        </p:nvSpPr>
        <p:spPr bwMode="auto">
          <a:xfrm>
            <a:off x="303456" y="1478974"/>
            <a:ext cx="5596886" cy="212365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200" b="1" dirty="0">
                <a:latin typeface="Times New Roman" panose="02020603050405020304" pitchFamily="18" charset="0"/>
                <a:cs typeface="Times New Roman" panose="02020603050405020304" pitchFamily="18" charset="0"/>
              </a:rPr>
              <a:t>Syntax:</a:t>
            </a:r>
          </a:p>
          <a:p>
            <a:pPr algn="just"/>
            <a:r>
              <a:rPr lang="en-IN" altLang="en-US" sz="2200" dirty="0">
                <a:latin typeface="Times New Roman" panose="02020603050405020304" pitchFamily="18" charset="0"/>
                <a:cs typeface="Times New Roman" panose="02020603050405020304" pitchFamily="18" charset="0"/>
              </a:rPr>
              <a:t>for (</a:t>
            </a:r>
            <a:r>
              <a:rPr lang="en-IN" altLang="en-US" sz="2200" dirty="0" err="1">
                <a:latin typeface="Times New Roman" panose="02020603050405020304" pitchFamily="18" charset="0"/>
                <a:cs typeface="Times New Roman" panose="02020603050405020304" pitchFamily="18" charset="0"/>
              </a:rPr>
              <a:t>initializationStatement</a:t>
            </a:r>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testExpression</a:t>
            </a:r>
            <a:r>
              <a:rPr lang="en-IN" altLang="en-US" sz="2200" dirty="0">
                <a:latin typeface="Times New Roman" panose="02020603050405020304" pitchFamily="18" charset="0"/>
                <a:cs typeface="Times New Roman" panose="02020603050405020304" pitchFamily="18" charset="0"/>
              </a:rPr>
              <a:t>; </a:t>
            </a:r>
            <a:r>
              <a:rPr lang="en-IN" altLang="en-US" sz="2200" dirty="0" err="1">
                <a:latin typeface="Times New Roman" panose="02020603050405020304" pitchFamily="18" charset="0"/>
                <a:cs typeface="Times New Roman" panose="02020603050405020304" pitchFamily="18" charset="0"/>
              </a:rPr>
              <a:t>updateStatement</a:t>
            </a:r>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a:t>
            </a:r>
          </a:p>
          <a:p>
            <a:pPr algn="just"/>
            <a:r>
              <a:rPr lang="en-IN" altLang="en-US" sz="2200" dirty="0">
                <a:latin typeface="Times New Roman" panose="02020603050405020304" pitchFamily="18" charset="0"/>
                <a:cs typeface="Times New Roman" panose="02020603050405020304" pitchFamily="18" charset="0"/>
              </a:rPr>
              <a:t>    // body of loop</a:t>
            </a:r>
          </a:p>
          <a:p>
            <a:pPr algn="just"/>
            <a:r>
              <a:rPr lang="en-IN" altLang="en-US" sz="2200" dirty="0">
                <a:latin typeface="Times New Roman" panose="02020603050405020304" pitchFamily="18" charset="0"/>
                <a:cs typeface="Times New Roman" panose="02020603050405020304" pitchFamily="18" charset="0"/>
              </a:rPr>
              <a:t>}</a:t>
            </a:r>
          </a:p>
        </p:txBody>
      </p:sp>
      <p:sp>
        <p:nvSpPr>
          <p:cNvPr id="2" name="Footer Placeholder 4">
            <a:extLst>
              <a:ext uri="{FF2B5EF4-FFF2-40B4-BE49-F238E27FC236}">
                <a16:creationId xmlns:a16="http://schemas.microsoft.com/office/drawing/2014/main" id="{0A02E756-0D0D-E6C6-5F76-D086C21C5945}"/>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7612C917-2D05-2751-C9DF-165C0CD08622}"/>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49</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F9794E97-B4EC-CAC6-CF71-2202BBEAD963}"/>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8" name="Picture 7">
            <a:extLst>
              <a:ext uri="{FF2B5EF4-FFF2-40B4-BE49-F238E27FC236}">
                <a16:creationId xmlns:a16="http://schemas.microsoft.com/office/drawing/2014/main" id="{70738B85-ADD2-D105-EE89-ACF61DA4FF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660" y="924910"/>
            <a:ext cx="5200769" cy="460353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ustomShape 3">
            <a:extLst>
              <a:ext uri="{FF2B5EF4-FFF2-40B4-BE49-F238E27FC236}">
                <a16:creationId xmlns:a16="http://schemas.microsoft.com/office/drawing/2014/main" id="{C3A810E8-2854-117C-730B-CD47F8768A17}"/>
              </a:ext>
            </a:extLst>
          </p:cNvPr>
          <p:cNvSpPr>
            <a:spLocks noChangeArrowheads="1"/>
          </p:cNvSpPr>
          <p:nvPr/>
        </p:nvSpPr>
        <p:spPr bwMode="auto">
          <a:xfrm>
            <a:off x="304799" y="163740"/>
            <a:ext cx="11361235" cy="582494"/>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cs typeface="Calibri" panose="020F0502020204030204" pitchFamily="34" charset="0"/>
              </a:rPr>
              <a:t>for loop</a:t>
            </a:r>
          </a:p>
        </p:txBody>
      </p:sp>
      <p:sp>
        <p:nvSpPr>
          <p:cNvPr id="27651" name="Rectangle 3">
            <a:extLst>
              <a:ext uri="{FF2B5EF4-FFF2-40B4-BE49-F238E27FC236}">
                <a16:creationId xmlns:a16="http://schemas.microsoft.com/office/drawing/2014/main" id="{695EE63C-403B-43F4-A80F-180701EC70A5}"/>
              </a:ext>
            </a:extLst>
          </p:cNvPr>
          <p:cNvSpPr>
            <a:spLocks noChangeArrowheads="1"/>
          </p:cNvSpPr>
          <p:nvPr/>
        </p:nvSpPr>
        <p:spPr bwMode="auto">
          <a:xfrm>
            <a:off x="221972" y="933641"/>
            <a:ext cx="11275896"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lvl="0">
              <a:buFont typeface="Wingdings" panose="05000000000000000000" pitchFamily="2" charset="2"/>
              <a:buChar char="§"/>
            </a:pPr>
            <a:r>
              <a:rPr lang="en-US" sz="3200" dirty="0">
                <a:latin typeface="+mn-lt"/>
              </a:rPr>
              <a:t>The </a:t>
            </a:r>
            <a:r>
              <a:rPr lang="en-US" sz="3200" b="1" dirty="0">
                <a:latin typeface="+mn-lt"/>
              </a:rPr>
              <a:t>initialization statement</a:t>
            </a:r>
            <a:r>
              <a:rPr lang="en-US" sz="3200" dirty="0">
                <a:latin typeface="+mn-lt"/>
              </a:rPr>
              <a:t> is executed only </a:t>
            </a:r>
            <a:r>
              <a:rPr lang="en-US" sz="3200" b="1" dirty="0">
                <a:latin typeface="+mn-lt"/>
              </a:rPr>
              <a:t>once</a:t>
            </a:r>
            <a:r>
              <a:rPr lang="en-US" sz="3200" dirty="0">
                <a:latin typeface="+mn-lt"/>
              </a:rPr>
              <a:t>. </a:t>
            </a:r>
          </a:p>
          <a:p>
            <a:pPr lvl="0">
              <a:buFont typeface="Wingdings" panose="05000000000000000000" pitchFamily="2" charset="2"/>
              <a:buChar char="§"/>
            </a:pPr>
            <a:r>
              <a:rPr lang="en-US" sz="3200" dirty="0">
                <a:latin typeface="+mn-lt"/>
              </a:rPr>
              <a:t>Then, the </a:t>
            </a:r>
            <a:r>
              <a:rPr lang="en-US" sz="3200" b="1" dirty="0">
                <a:latin typeface="+mn-lt"/>
              </a:rPr>
              <a:t>condition</a:t>
            </a:r>
            <a:r>
              <a:rPr lang="en-US" sz="3200" dirty="0">
                <a:latin typeface="+mn-lt"/>
              </a:rPr>
              <a:t> is checked. </a:t>
            </a:r>
          </a:p>
          <a:p>
            <a:pPr lvl="0">
              <a:buFont typeface="Wingdings" panose="05000000000000000000" pitchFamily="2" charset="2"/>
              <a:buChar char="§"/>
            </a:pPr>
            <a:r>
              <a:rPr lang="en-US" sz="3200" dirty="0">
                <a:latin typeface="+mn-lt"/>
              </a:rPr>
              <a:t>If the condition is </a:t>
            </a:r>
            <a:r>
              <a:rPr lang="en-US" sz="3200" b="1" dirty="0">
                <a:latin typeface="+mn-lt"/>
              </a:rPr>
              <a:t>false</a:t>
            </a:r>
            <a:r>
              <a:rPr lang="en-US" sz="3200" dirty="0">
                <a:latin typeface="+mn-lt"/>
              </a:rPr>
              <a:t>, the </a:t>
            </a:r>
            <a:r>
              <a:rPr lang="en-US" sz="2400" dirty="0">
                <a:latin typeface="+mn-lt"/>
              </a:rPr>
              <a:t>for</a:t>
            </a:r>
            <a:r>
              <a:rPr lang="en-US" sz="3200" dirty="0">
                <a:latin typeface="+mn-lt"/>
              </a:rPr>
              <a:t> loop terminates. </a:t>
            </a:r>
          </a:p>
          <a:p>
            <a:pPr lvl="0">
              <a:buFont typeface="Wingdings" panose="05000000000000000000" pitchFamily="2" charset="2"/>
              <a:buChar char="§"/>
            </a:pPr>
            <a:r>
              <a:rPr lang="en-US" sz="3200" dirty="0">
                <a:latin typeface="+mn-lt"/>
              </a:rPr>
              <a:t>If the condition is </a:t>
            </a:r>
            <a:r>
              <a:rPr lang="en-US" sz="3200" b="1" dirty="0">
                <a:latin typeface="+mn-lt"/>
              </a:rPr>
              <a:t>true</a:t>
            </a:r>
            <a:r>
              <a:rPr lang="en-US" sz="3200" dirty="0">
                <a:latin typeface="+mn-lt"/>
              </a:rPr>
              <a:t>, the statements inside the loop body are executed. </a:t>
            </a:r>
          </a:p>
          <a:p>
            <a:pPr lvl="0">
              <a:buFont typeface="Wingdings" panose="05000000000000000000" pitchFamily="2" charset="2"/>
              <a:buChar char="§"/>
            </a:pPr>
            <a:r>
              <a:rPr lang="en-US" sz="3200" dirty="0">
                <a:latin typeface="+mn-lt"/>
              </a:rPr>
              <a:t>Then, the </a:t>
            </a:r>
            <a:r>
              <a:rPr lang="en-US" sz="3200" b="1" dirty="0">
                <a:latin typeface="+mn-lt"/>
              </a:rPr>
              <a:t>update expression</a:t>
            </a:r>
            <a:r>
              <a:rPr lang="en-US" sz="3200" dirty="0">
                <a:latin typeface="+mn-lt"/>
              </a:rPr>
              <a:t> is executed. </a:t>
            </a:r>
          </a:p>
          <a:p>
            <a:pPr lvl="0">
              <a:buFont typeface="Wingdings" panose="05000000000000000000" pitchFamily="2" charset="2"/>
              <a:buChar char="§"/>
            </a:pPr>
            <a:r>
              <a:rPr lang="en-US" sz="3200" dirty="0">
                <a:latin typeface="+mn-lt"/>
              </a:rPr>
              <a:t>The condition is checked again. </a:t>
            </a:r>
          </a:p>
          <a:p>
            <a:pPr lvl="0">
              <a:buFont typeface="Wingdings" panose="05000000000000000000" pitchFamily="2" charset="2"/>
              <a:buChar char="§"/>
            </a:pPr>
            <a:r>
              <a:rPr lang="en-US" sz="3200" dirty="0">
                <a:latin typeface="+mn-lt"/>
              </a:rPr>
              <a:t>This process continues until the condition becomes </a:t>
            </a:r>
            <a:r>
              <a:rPr lang="en-US" sz="3200" b="1" dirty="0">
                <a:latin typeface="+mn-lt"/>
              </a:rPr>
              <a:t>false</a:t>
            </a:r>
            <a:r>
              <a:rPr lang="en-US" sz="3200" dirty="0">
                <a:latin typeface="+mn-lt"/>
              </a:rPr>
              <a:t>. </a:t>
            </a:r>
          </a:p>
          <a:p>
            <a:pPr lvl="0">
              <a:buFont typeface="Wingdings" panose="05000000000000000000" pitchFamily="2" charset="2"/>
              <a:buChar char="§"/>
            </a:pPr>
            <a:r>
              <a:rPr lang="en-US" sz="3200" dirty="0">
                <a:latin typeface="+mn-lt"/>
              </a:rPr>
              <a:t>When the condition is false, the loop </a:t>
            </a:r>
            <a:r>
              <a:rPr lang="en-US" sz="3200" b="1" dirty="0">
                <a:latin typeface="+mn-lt"/>
              </a:rPr>
              <a:t>terminates</a:t>
            </a:r>
            <a:r>
              <a:rPr lang="en-US" sz="3200" dirty="0">
                <a:latin typeface="+mn-lt"/>
              </a:rPr>
              <a:t>.</a:t>
            </a:r>
          </a:p>
        </p:txBody>
      </p:sp>
      <p:sp>
        <p:nvSpPr>
          <p:cNvPr id="2" name="Footer Placeholder 4">
            <a:extLst>
              <a:ext uri="{FF2B5EF4-FFF2-40B4-BE49-F238E27FC236}">
                <a16:creationId xmlns:a16="http://schemas.microsoft.com/office/drawing/2014/main" id="{BB758CDB-5614-2F9E-B9A4-0CA2A00FCAD0}"/>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663F62F9-E4F6-0787-AA90-ADA15FA5E523}"/>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50</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A081DC70-10A4-424C-3513-DF981DC9908B}"/>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ustomShape 3">
            <a:extLst>
              <a:ext uri="{FF2B5EF4-FFF2-40B4-BE49-F238E27FC236}">
                <a16:creationId xmlns:a16="http://schemas.microsoft.com/office/drawing/2014/main" id="{D61DEE13-91A0-4ABD-26AA-8E1EA4B2823B}"/>
              </a:ext>
            </a:extLst>
          </p:cNvPr>
          <p:cNvSpPr>
            <a:spLocks noChangeArrowheads="1"/>
          </p:cNvSpPr>
          <p:nvPr/>
        </p:nvSpPr>
        <p:spPr bwMode="auto">
          <a:xfrm>
            <a:off x="462455" y="294290"/>
            <a:ext cx="11067393" cy="620110"/>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IN" altLang="en-US" sz="4000" b="1" dirty="0">
                <a:solidFill>
                  <a:srgbClr val="FF0000"/>
                </a:solidFill>
                <a:latin typeface="+mn-lt"/>
                <a:cs typeface="Times New Roman" panose="02020603050405020304" pitchFamily="18" charset="0"/>
              </a:rPr>
              <a:t>for Loop-Example</a:t>
            </a:r>
          </a:p>
        </p:txBody>
      </p:sp>
      <p:sp>
        <p:nvSpPr>
          <p:cNvPr id="28675" name="Rectangle 3">
            <a:extLst>
              <a:ext uri="{FF2B5EF4-FFF2-40B4-BE49-F238E27FC236}">
                <a16:creationId xmlns:a16="http://schemas.microsoft.com/office/drawing/2014/main" id="{EC899C80-9390-E6AF-8ACC-8DB0C2097208}"/>
              </a:ext>
            </a:extLst>
          </p:cNvPr>
          <p:cNvSpPr>
            <a:spLocks noChangeArrowheads="1"/>
          </p:cNvSpPr>
          <p:nvPr/>
        </p:nvSpPr>
        <p:spPr bwMode="auto">
          <a:xfrm>
            <a:off x="549056" y="1257247"/>
            <a:ext cx="8718550"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dirty="0">
                <a:latin typeface="+mn-lt"/>
                <a:cs typeface="Times New Roman" panose="02020603050405020304" pitchFamily="18" charset="0"/>
              </a:rPr>
              <a:t>#include &lt;</a:t>
            </a:r>
            <a:r>
              <a:rPr lang="en-IN" altLang="en-US" sz="2400" dirty="0" err="1">
                <a:latin typeface="+mn-lt"/>
                <a:cs typeface="Times New Roman" panose="02020603050405020304" pitchFamily="18" charset="0"/>
              </a:rPr>
              <a:t>stdio.h</a:t>
            </a:r>
            <a:r>
              <a:rPr lang="en-IN" altLang="en-US" sz="2400" dirty="0">
                <a:latin typeface="+mn-lt"/>
                <a:cs typeface="Times New Roman" panose="02020603050405020304" pitchFamily="18" charset="0"/>
              </a:rPr>
              <a:t>&gt;</a:t>
            </a:r>
          </a:p>
          <a:p>
            <a:pPr algn="just"/>
            <a:endParaRPr lang="en-IN" altLang="en-US" sz="2400" dirty="0">
              <a:latin typeface="+mn-lt"/>
              <a:cs typeface="Times New Roman" panose="02020603050405020304" pitchFamily="18" charset="0"/>
            </a:endParaRPr>
          </a:p>
          <a:p>
            <a:pPr algn="just"/>
            <a:r>
              <a:rPr lang="en-IN" altLang="en-US" sz="2400" dirty="0">
                <a:latin typeface="+mn-lt"/>
                <a:cs typeface="Times New Roman" panose="02020603050405020304" pitchFamily="18" charset="0"/>
              </a:rPr>
              <a:t>int main() {</a:t>
            </a:r>
          </a:p>
          <a:p>
            <a:pPr algn="just"/>
            <a:r>
              <a:rPr lang="en-IN" altLang="en-US" sz="2400" dirty="0">
                <a:latin typeface="+mn-lt"/>
                <a:cs typeface="Times New Roman" panose="02020603050405020304" pitchFamily="18" charset="0"/>
              </a:rPr>
              <a:t>  int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a:t>
            </a:r>
          </a:p>
          <a:p>
            <a:pPr algn="just"/>
            <a:endParaRPr lang="en-IN" altLang="en-US" sz="2400" dirty="0">
              <a:latin typeface="+mn-lt"/>
              <a:cs typeface="Times New Roman" panose="02020603050405020304" pitchFamily="18" charset="0"/>
            </a:endParaRPr>
          </a:p>
          <a:p>
            <a:pPr algn="just"/>
            <a:r>
              <a:rPr lang="en-IN" altLang="en-US" sz="2400" dirty="0">
                <a:latin typeface="+mn-lt"/>
                <a:cs typeface="Times New Roman" panose="02020603050405020304" pitchFamily="18" charset="0"/>
              </a:rPr>
              <a:t>  for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 = 1;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 &lt; =5;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a:t>
            </a:r>
          </a:p>
          <a:p>
            <a:pPr algn="just"/>
            <a:r>
              <a:rPr lang="en-IN" altLang="en-US" sz="2400" dirty="0">
                <a:latin typeface="+mn-lt"/>
                <a:cs typeface="Times New Roman" panose="02020603050405020304" pitchFamily="18" charset="0"/>
              </a:rPr>
              <a:t>    </a:t>
            </a:r>
            <a:r>
              <a:rPr lang="en-IN" altLang="en-US" sz="2400" dirty="0" err="1">
                <a:latin typeface="+mn-lt"/>
                <a:cs typeface="Times New Roman" panose="02020603050405020304" pitchFamily="18" charset="0"/>
              </a:rPr>
              <a:t>printf</a:t>
            </a:r>
            <a:r>
              <a:rPr lang="en-IN" altLang="en-US" sz="2400" dirty="0">
                <a:latin typeface="+mn-lt"/>
                <a:cs typeface="Times New Roman" panose="02020603050405020304" pitchFamily="18" charset="0"/>
              </a:rPr>
              <a:t>("%d ", </a:t>
            </a:r>
            <a:r>
              <a:rPr lang="en-IN" altLang="en-US" sz="2400" dirty="0" err="1">
                <a:latin typeface="+mn-lt"/>
                <a:cs typeface="Times New Roman" panose="02020603050405020304" pitchFamily="18" charset="0"/>
              </a:rPr>
              <a:t>i</a:t>
            </a:r>
            <a:r>
              <a:rPr lang="en-IN" altLang="en-US" sz="2400" dirty="0">
                <a:latin typeface="+mn-lt"/>
                <a:cs typeface="Times New Roman" panose="02020603050405020304" pitchFamily="18" charset="0"/>
              </a:rPr>
              <a:t>);</a:t>
            </a:r>
          </a:p>
          <a:p>
            <a:pPr algn="just"/>
            <a:r>
              <a:rPr lang="en-IN" altLang="en-US" sz="2400" dirty="0">
                <a:latin typeface="+mn-lt"/>
                <a:cs typeface="Times New Roman" panose="02020603050405020304" pitchFamily="18" charset="0"/>
              </a:rPr>
              <a:t>  }</a:t>
            </a:r>
          </a:p>
          <a:p>
            <a:pPr algn="just"/>
            <a:r>
              <a:rPr lang="en-IN" altLang="en-US" sz="2400" dirty="0">
                <a:latin typeface="+mn-lt"/>
                <a:cs typeface="Times New Roman" panose="02020603050405020304" pitchFamily="18" charset="0"/>
              </a:rPr>
              <a:t>  return 0;</a:t>
            </a:r>
          </a:p>
          <a:p>
            <a:pPr algn="just"/>
            <a:r>
              <a:rPr lang="en-IN" altLang="en-US" sz="2400" dirty="0">
                <a:latin typeface="+mn-lt"/>
                <a:cs typeface="Times New Roman" panose="02020603050405020304" pitchFamily="18" charset="0"/>
              </a:rPr>
              <a:t>}</a:t>
            </a:r>
          </a:p>
        </p:txBody>
      </p:sp>
      <p:sp>
        <p:nvSpPr>
          <p:cNvPr id="2" name="Footer Placeholder 4">
            <a:extLst>
              <a:ext uri="{FF2B5EF4-FFF2-40B4-BE49-F238E27FC236}">
                <a16:creationId xmlns:a16="http://schemas.microsoft.com/office/drawing/2014/main" id="{CA0C0974-7F42-0FA3-9AAF-706D9DA52B48}"/>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FE394EF9-11FE-AE91-DD7A-60E4B1989B38}"/>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51</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15B60983-E67B-6B93-5BC1-1045C2624EA7}"/>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ustomShape 3">
            <a:extLst>
              <a:ext uri="{FF2B5EF4-FFF2-40B4-BE49-F238E27FC236}">
                <a16:creationId xmlns:a16="http://schemas.microsoft.com/office/drawing/2014/main" id="{A5D86516-1EED-29C4-47EB-BC65FCCFF63D}"/>
              </a:ext>
            </a:extLst>
          </p:cNvPr>
          <p:cNvSpPr>
            <a:spLocks noChangeArrowheads="1"/>
          </p:cNvSpPr>
          <p:nvPr/>
        </p:nvSpPr>
        <p:spPr bwMode="auto">
          <a:xfrm>
            <a:off x="1639613" y="361242"/>
            <a:ext cx="9144000" cy="611909"/>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altLang="en-US" sz="4000" b="1" dirty="0">
                <a:solidFill>
                  <a:srgbClr val="FF0000"/>
                </a:solidFill>
                <a:latin typeface="Times New Roman" panose="02020603050405020304" pitchFamily="18" charset="0"/>
                <a:cs typeface="Times New Roman" panose="02020603050405020304" pitchFamily="18" charset="0"/>
              </a:rPr>
              <a:t>b</a:t>
            </a:r>
            <a:r>
              <a:rPr lang="en-IN" altLang="en-US" sz="4000" b="1" dirty="0" err="1">
                <a:solidFill>
                  <a:srgbClr val="FF0000"/>
                </a:solidFill>
                <a:latin typeface="Times New Roman" panose="02020603050405020304" pitchFamily="18" charset="0"/>
                <a:cs typeface="Times New Roman" panose="02020603050405020304" pitchFamily="18" charset="0"/>
              </a:rPr>
              <a:t>reak</a:t>
            </a:r>
            <a:r>
              <a:rPr lang="en-IN" altLang="en-US" sz="4000" b="1" dirty="0">
                <a:solidFill>
                  <a:srgbClr val="FF0000"/>
                </a:solidFill>
                <a:latin typeface="Times New Roman" panose="02020603050405020304" pitchFamily="18" charset="0"/>
                <a:cs typeface="Times New Roman" panose="02020603050405020304" pitchFamily="18" charset="0"/>
              </a:rPr>
              <a:t> statement</a:t>
            </a:r>
          </a:p>
        </p:txBody>
      </p:sp>
      <p:sp>
        <p:nvSpPr>
          <p:cNvPr id="29699" name="Rectangle 3">
            <a:extLst>
              <a:ext uri="{FF2B5EF4-FFF2-40B4-BE49-F238E27FC236}">
                <a16:creationId xmlns:a16="http://schemas.microsoft.com/office/drawing/2014/main" id="{EBB53BD4-5291-F1BB-9DE2-B08B9B07B493}"/>
              </a:ext>
            </a:extLst>
          </p:cNvPr>
          <p:cNvSpPr>
            <a:spLocks noChangeArrowheads="1"/>
          </p:cNvSpPr>
          <p:nvPr/>
        </p:nvSpPr>
        <p:spPr bwMode="auto">
          <a:xfrm>
            <a:off x="1736725" y="1173163"/>
            <a:ext cx="8718550"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IN" altLang="en-US" sz="2400">
                <a:latin typeface="Times New Roman" panose="02020603050405020304" pitchFamily="18" charset="0"/>
                <a:cs typeface="Times New Roman" panose="02020603050405020304" pitchFamily="18" charset="0"/>
              </a:rPr>
              <a:t>The break statement ends the loop immediately when it is encountered.</a:t>
            </a:r>
          </a:p>
          <a:p>
            <a:pPr algn="just"/>
            <a:endParaRPr lang="en-IN" altLang="en-US" sz="2400">
              <a:latin typeface="Times New Roman" panose="02020603050405020304" pitchFamily="18" charset="0"/>
              <a:cs typeface="Times New Roman" panose="02020603050405020304" pitchFamily="18" charset="0"/>
            </a:endParaRPr>
          </a:p>
          <a:p>
            <a:pPr algn="just"/>
            <a:r>
              <a:rPr lang="en-IN" altLang="en-US" sz="2400" b="1">
                <a:latin typeface="Times New Roman" panose="02020603050405020304" pitchFamily="18" charset="0"/>
                <a:cs typeface="Times New Roman" panose="02020603050405020304" pitchFamily="18" charset="0"/>
              </a:rPr>
              <a:t>Syntax:</a:t>
            </a:r>
          </a:p>
          <a:p>
            <a:pPr algn="just"/>
            <a:r>
              <a:rPr lang="en-IN" altLang="en-US" sz="2400">
                <a:latin typeface="Times New Roman" panose="02020603050405020304" pitchFamily="18" charset="0"/>
                <a:cs typeface="Times New Roman" panose="02020603050405020304" pitchFamily="18" charset="0"/>
              </a:rPr>
              <a:t>break;</a:t>
            </a:r>
          </a:p>
          <a:p>
            <a:pPr algn="just"/>
            <a:endParaRPr lang="en-IN" altLang="en-US" sz="2400">
              <a:latin typeface="Times New Roman" panose="02020603050405020304" pitchFamily="18" charset="0"/>
              <a:cs typeface="Times New Roman" panose="02020603050405020304" pitchFamily="18" charset="0"/>
            </a:endParaRPr>
          </a:p>
          <a:p>
            <a:pPr algn="just"/>
            <a:r>
              <a:rPr lang="en-IN" altLang="en-US" sz="2400">
                <a:latin typeface="Times New Roman" panose="02020603050405020304" pitchFamily="18" charset="0"/>
                <a:cs typeface="Times New Roman" panose="02020603050405020304" pitchFamily="18" charset="0"/>
              </a:rPr>
              <a:t>The break statement is almost always used with if...else statement inside the loop.</a:t>
            </a:r>
          </a:p>
        </p:txBody>
      </p:sp>
      <p:sp>
        <p:nvSpPr>
          <p:cNvPr id="2" name="Footer Placeholder 4">
            <a:extLst>
              <a:ext uri="{FF2B5EF4-FFF2-40B4-BE49-F238E27FC236}">
                <a16:creationId xmlns:a16="http://schemas.microsoft.com/office/drawing/2014/main" id="{AB9DAB87-0995-D5D5-D60F-9341A664D868}"/>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8FDBBCD4-11D4-C9BE-04AC-F51613479528}"/>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52</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2D601FE1-6711-6143-6689-198DD687BBB1}"/>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ustomShape 3">
            <a:extLst>
              <a:ext uri="{FF2B5EF4-FFF2-40B4-BE49-F238E27FC236}">
                <a16:creationId xmlns:a16="http://schemas.microsoft.com/office/drawing/2014/main" id="{49EA4D2B-997B-FACB-310B-885963D09463}"/>
              </a:ext>
            </a:extLst>
          </p:cNvPr>
          <p:cNvSpPr>
            <a:spLocks noChangeArrowheads="1"/>
          </p:cNvSpPr>
          <p:nvPr/>
        </p:nvSpPr>
        <p:spPr bwMode="auto">
          <a:xfrm>
            <a:off x="851337" y="198664"/>
            <a:ext cx="10268159" cy="508045"/>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altLang="en-US" sz="4000" b="1" dirty="0">
                <a:solidFill>
                  <a:srgbClr val="FF0000"/>
                </a:solidFill>
                <a:latin typeface="Times New Roman" panose="02020603050405020304" pitchFamily="18" charset="0"/>
                <a:cs typeface="Times New Roman" panose="02020603050405020304" pitchFamily="18" charset="0"/>
              </a:rPr>
              <a:t>b</a:t>
            </a:r>
            <a:r>
              <a:rPr lang="en-IN" altLang="en-US" sz="4000" b="1" dirty="0" err="1">
                <a:solidFill>
                  <a:srgbClr val="FF0000"/>
                </a:solidFill>
                <a:latin typeface="Times New Roman" panose="02020603050405020304" pitchFamily="18" charset="0"/>
                <a:cs typeface="Times New Roman" panose="02020603050405020304" pitchFamily="18" charset="0"/>
              </a:rPr>
              <a:t>reak</a:t>
            </a:r>
            <a:r>
              <a:rPr lang="en-IN" altLang="en-US" sz="4000" b="1" dirty="0">
                <a:solidFill>
                  <a:srgbClr val="FF0000"/>
                </a:solidFill>
                <a:latin typeface="Times New Roman" panose="02020603050405020304" pitchFamily="18" charset="0"/>
                <a:cs typeface="Times New Roman" panose="02020603050405020304" pitchFamily="18" charset="0"/>
              </a:rPr>
              <a:t> statement</a:t>
            </a:r>
          </a:p>
        </p:txBody>
      </p:sp>
      <p:sp>
        <p:nvSpPr>
          <p:cNvPr id="2" name="Footer Placeholder 4">
            <a:extLst>
              <a:ext uri="{FF2B5EF4-FFF2-40B4-BE49-F238E27FC236}">
                <a16:creationId xmlns:a16="http://schemas.microsoft.com/office/drawing/2014/main" id="{4CEC8C75-D0AC-51B8-83B1-92D0F37AF617}"/>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AB4B4B5F-4D8E-CD0D-4E06-E9A6740B51C5}"/>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53</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511C40DD-9160-0336-5283-160813F9A68B}"/>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8" name="Picture 7">
            <a:extLst>
              <a:ext uri="{FF2B5EF4-FFF2-40B4-BE49-F238E27FC236}">
                <a16:creationId xmlns:a16="http://schemas.microsoft.com/office/drawing/2014/main" id="{77C3CEAD-21F5-CBBA-956B-03051F993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5458" y="933109"/>
            <a:ext cx="8569444" cy="521544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ustomShape 3">
            <a:extLst>
              <a:ext uri="{FF2B5EF4-FFF2-40B4-BE49-F238E27FC236}">
                <a16:creationId xmlns:a16="http://schemas.microsoft.com/office/drawing/2014/main" id="{65A848E1-ED1B-5E96-E979-570D1C57A0A0}"/>
              </a:ext>
            </a:extLst>
          </p:cNvPr>
          <p:cNvSpPr>
            <a:spLocks noChangeArrowheads="1"/>
          </p:cNvSpPr>
          <p:nvPr/>
        </p:nvSpPr>
        <p:spPr bwMode="auto">
          <a:xfrm>
            <a:off x="283779" y="117922"/>
            <a:ext cx="11708524" cy="533719"/>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altLang="en-US" sz="4000" b="1" dirty="0">
                <a:solidFill>
                  <a:srgbClr val="FF0000"/>
                </a:solidFill>
                <a:latin typeface="Times New Roman" panose="02020603050405020304" pitchFamily="18" charset="0"/>
                <a:cs typeface="Times New Roman" panose="02020603050405020304" pitchFamily="18" charset="0"/>
              </a:rPr>
              <a:t>b</a:t>
            </a:r>
            <a:r>
              <a:rPr lang="en-IN" altLang="en-US" sz="4000" b="1" dirty="0" err="1">
                <a:solidFill>
                  <a:srgbClr val="FF0000"/>
                </a:solidFill>
                <a:latin typeface="Times New Roman" panose="02020603050405020304" pitchFamily="18" charset="0"/>
                <a:cs typeface="Times New Roman" panose="02020603050405020304" pitchFamily="18" charset="0"/>
              </a:rPr>
              <a:t>reak</a:t>
            </a:r>
            <a:r>
              <a:rPr lang="en-IN" altLang="en-US" sz="4000" b="1" dirty="0">
                <a:solidFill>
                  <a:srgbClr val="FF0000"/>
                </a:solidFill>
                <a:latin typeface="Times New Roman" panose="02020603050405020304" pitchFamily="18" charset="0"/>
                <a:cs typeface="Times New Roman" panose="02020603050405020304" pitchFamily="18" charset="0"/>
              </a:rPr>
              <a:t> statement- Example</a:t>
            </a:r>
          </a:p>
        </p:txBody>
      </p:sp>
      <p:sp>
        <p:nvSpPr>
          <p:cNvPr id="31747" name="Rectangle 1">
            <a:extLst>
              <a:ext uri="{FF2B5EF4-FFF2-40B4-BE49-F238E27FC236}">
                <a16:creationId xmlns:a16="http://schemas.microsoft.com/office/drawing/2014/main" id="{E7C3E1E5-B3D5-B126-D273-287202104030}"/>
              </a:ext>
            </a:extLst>
          </p:cNvPr>
          <p:cNvSpPr>
            <a:spLocks noChangeArrowheads="1"/>
          </p:cNvSpPr>
          <p:nvPr/>
        </p:nvSpPr>
        <p:spPr bwMode="auto">
          <a:xfrm>
            <a:off x="283779" y="840968"/>
            <a:ext cx="8867775" cy="601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defRPr/>
            </a:pPr>
            <a:r>
              <a:rPr lang="en-US" sz="2800" dirty="0">
                <a:latin typeface="+mn-lt"/>
                <a:cs typeface="Arial" charset="0"/>
              </a:rPr>
              <a:t>#include&lt;stdio.h&gt;  </a:t>
            </a:r>
          </a:p>
          <a:p>
            <a:pPr>
              <a:defRPr/>
            </a:pPr>
            <a:r>
              <a:rPr lang="en-US" sz="2800" dirty="0">
                <a:latin typeface="+mn-lt"/>
                <a:cs typeface="Arial" charset="0"/>
              </a:rPr>
              <a:t>int main ()  </a:t>
            </a:r>
          </a:p>
          <a:p>
            <a:pPr>
              <a:defRPr/>
            </a:pPr>
            <a:r>
              <a:rPr lang="en-US" sz="2800" dirty="0">
                <a:latin typeface="+mn-lt"/>
                <a:cs typeface="Arial" charset="0"/>
              </a:rPr>
              <a:t>{  </a:t>
            </a:r>
          </a:p>
          <a:p>
            <a:pPr>
              <a:defRPr/>
            </a:pPr>
            <a:r>
              <a:rPr lang="en-US" sz="2800" dirty="0">
                <a:latin typeface="+mn-lt"/>
                <a:cs typeface="Arial" charset="0"/>
              </a:rPr>
              <a:t>    int </a:t>
            </a:r>
            <a:r>
              <a:rPr lang="en-US" sz="2800" dirty="0" err="1">
                <a:latin typeface="+mn-lt"/>
                <a:cs typeface="Arial" charset="0"/>
              </a:rPr>
              <a:t>i</a:t>
            </a:r>
            <a:r>
              <a:rPr lang="en-US" sz="2800" dirty="0">
                <a:latin typeface="+mn-lt"/>
                <a:cs typeface="Arial" charset="0"/>
              </a:rPr>
              <a:t>;  </a:t>
            </a:r>
          </a:p>
          <a:p>
            <a:pPr>
              <a:defRPr/>
            </a:pPr>
            <a:r>
              <a:rPr lang="en-US" sz="2800" dirty="0">
                <a:latin typeface="+mn-lt"/>
                <a:cs typeface="Arial" charset="0"/>
              </a:rPr>
              <a:t>    for(</a:t>
            </a:r>
            <a:r>
              <a:rPr lang="en-US" sz="2800" dirty="0" err="1">
                <a:latin typeface="+mn-lt"/>
                <a:cs typeface="Arial" charset="0"/>
              </a:rPr>
              <a:t>i</a:t>
            </a:r>
            <a:r>
              <a:rPr lang="en-US" sz="2800" dirty="0">
                <a:latin typeface="+mn-lt"/>
                <a:cs typeface="Arial" charset="0"/>
              </a:rPr>
              <a:t> = 0; </a:t>
            </a:r>
            <a:r>
              <a:rPr lang="en-US" sz="2800" dirty="0" err="1">
                <a:latin typeface="+mn-lt"/>
                <a:cs typeface="Arial" charset="0"/>
              </a:rPr>
              <a:t>i</a:t>
            </a:r>
            <a:r>
              <a:rPr lang="en-US" sz="2800" dirty="0">
                <a:latin typeface="+mn-lt"/>
                <a:cs typeface="Arial" charset="0"/>
              </a:rPr>
              <a:t>&lt;10; </a:t>
            </a:r>
            <a:r>
              <a:rPr lang="en-US" sz="2800" dirty="0" err="1">
                <a:latin typeface="+mn-lt"/>
                <a:cs typeface="Arial" charset="0"/>
              </a:rPr>
              <a:t>i</a:t>
            </a:r>
            <a:r>
              <a:rPr lang="en-US" sz="2800" dirty="0">
                <a:latin typeface="+mn-lt"/>
                <a:cs typeface="Arial" charset="0"/>
              </a:rPr>
              <a:t>++)  </a:t>
            </a:r>
          </a:p>
          <a:p>
            <a:pPr>
              <a:defRPr/>
            </a:pPr>
            <a:r>
              <a:rPr lang="en-US" sz="2800" dirty="0">
                <a:latin typeface="+mn-lt"/>
                <a:cs typeface="Arial" charset="0"/>
              </a:rPr>
              <a:t>    {  </a:t>
            </a:r>
          </a:p>
          <a:p>
            <a:pPr>
              <a:defRPr/>
            </a:pPr>
            <a:r>
              <a:rPr lang="en-US" sz="2800" dirty="0">
                <a:latin typeface="+mn-lt"/>
                <a:cs typeface="Arial" charset="0"/>
              </a:rPr>
              <a:t>        if(</a:t>
            </a:r>
            <a:r>
              <a:rPr lang="en-US" sz="2800" dirty="0" err="1">
                <a:latin typeface="+mn-lt"/>
                <a:cs typeface="Arial" charset="0"/>
              </a:rPr>
              <a:t>i</a:t>
            </a:r>
            <a:r>
              <a:rPr lang="en-US" sz="2800" dirty="0">
                <a:latin typeface="+mn-lt"/>
                <a:cs typeface="Arial" charset="0"/>
              </a:rPr>
              <a:t> == 5)  </a:t>
            </a:r>
          </a:p>
          <a:p>
            <a:pPr>
              <a:defRPr/>
            </a:pPr>
            <a:r>
              <a:rPr lang="en-US" sz="2800" dirty="0">
                <a:latin typeface="+mn-lt"/>
                <a:cs typeface="Arial" charset="0"/>
              </a:rPr>
              <a:t>        break; </a:t>
            </a:r>
          </a:p>
          <a:p>
            <a:pPr>
              <a:defRPr/>
            </a:pPr>
            <a:r>
              <a:rPr lang="en-US" sz="2800" dirty="0">
                <a:latin typeface="+mn-lt"/>
                <a:cs typeface="Arial" charset="0"/>
              </a:rPr>
              <a:t>        </a:t>
            </a:r>
            <a:r>
              <a:rPr lang="en-US" sz="2800" dirty="0" err="1">
                <a:latin typeface="+mn-lt"/>
                <a:cs typeface="Arial" charset="0"/>
              </a:rPr>
              <a:t>printf</a:t>
            </a:r>
            <a:r>
              <a:rPr lang="en-US" sz="2800" dirty="0">
                <a:latin typeface="+mn-lt"/>
                <a:cs typeface="Arial" charset="0"/>
              </a:rPr>
              <a:t>("%d ",</a:t>
            </a:r>
            <a:r>
              <a:rPr lang="en-US" sz="2800" dirty="0" err="1">
                <a:latin typeface="+mn-lt"/>
                <a:cs typeface="Arial" charset="0"/>
              </a:rPr>
              <a:t>i</a:t>
            </a:r>
            <a:r>
              <a:rPr lang="en-US" sz="2800" dirty="0">
                <a:latin typeface="+mn-lt"/>
                <a:cs typeface="Arial" charset="0"/>
              </a:rPr>
              <a:t>); </a:t>
            </a:r>
          </a:p>
          <a:p>
            <a:pPr>
              <a:defRPr/>
            </a:pPr>
            <a:r>
              <a:rPr lang="en-US" sz="2800" dirty="0">
                <a:latin typeface="+mn-lt"/>
                <a:cs typeface="Arial" charset="0"/>
              </a:rPr>
              <a:t>    }  </a:t>
            </a:r>
          </a:p>
          <a:p>
            <a:pPr>
              <a:defRPr/>
            </a:pPr>
            <a:r>
              <a:rPr lang="en-US" sz="2800" dirty="0">
                <a:latin typeface="+mn-lt"/>
                <a:cs typeface="Arial" charset="0"/>
              </a:rPr>
              <a:t>    </a:t>
            </a:r>
            <a:r>
              <a:rPr lang="en-US" sz="2800" dirty="0" err="1">
                <a:latin typeface="+mn-lt"/>
                <a:cs typeface="Arial" charset="0"/>
              </a:rPr>
              <a:t>printf</a:t>
            </a:r>
            <a:r>
              <a:rPr lang="en-US" sz="2800" dirty="0">
                <a:latin typeface="+mn-lt"/>
                <a:cs typeface="Arial" charset="0"/>
              </a:rPr>
              <a:t>("came outside of loop </a:t>
            </a:r>
            <a:r>
              <a:rPr lang="en-US" sz="2800" dirty="0" err="1">
                <a:latin typeface="+mn-lt"/>
                <a:cs typeface="Arial" charset="0"/>
              </a:rPr>
              <a:t>i</a:t>
            </a:r>
            <a:r>
              <a:rPr lang="en-US" sz="2800" dirty="0">
                <a:latin typeface="+mn-lt"/>
                <a:cs typeface="Arial" charset="0"/>
              </a:rPr>
              <a:t> = %d",</a:t>
            </a:r>
            <a:r>
              <a:rPr lang="en-US" sz="2800" dirty="0" err="1">
                <a:latin typeface="+mn-lt"/>
                <a:cs typeface="Arial" charset="0"/>
              </a:rPr>
              <a:t>i</a:t>
            </a:r>
            <a:r>
              <a:rPr lang="en-US" sz="2800" dirty="0">
                <a:latin typeface="+mn-lt"/>
                <a:cs typeface="Arial" charset="0"/>
              </a:rPr>
              <a:t>);   </a:t>
            </a:r>
          </a:p>
          <a:p>
            <a:pPr>
              <a:defRPr/>
            </a:pPr>
            <a:r>
              <a:rPr lang="en-US" sz="2800" dirty="0">
                <a:latin typeface="+mn-lt"/>
                <a:cs typeface="Arial" charset="0"/>
              </a:rPr>
              <a:t>    return 0; </a:t>
            </a:r>
          </a:p>
          <a:p>
            <a:pPr>
              <a:defRPr/>
            </a:pPr>
            <a:r>
              <a:rPr lang="en-US" sz="2800" dirty="0">
                <a:latin typeface="+mn-lt"/>
                <a:cs typeface="Arial" charset="0"/>
              </a:rPr>
              <a:t>}</a:t>
            </a:r>
          </a:p>
          <a:p>
            <a:endParaRPr lang="en-IN" altLang="en-US" sz="2100" dirty="0">
              <a:latin typeface="Times New Roman" panose="02020603050405020304" pitchFamily="18" charset="0"/>
              <a:cs typeface="Times New Roman" panose="02020603050405020304" pitchFamily="18" charset="0"/>
            </a:endParaRPr>
          </a:p>
        </p:txBody>
      </p:sp>
      <p:sp>
        <p:nvSpPr>
          <p:cNvPr id="2" name="Footer Placeholder 4">
            <a:extLst>
              <a:ext uri="{FF2B5EF4-FFF2-40B4-BE49-F238E27FC236}">
                <a16:creationId xmlns:a16="http://schemas.microsoft.com/office/drawing/2014/main" id="{070E2D6F-FF8A-2CFB-130A-94C3A7913B74}"/>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70C296EA-C9B3-F28B-F532-29558B5A5F05}"/>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54</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B330DA71-146C-8F69-54D8-AD120BBE8AB7}"/>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ustomShape 3">
            <a:extLst>
              <a:ext uri="{FF2B5EF4-FFF2-40B4-BE49-F238E27FC236}">
                <a16:creationId xmlns:a16="http://schemas.microsoft.com/office/drawing/2014/main" id="{7C43852B-DA66-B22D-1A01-E37A5148B3D8}"/>
              </a:ext>
            </a:extLst>
          </p:cNvPr>
          <p:cNvSpPr>
            <a:spLocks noChangeArrowheads="1"/>
          </p:cNvSpPr>
          <p:nvPr/>
        </p:nvSpPr>
        <p:spPr bwMode="auto">
          <a:xfrm>
            <a:off x="241738" y="117923"/>
            <a:ext cx="11424297" cy="712394"/>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altLang="en-US" sz="4000" b="1" dirty="0">
                <a:solidFill>
                  <a:srgbClr val="FF0000"/>
                </a:solidFill>
                <a:latin typeface="Times New Roman" panose="02020603050405020304" pitchFamily="18" charset="0"/>
                <a:cs typeface="Times New Roman" panose="02020603050405020304" pitchFamily="18" charset="0"/>
              </a:rPr>
              <a:t>continue</a:t>
            </a:r>
            <a:r>
              <a:rPr lang="en-IN" altLang="en-US" sz="4000" b="1" dirty="0">
                <a:solidFill>
                  <a:srgbClr val="FF0000"/>
                </a:solidFill>
                <a:latin typeface="Times New Roman" panose="02020603050405020304" pitchFamily="18" charset="0"/>
                <a:cs typeface="Times New Roman" panose="02020603050405020304" pitchFamily="18" charset="0"/>
              </a:rPr>
              <a:t> statement</a:t>
            </a:r>
          </a:p>
        </p:txBody>
      </p:sp>
      <p:sp>
        <p:nvSpPr>
          <p:cNvPr id="32771" name="Rectangle 3">
            <a:extLst>
              <a:ext uri="{FF2B5EF4-FFF2-40B4-BE49-F238E27FC236}">
                <a16:creationId xmlns:a16="http://schemas.microsoft.com/office/drawing/2014/main" id="{3A8C9E9A-A567-96DF-A8E4-27253B1A1DF6}"/>
              </a:ext>
            </a:extLst>
          </p:cNvPr>
          <p:cNvSpPr>
            <a:spLocks noChangeArrowheads="1"/>
          </p:cNvSpPr>
          <p:nvPr/>
        </p:nvSpPr>
        <p:spPr bwMode="auto">
          <a:xfrm>
            <a:off x="556600" y="1047039"/>
            <a:ext cx="1110943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342900" indent="-342900" algn="just">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The </a:t>
            </a:r>
            <a:r>
              <a:rPr lang="en-IN" altLang="en-US" sz="2400" b="1" dirty="0">
                <a:latin typeface="Times New Roman" panose="02020603050405020304" pitchFamily="18" charset="0"/>
                <a:cs typeface="Times New Roman" panose="02020603050405020304" pitchFamily="18" charset="0"/>
              </a:rPr>
              <a:t>continue</a:t>
            </a:r>
            <a:r>
              <a:rPr lang="en-IN" altLang="en-US" sz="2400" dirty="0">
                <a:latin typeface="Times New Roman" panose="02020603050405020304" pitchFamily="18" charset="0"/>
                <a:cs typeface="Times New Roman" panose="02020603050405020304" pitchFamily="18" charset="0"/>
              </a:rPr>
              <a:t> statement skips the current iteration of the loop and continues with the next iteration. </a:t>
            </a:r>
          </a:p>
          <a:p>
            <a:pPr algn="just"/>
            <a:endParaRPr lang="en-IN" altLang="en-US" sz="2400" dirty="0">
              <a:latin typeface="Times New Roman" panose="02020603050405020304" pitchFamily="18" charset="0"/>
              <a:cs typeface="Times New Roman" panose="02020603050405020304" pitchFamily="18" charset="0"/>
            </a:endParaRPr>
          </a:p>
          <a:p>
            <a:pPr algn="just"/>
            <a:r>
              <a:rPr lang="en-IN" altLang="en-US" sz="2400" b="1" dirty="0">
                <a:solidFill>
                  <a:srgbClr val="FF0000"/>
                </a:solidFill>
                <a:latin typeface="Times New Roman" panose="02020603050405020304" pitchFamily="18" charset="0"/>
                <a:cs typeface="Times New Roman" panose="02020603050405020304" pitchFamily="18" charset="0"/>
              </a:rPr>
              <a:t>Syntax:</a:t>
            </a:r>
          </a:p>
          <a:p>
            <a:pPr algn="just"/>
            <a:endParaRPr lang="en-IN" altLang="en-US" sz="2400" dirty="0">
              <a:latin typeface="Times New Roman" panose="02020603050405020304" pitchFamily="18" charset="0"/>
              <a:cs typeface="Times New Roman" panose="02020603050405020304" pitchFamily="18" charset="0"/>
            </a:endParaRPr>
          </a:p>
          <a:p>
            <a:pPr algn="just"/>
            <a:r>
              <a:rPr lang="en-IN" altLang="en-US" sz="2400" dirty="0">
                <a:latin typeface="Times New Roman" panose="02020603050405020304" pitchFamily="18" charset="0"/>
                <a:cs typeface="Times New Roman" panose="02020603050405020304" pitchFamily="18" charset="0"/>
              </a:rPr>
              <a:t>continue;</a:t>
            </a:r>
          </a:p>
          <a:p>
            <a:pPr algn="just"/>
            <a:endParaRPr lang="en-IN" altLang="en-US" sz="2400" dirty="0">
              <a:latin typeface="Times New Roman" panose="02020603050405020304" pitchFamily="18" charset="0"/>
              <a:cs typeface="Times New Roman" panose="02020603050405020304" pitchFamily="18" charset="0"/>
            </a:endParaRPr>
          </a:p>
          <a:p>
            <a:pPr algn="just"/>
            <a:r>
              <a:rPr lang="en-IN" altLang="en-US" sz="2400" dirty="0">
                <a:latin typeface="Times New Roman" panose="02020603050405020304" pitchFamily="18" charset="0"/>
                <a:cs typeface="Times New Roman" panose="02020603050405020304" pitchFamily="18" charset="0"/>
              </a:rPr>
              <a:t>The continue statement is almost always used with the if...else statement.</a:t>
            </a:r>
          </a:p>
        </p:txBody>
      </p:sp>
      <p:sp>
        <p:nvSpPr>
          <p:cNvPr id="2" name="Footer Placeholder 4">
            <a:extLst>
              <a:ext uri="{FF2B5EF4-FFF2-40B4-BE49-F238E27FC236}">
                <a16:creationId xmlns:a16="http://schemas.microsoft.com/office/drawing/2014/main" id="{07E3B9B4-7BEF-A648-0842-429E1138DBA9}"/>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581866C4-2F4D-DE1B-E2DC-6E365EFB532A}"/>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55</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C2DBA5D8-3D0F-9F80-6B69-F87367C8ACF7}"/>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ustomShape 3">
            <a:extLst>
              <a:ext uri="{FF2B5EF4-FFF2-40B4-BE49-F238E27FC236}">
                <a16:creationId xmlns:a16="http://schemas.microsoft.com/office/drawing/2014/main" id="{2625DC15-181D-E8DA-641A-9FDF3F313894}"/>
              </a:ext>
            </a:extLst>
          </p:cNvPr>
          <p:cNvSpPr>
            <a:spLocks noChangeArrowheads="1"/>
          </p:cNvSpPr>
          <p:nvPr/>
        </p:nvSpPr>
        <p:spPr bwMode="auto">
          <a:xfrm>
            <a:off x="273269" y="128433"/>
            <a:ext cx="11519338" cy="691374"/>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altLang="en-US" sz="4000" b="1" dirty="0">
                <a:solidFill>
                  <a:srgbClr val="FF0000"/>
                </a:solidFill>
                <a:latin typeface="Times New Roman" panose="02020603050405020304" pitchFamily="18" charset="0"/>
                <a:cs typeface="Times New Roman" panose="02020603050405020304" pitchFamily="18" charset="0"/>
              </a:rPr>
              <a:t>continue</a:t>
            </a:r>
            <a:r>
              <a:rPr lang="en-IN" altLang="en-US" sz="4000" b="1" dirty="0">
                <a:solidFill>
                  <a:srgbClr val="FF0000"/>
                </a:solidFill>
                <a:latin typeface="Times New Roman" panose="02020603050405020304" pitchFamily="18" charset="0"/>
                <a:cs typeface="Times New Roman" panose="02020603050405020304" pitchFamily="18" charset="0"/>
              </a:rPr>
              <a:t> statement</a:t>
            </a:r>
          </a:p>
        </p:txBody>
      </p:sp>
      <p:sp>
        <p:nvSpPr>
          <p:cNvPr id="2" name="Footer Placeholder 4">
            <a:extLst>
              <a:ext uri="{FF2B5EF4-FFF2-40B4-BE49-F238E27FC236}">
                <a16:creationId xmlns:a16="http://schemas.microsoft.com/office/drawing/2014/main" id="{5AC980B0-5ECA-F0C7-6EE6-7B5B8BBCD993}"/>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713BFC75-DB98-57AB-E495-88248E62881F}"/>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56</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372C4CE5-4A25-0A14-9896-6388675FA7F6}"/>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pic>
        <p:nvPicPr>
          <p:cNvPr id="6" name="Picture 5">
            <a:extLst>
              <a:ext uri="{FF2B5EF4-FFF2-40B4-BE49-F238E27FC236}">
                <a16:creationId xmlns:a16="http://schemas.microsoft.com/office/drawing/2014/main" id="{02E06FC3-52CD-6150-6DB1-25D6C8AAC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1540" y="1114095"/>
            <a:ext cx="9608919" cy="493986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ustomShape 3">
            <a:extLst>
              <a:ext uri="{FF2B5EF4-FFF2-40B4-BE49-F238E27FC236}">
                <a16:creationId xmlns:a16="http://schemas.microsoft.com/office/drawing/2014/main" id="{38025929-9115-4EC5-686D-872E4D2A19C7}"/>
              </a:ext>
            </a:extLst>
          </p:cNvPr>
          <p:cNvSpPr>
            <a:spLocks noChangeArrowheads="1"/>
          </p:cNvSpPr>
          <p:nvPr/>
        </p:nvSpPr>
        <p:spPr bwMode="auto">
          <a:xfrm>
            <a:off x="472966" y="117923"/>
            <a:ext cx="11340662" cy="607291"/>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altLang="en-US" sz="4000" b="1" dirty="0">
                <a:solidFill>
                  <a:srgbClr val="FF0000"/>
                </a:solidFill>
                <a:latin typeface="Times New Roman" panose="02020603050405020304" pitchFamily="18" charset="0"/>
                <a:cs typeface="Times New Roman" panose="02020603050405020304" pitchFamily="18" charset="0"/>
              </a:rPr>
              <a:t>continue</a:t>
            </a:r>
            <a:r>
              <a:rPr lang="en-IN" altLang="en-US" sz="4000" b="1" dirty="0">
                <a:solidFill>
                  <a:srgbClr val="FF0000"/>
                </a:solidFill>
                <a:latin typeface="Times New Roman" panose="02020603050405020304" pitchFamily="18" charset="0"/>
                <a:cs typeface="Times New Roman" panose="02020603050405020304" pitchFamily="18" charset="0"/>
              </a:rPr>
              <a:t> statement- Example</a:t>
            </a:r>
          </a:p>
        </p:txBody>
      </p:sp>
      <p:sp>
        <p:nvSpPr>
          <p:cNvPr id="34819" name="Rectangle 1">
            <a:extLst>
              <a:ext uri="{FF2B5EF4-FFF2-40B4-BE49-F238E27FC236}">
                <a16:creationId xmlns:a16="http://schemas.microsoft.com/office/drawing/2014/main" id="{95AD0447-0A00-5AC5-7943-08F8E7657EAB}"/>
              </a:ext>
            </a:extLst>
          </p:cNvPr>
          <p:cNvSpPr>
            <a:spLocks noChangeArrowheads="1"/>
          </p:cNvSpPr>
          <p:nvPr/>
        </p:nvSpPr>
        <p:spPr bwMode="auto">
          <a:xfrm>
            <a:off x="525965" y="863645"/>
            <a:ext cx="8591550"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defRPr/>
            </a:pPr>
            <a:r>
              <a:rPr lang="en-US" sz="2800" dirty="0">
                <a:latin typeface="+mn-lt"/>
                <a:cs typeface="Arial" charset="0"/>
              </a:rPr>
              <a:t>include&lt;</a:t>
            </a:r>
            <a:r>
              <a:rPr lang="en-US" sz="2800" dirty="0" err="1">
                <a:latin typeface="+mn-lt"/>
                <a:cs typeface="Arial" charset="0"/>
              </a:rPr>
              <a:t>stdio.h</a:t>
            </a:r>
            <a:r>
              <a:rPr lang="en-US" sz="2800" dirty="0">
                <a:latin typeface="+mn-lt"/>
                <a:cs typeface="Arial" charset="0"/>
              </a:rPr>
              <a:t>&gt;  </a:t>
            </a:r>
          </a:p>
          <a:p>
            <a:pPr>
              <a:defRPr/>
            </a:pPr>
            <a:r>
              <a:rPr lang="en-US" sz="2800" dirty="0">
                <a:latin typeface="+mn-lt"/>
                <a:cs typeface="Arial" charset="0"/>
              </a:rPr>
              <a:t>int main ()  </a:t>
            </a:r>
          </a:p>
          <a:p>
            <a:pPr>
              <a:defRPr/>
            </a:pPr>
            <a:r>
              <a:rPr lang="en-US" sz="2800" dirty="0">
                <a:latin typeface="+mn-lt"/>
                <a:cs typeface="Arial" charset="0"/>
              </a:rPr>
              <a:t>{  </a:t>
            </a:r>
          </a:p>
          <a:p>
            <a:pPr>
              <a:defRPr/>
            </a:pPr>
            <a:r>
              <a:rPr lang="en-US" sz="2800" dirty="0">
                <a:latin typeface="+mn-lt"/>
                <a:cs typeface="Arial" charset="0"/>
              </a:rPr>
              <a:t>    int </a:t>
            </a:r>
            <a:r>
              <a:rPr lang="en-US" sz="2800" dirty="0" err="1">
                <a:latin typeface="+mn-lt"/>
                <a:cs typeface="Arial" charset="0"/>
              </a:rPr>
              <a:t>i</a:t>
            </a:r>
            <a:r>
              <a:rPr lang="en-US" sz="2800" dirty="0">
                <a:latin typeface="+mn-lt"/>
                <a:cs typeface="Arial" charset="0"/>
              </a:rPr>
              <a:t>;  </a:t>
            </a:r>
          </a:p>
          <a:p>
            <a:pPr>
              <a:defRPr/>
            </a:pPr>
            <a:r>
              <a:rPr lang="en-US" sz="2800" dirty="0">
                <a:latin typeface="+mn-lt"/>
                <a:cs typeface="Arial" charset="0"/>
              </a:rPr>
              <a:t>    for(</a:t>
            </a:r>
            <a:r>
              <a:rPr lang="en-US" sz="2800" dirty="0" err="1">
                <a:latin typeface="+mn-lt"/>
                <a:cs typeface="Arial" charset="0"/>
              </a:rPr>
              <a:t>i</a:t>
            </a:r>
            <a:r>
              <a:rPr lang="en-US" sz="2800" dirty="0">
                <a:latin typeface="+mn-lt"/>
                <a:cs typeface="Arial" charset="0"/>
              </a:rPr>
              <a:t> = 0; </a:t>
            </a:r>
            <a:r>
              <a:rPr lang="en-US" sz="2800" dirty="0" err="1">
                <a:latin typeface="+mn-lt"/>
                <a:cs typeface="Arial" charset="0"/>
              </a:rPr>
              <a:t>i</a:t>
            </a:r>
            <a:r>
              <a:rPr lang="en-US" sz="2800" dirty="0">
                <a:latin typeface="+mn-lt"/>
                <a:cs typeface="Arial" charset="0"/>
              </a:rPr>
              <a:t>&lt;10; </a:t>
            </a:r>
            <a:r>
              <a:rPr lang="en-US" sz="2800" dirty="0" err="1">
                <a:latin typeface="+mn-lt"/>
                <a:cs typeface="Arial" charset="0"/>
              </a:rPr>
              <a:t>i</a:t>
            </a:r>
            <a:r>
              <a:rPr lang="en-US" sz="2800" dirty="0">
                <a:latin typeface="+mn-lt"/>
                <a:cs typeface="Arial" charset="0"/>
              </a:rPr>
              <a:t>++)  </a:t>
            </a:r>
          </a:p>
          <a:p>
            <a:pPr>
              <a:defRPr/>
            </a:pPr>
            <a:r>
              <a:rPr lang="en-US" sz="2800" dirty="0">
                <a:latin typeface="+mn-lt"/>
                <a:cs typeface="Arial" charset="0"/>
              </a:rPr>
              <a:t>    {  </a:t>
            </a:r>
          </a:p>
          <a:p>
            <a:pPr>
              <a:defRPr/>
            </a:pPr>
            <a:r>
              <a:rPr lang="en-US" sz="2800" dirty="0">
                <a:latin typeface="+mn-lt"/>
                <a:cs typeface="Arial" charset="0"/>
              </a:rPr>
              <a:t>        if(</a:t>
            </a:r>
            <a:r>
              <a:rPr lang="en-US" sz="2800" dirty="0" err="1">
                <a:latin typeface="+mn-lt"/>
                <a:cs typeface="Arial" charset="0"/>
              </a:rPr>
              <a:t>i</a:t>
            </a:r>
            <a:r>
              <a:rPr lang="en-US" sz="2800" dirty="0">
                <a:latin typeface="+mn-lt"/>
                <a:cs typeface="Arial" charset="0"/>
              </a:rPr>
              <a:t> == 5)  </a:t>
            </a:r>
          </a:p>
          <a:p>
            <a:pPr>
              <a:defRPr/>
            </a:pPr>
            <a:r>
              <a:rPr lang="en-US" sz="2800" dirty="0">
                <a:latin typeface="+mn-lt"/>
                <a:cs typeface="Arial" charset="0"/>
              </a:rPr>
              <a:t>        continue;</a:t>
            </a:r>
          </a:p>
          <a:p>
            <a:pPr>
              <a:defRPr/>
            </a:pPr>
            <a:r>
              <a:rPr lang="en-US" sz="2800" dirty="0">
                <a:latin typeface="+mn-lt"/>
                <a:cs typeface="Arial" charset="0"/>
              </a:rPr>
              <a:t>        </a:t>
            </a:r>
            <a:r>
              <a:rPr lang="en-US" sz="2800" dirty="0" err="1">
                <a:latin typeface="+mn-lt"/>
                <a:cs typeface="Arial" charset="0"/>
              </a:rPr>
              <a:t>printf</a:t>
            </a:r>
            <a:r>
              <a:rPr lang="en-US" sz="2800" dirty="0">
                <a:latin typeface="+mn-lt"/>
                <a:cs typeface="Arial" charset="0"/>
              </a:rPr>
              <a:t>("%d ",</a:t>
            </a:r>
            <a:r>
              <a:rPr lang="en-US" sz="2800" dirty="0" err="1">
                <a:latin typeface="+mn-lt"/>
                <a:cs typeface="Arial" charset="0"/>
              </a:rPr>
              <a:t>i</a:t>
            </a:r>
            <a:r>
              <a:rPr lang="en-US" sz="2800" dirty="0">
                <a:latin typeface="+mn-lt"/>
                <a:cs typeface="Arial" charset="0"/>
              </a:rPr>
              <a:t>); </a:t>
            </a:r>
          </a:p>
          <a:p>
            <a:pPr>
              <a:defRPr/>
            </a:pPr>
            <a:r>
              <a:rPr lang="en-US" sz="2800" dirty="0">
                <a:latin typeface="+mn-lt"/>
                <a:cs typeface="Arial" charset="0"/>
              </a:rPr>
              <a:t>    }  </a:t>
            </a:r>
          </a:p>
          <a:p>
            <a:pPr>
              <a:defRPr/>
            </a:pPr>
            <a:r>
              <a:rPr lang="en-US" sz="2800" dirty="0">
                <a:latin typeface="+mn-lt"/>
                <a:cs typeface="Arial" charset="0"/>
              </a:rPr>
              <a:t>    </a:t>
            </a:r>
            <a:r>
              <a:rPr lang="en-US" sz="2800" dirty="0" err="1">
                <a:latin typeface="+mn-lt"/>
                <a:cs typeface="Arial" charset="0"/>
              </a:rPr>
              <a:t>printf</a:t>
            </a:r>
            <a:r>
              <a:rPr lang="en-US" sz="2800" dirty="0">
                <a:latin typeface="+mn-lt"/>
                <a:cs typeface="Arial" charset="0"/>
              </a:rPr>
              <a:t>("came outside of loop </a:t>
            </a:r>
            <a:r>
              <a:rPr lang="en-US" sz="2800" dirty="0" err="1">
                <a:latin typeface="+mn-lt"/>
                <a:cs typeface="Arial" charset="0"/>
              </a:rPr>
              <a:t>i</a:t>
            </a:r>
            <a:r>
              <a:rPr lang="en-US" sz="2800" dirty="0">
                <a:latin typeface="+mn-lt"/>
                <a:cs typeface="Arial" charset="0"/>
              </a:rPr>
              <a:t> = %d",</a:t>
            </a:r>
            <a:r>
              <a:rPr lang="en-US" sz="2800" dirty="0" err="1">
                <a:latin typeface="+mn-lt"/>
                <a:cs typeface="Arial" charset="0"/>
              </a:rPr>
              <a:t>i</a:t>
            </a:r>
            <a:r>
              <a:rPr lang="en-US" sz="2800" dirty="0">
                <a:latin typeface="+mn-lt"/>
                <a:cs typeface="Arial" charset="0"/>
              </a:rPr>
              <a:t>);   </a:t>
            </a:r>
          </a:p>
          <a:p>
            <a:pPr>
              <a:defRPr/>
            </a:pPr>
            <a:r>
              <a:rPr lang="en-US" sz="2800" dirty="0">
                <a:latin typeface="+mn-lt"/>
                <a:cs typeface="Arial" charset="0"/>
              </a:rPr>
              <a:t>    return 0; </a:t>
            </a:r>
          </a:p>
          <a:p>
            <a:pPr>
              <a:defRPr/>
            </a:pPr>
            <a:r>
              <a:rPr lang="en-US" sz="2800" dirty="0">
                <a:latin typeface="+mn-lt"/>
                <a:cs typeface="Arial" charset="0"/>
              </a:rPr>
              <a:t>}</a:t>
            </a:r>
          </a:p>
        </p:txBody>
      </p:sp>
      <p:sp>
        <p:nvSpPr>
          <p:cNvPr id="2" name="Footer Placeholder 4">
            <a:extLst>
              <a:ext uri="{FF2B5EF4-FFF2-40B4-BE49-F238E27FC236}">
                <a16:creationId xmlns:a16="http://schemas.microsoft.com/office/drawing/2014/main" id="{FFCDA8E3-09BE-40CD-5623-8846644CA5E8}"/>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3D379DA9-ADC4-1E07-7F68-0A2B8614A4A6}"/>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57</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FECFBD44-73F3-4DAC-7967-F2A96362498C}"/>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1">
            <a:extLst>
              <a:ext uri="{FF2B5EF4-FFF2-40B4-BE49-F238E27FC236}">
                <a16:creationId xmlns:a16="http://schemas.microsoft.com/office/drawing/2014/main" id="{805694E7-AD51-3F0E-1B61-8E04B3DD6B67}"/>
              </a:ext>
            </a:extLst>
          </p:cNvPr>
          <p:cNvSpPr>
            <a:spLocks noChangeArrowheads="1"/>
          </p:cNvSpPr>
          <p:nvPr/>
        </p:nvSpPr>
        <p:spPr bwMode="auto">
          <a:xfrm>
            <a:off x="0" y="0"/>
            <a:ext cx="11224600" cy="69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2400" b="1" dirty="0" err="1">
                <a:solidFill>
                  <a:srgbClr val="FF0000"/>
                </a:solidFill>
                <a:latin typeface="+mn-lt"/>
                <a:cs typeface="Times New Roman" panose="02020603050405020304" pitchFamily="18" charset="0"/>
              </a:rPr>
              <a:t>goto</a:t>
            </a:r>
            <a:r>
              <a:rPr lang="en-US" altLang="en-US" sz="2400" b="1" dirty="0">
                <a:solidFill>
                  <a:srgbClr val="FF0000"/>
                </a:solidFill>
                <a:latin typeface="+mn-lt"/>
                <a:cs typeface="Times New Roman" panose="02020603050405020304" pitchFamily="18" charset="0"/>
              </a:rPr>
              <a:t> statement example </a:t>
            </a:r>
          </a:p>
          <a:p>
            <a:pPr algn="just"/>
            <a:endParaRPr lang="en-US" altLang="en-US" b="1" dirty="0">
              <a:latin typeface="+mn-lt"/>
              <a:cs typeface="Times New Roman" panose="02020603050405020304" pitchFamily="18" charset="0"/>
            </a:endParaRPr>
          </a:p>
          <a:p>
            <a:pPr algn="just"/>
            <a:endParaRPr lang="en-US" altLang="en-US" b="1" dirty="0">
              <a:latin typeface="+mn-lt"/>
              <a:cs typeface="Times New Roman" panose="02020603050405020304" pitchFamily="18" charset="0"/>
            </a:endParaRPr>
          </a:p>
          <a:p>
            <a:pPr algn="just"/>
            <a:r>
              <a:rPr lang="en-US" altLang="en-US" b="1" dirty="0">
                <a:latin typeface="+mn-lt"/>
                <a:cs typeface="Times New Roman" panose="02020603050405020304" pitchFamily="18" charset="0"/>
              </a:rPr>
              <a:t>#include &lt;</a:t>
            </a:r>
            <a:r>
              <a:rPr lang="en-US" altLang="en-US" b="1" dirty="0" err="1">
                <a:latin typeface="+mn-lt"/>
                <a:cs typeface="Times New Roman" panose="02020603050405020304" pitchFamily="18" charset="0"/>
              </a:rPr>
              <a:t>stdio.h</a:t>
            </a:r>
            <a:r>
              <a:rPr lang="en-US" altLang="en-US" b="1" dirty="0">
                <a:latin typeface="+mn-lt"/>
                <a:cs typeface="Times New Roman" panose="02020603050405020304" pitchFamily="18" charset="0"/>
              </a:rPr>
              <a:t>&gt;</a:t>
            </a:r>
          </a:p>
          <a:p>
            <a:pPr algn="just"/>
            <a:endParaRPr lang="en-US" altLang="en-US" b="1" dirty="0">
              <a:latin typeface="+mn-lt"/>
              <a:cs typeface="Times New Roman" panose="02020603050405020304" pitchFamily="18" charset="0"/>
            </a:endParaRPr>
          </a:p>
          <a:p>
            <a:pPr algn="just"/>
            <a:r>
              <a:rPr lang="en-US" altLang="en-US" b="1" dirty="0">
                <a:latin typeface="+mn-lt"/>
                <a:cs typeface="Times New Roman" panose="02020603050405020304" pitchFamily="18" charset="0"/>
              </a:rPr>
              <a:t>int main() </a:t>
            </a:r>
          </a:p>
          <a:p>
            <a:pPr algn="just"/>
            <a:r>
              <a:rPr lang="en-US" altLang="en-US" b="1" dirty="0">
                <a:latin typeface="+mn-lt"/>
                <a:cs typeface="Times New Roman" panose="02020603050405020304" pitchFamily="18" charset="0"/>
              </a:rPr>
              <a:t>{</a:t>
            </a:r>
          </a:p>
          <a:p>
            <a:pPr algn="just"/>
            <a:r>
              <a:rPr lang="en-US" altLang="en-US" b="1" dirty="0">
                <a:latin typeface="+mn-lt"/>
                <a:cs typeface="Times New Roman" panose="02020603050405020304" pitchFamily="18" charset="0"/>
              </a:rPr>
              <a:t>    int n;</a:t>
            </a:r>
          </a:p>
          <a:p>
            <a:pPr algn="just"/>
            <a:r>
              <a:rPr lang="en-US" altLang="en-US" b="1" dirty="0">
                <a:latin typeface="+mn-lt"/>
                <a:cs typeface="Times New Roman" panose="02020603050405020304" pitchFamily="18" charset="0"/>
              </a:rPr>
              <a:t>    </a:t>
            </a:r>
            <a:r>
              <a:rPr lang="en-US" altLang="en-US" b="1" dirty="0" err="1">
                <a:latin typeface="+mn-lt"/>
                <a:cs typeface="Times New Roman" panose="02020603050405020304" pitchFamily="18" charset="0"/>
              </a:rPr>
              <a:t>printf</a:t>
            </a:r>
            <a:r>
              <a:rPr lang="en-US" altLang="en-US" b="1" dirty="0">
                <a:latin typeface="+mn-lt"/>
                <a:cs typeface="Times New Roman" panose="02020603050405020304" pitchFamily="18" charset="0"/>
              </a:rPr>
              <a:t>("Enter a number: ");</a:t>
            </a:r>
          </a:p>
          <a:p>
            <a:pPr algn="just"/>
            <a:r>
              <a:rPr lang="en-US" altLang="en-US" b="1" dirty="0">
                <a:latin typeface="+mn-lt"/>
                <a:cs typeface="Times New Roman" panose="02020603050405020304" pitchFamily="18" charset="0"/>
              </a:rPr>
              <a:t>    </a:t>
            </a:r>
            <a:r>
              <a:rPr lang="en-US" altLang="en-US" b="1" dirty="0" err="1">
                <a:latin typeface="+mn-lt"/>
                <a:cs typeface="Times New Roman" panose="02020603050405020304" pitchFamily="18" charset="0"/>
              </a:rPr>
              <a:t>scanf</a:t>
            </a:r>
            <a:r>
              <a:rPr lang="en-US" altLang="en-US" b="1" dirty="0">
                <a:latin typeface="+mn-lt"/>
                <a:cs typeface="Times New Roman" panose="02020603050405020304" pitchFamily="18" charset="0"/>
              </a:rPr>
              <a:t>("%d", &amp;n);</a:t>
            </a:r>
          </a:p>
          <a:p>
            <a:pPr algn="just"/>
            <a:endParaRPr lang="en-US" altLang="en-US" b="1" dirty="0">
              <a:latin typeface="+mn-lt"/>
              <a:cs typeface="Times New Roman" panose="02020603050405020304" pitchFamily="18" charset="0"/>
            </a:endParaRPr>
          </a:p>
          <a:p>
            <a:pPr algn="just"/>
            <a:r>
              <a:rPr lang="en-US" altLang="en-US" b="1" dirty="0">
                <a:latin typeface="+mn-lt"/>
                <a:cs typeface="Times New Roman" panose="02020603050405020304" pitchFamily="18" charset="0"/>
              </a:rPr>
              <a:t>    if (n &lt; 0)</a:t>
            </a:r>
          </a:p>
          <a:p>
            <a:pPr algn="just"/>
            <a:r>
              <a:rPr lang="en-US" altLang="en-US" b="1" dirty="0">
                <a:latin typeface="+mn-lt"/>
                <a:cs typeface="Times New Roman" panose="02020603050405020304" pitchFamily="18" charset="0"/>
              </a:rPr>
              <a:t>        </a:t>
            </a:r>
            <a:r>
              <a:rPr lang="en-US" altLang="en-US" b="1" dirty="0" err="1">
                <a:solidFill>
                  <a:srgbClr val="FF0000"/>
                </a:solidFill>
                <a:latin typeface="+mn-lt"/>
                <a:cs typeface="Times New Roman" panose="02020603050405020304" pitchFamily="18" charset="0"/>
              </a:rPr>
              <a:t>goto</a:t>
            </a:r>
            <a:r>
              <a:rPr lang="en-US" altLang="en-US" b="1" dirty="0">
                <a:solidFill>
                  <a:srgbClr val="FF0000"/>
                </a:solidFill>
                <a:latin typeface="+mn-lt"/>
                <a:cs typeface="Times New Roman" panose="02020603050405020304" pitchFamily="18" charset="0"/>
              </a:rPr>
              <a:t> negative;</a:t>
            </a:r>
          </a:p>
          <a:p>
            <a:pPr algn="just"/>
            <a:endParaRPr lang="en-US" altLang="en-US" b="1" dirty="0">
              <a:latin typeface="+mn-lt"/>
              <a:cs typeface="Times New Roman" panose="02020603050405020304" pitchFamily="18" charset="0"/>
            </a:endParaRPr>
          </a:p>
          <a:p>
            <a:pPr algn="just"/>
            <a:r>
              <a:rPr lang="en-US" altLang="en-US" b="1" dirty="0">
                <a:latin typeface="+mn-lt"/>
                <a:cs typeface="Times New Roman" panose="02020603050405020304" pitchFamily="18" charset="0"/>
              </a:rPr>
              <a:t>    </a:t>
            </a:r>
            <a:r>
              <a:rPr lang="en-US" altLang="en-US" b="1" dirty="0" err="1">
                <a:latin typeface="+mn-lt"/>
                <a:cs typeface="Times New Roman" panose="02020603050405020304" pitchFamily="18" charset="0"/>
              </a:rPr>
              <a:t>printf</a:t>
            </a:r>
            <a:r>
              <a:rPr lang="en-US" altLang="en-US" b="1" dirty="0">
                <a:latin typeface="+mn-lt"/>
                <a:cs typeface="Times New Roman" panose="02020603050405020304" pitchFamily="18" charset="0"/>
              </a:rPr>
              <a:t>("Positive number");</a:t>
            </a:r>
          </a:p>
          <a:p>
            <a:pPr algn="just"/>
            <a:r>
              <a:rPr lang="en-US" altLang="en-US" b="1" dirty="0">
                <a:latin typeface="+mn-lt"/>
                <a:cs typeface="Times New Roman" panose="02020603050405020304" pitchFamily="18" charset="0"/>
              </a:rPr>
              <a:t>    return 0;</a:t>
            </a:r>
          </a:p>
          <a:p>
            <a:pPr algn="just"/>
            <a:endParaRPr lang="en-US" altLang="en-US" b="1" dirty="0">
              <a:latin typeface="+mn-lt"/>
              <a:cs typeface="Times New Roman" panose="02020603050405020304" pitchFamily="18" charset="0"/>
            </a:endParaRPr>
          </a:p>
          <a:p>
            <a:pPr algn="just"/>
            <a:r>
              <a:rPr lang="en-US" altLang="en-US" b="1" dirty="0">
                <a:solidFill>
                  <a:srgbClr val="FF0000"/>
                </a:solidFill>
                <a:latin typeface="+mn-lt"/>
                <a:cs typeface="Times New Roman" panose="02020603050405020304" pitchFamily="18" charset="0"/>
              </a:rPr>
              <a:t>negative:</a:t>
            </a:r>
          </a:p>
          <a:p>
            <a:pPr algn="just"/>
            <a:r>
              <a:rPr lang="en-US" altLang="en-US" b="1" dirty="0">
                <a:latin typeface="+mn-lt"/>
                <a:cs typeface="Times New Roman" panose="02020603050405020304" pitchFamily="18" charset="0"/>
              </a:rPr>
              <a:t>       </a:t>
            </a:r>
            <a:r>
              <a:rPr lang="en-US" altLang="en-US" b="1" dirty="0" err="1">
                <a:latin typeface="+mn-lt"/>
                <a:cs typeface="Times New Roman" panose="02020603050405020304" pitchFamily="18" charset="0"/>
              </a:rPr>
              <a:t>printf</a:t>
            </a:r>
            <a:r>
              <a:rPr lang="en-US" altLang="en-US" b="1" dirty="0">
                <a:latin typeface="+mn-lt"/>
                <a:cs typeface="Times New Roman" panose="02020603050405020304" pitchFamily="18" charset="0"/>
              </a:rPr>
              <a:t>("Negative number");</a:t>
            </a:r>
          </a:p>
          <a:p>
            <a:pPr algn="just"/>
            <a:endParaRPr lang="en-US" altLang="en-US" b="1" dirty="0">
              <a:latin typeface="+mn-lt"/>
              <a:cs typeface="Times New Roman" panose="02020603050405020304" pitchFamily="18" charset="0"/>
            </a:endParaRPr>
          </a:p>
          <a:p>
            <a:pPr algn="just"/>
            <a:r>
              <a:rPr lang="en-US" altLang="en-US" b="1" dirty="0">
                <a:latin typeface="+mn-lt"/>
                <a:cs typeface="Times New Roman" panose="02020603050405020304" pitchFamily="18" charset="0"/>
              </a:rPr>
              <a:t>    return 0;</a:t>
            </a:r>
          </a:p>
          <a:p>
            <a:pPr algn="just"/>
            <a:r>
              <a:rPr lang="en-US" altLang="en-US" b="1" dirty="0">
                <a:latin typeface="+mn-lt"/>
                <a:cs typeface="Times New Roman" panose="02020603050405020304" pitchFamily="18" charset="0"/>
              </a:rPr>
              <a:t>}</a:t>
            </a:r>
          </a:p>
          <a:p>
            <a:pPr algn="just"/>
            <a:endParaRPr lang="en-US" altLang="en-US" sz="2200" b="1" dirty="0">
              <a:latin typeface="+mn-lt"/>
              <a:cs typeface="Times New Roman" panose="02020603050405020304" pitchFamily="18" charset="0"/>
            </a:endParaRPr>
          </a:p>
          <a:p>
            <a:pPr algn="just"/>
            <a:endParaRPr lang="en-IN" altLang="en-US" sz="2200" b="1" dirty="0">
              <a:latin typeface="+mn-lt"/>
              <a:cs typeface="Times New Roman" panose="02020603050405020304" pitchFamily="18" charset="0"/>
            </a:endParaRPr>
          </a:p>
        </p:txBody>
      </p:sp>
      <p:sp>
        <p:nvSpPr>
          <p:cNvPr id="2" name="Footer Placeholder 4">
            <a:extLst>
              <a:ext uri="{FF2B5EF4-FFF2-40B4-BE49-F238E27FC236}">
                <a16:creationId xmlns:a16="http://schemas.microsoft.com/office/drawing/2014/main" id="{D77EA100-9875-C1CF-948D-A63D07A35BB2}"/>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311DD1D0-5192-7ECC-05BE-6F96C3BF8977}"/>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58</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08FDE075-8978-4B8E-9FC4-CBF6C6C8D912}"/>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ustomShape 3">
            <a:extLst>
              <a:ext uri="{FF2B5EF4-FFF2-40B4-BE49-F238E27FC236}">
                <a16:creationId xmlns:a16="http://schemas.microsoft.com/office/drawing/2014/main" id="{4281A8C2-4850-70CD-0F85-05F823AD3465}"/>
              </a:ext>
            </a:extLst>
          </p:cNvPr>
          <p:cNvSpPr>
            <a:spLocks noChangeArrowheads="1"/>
          </p:cNvSpPr>
          <p:nvPr/>
        </p:nvSpPr>
        <p:spPr bwMode="auto">
          <a:xfrm>
            <a:off x="707148" y="117924"/>
            <a:ext cx="9792687" cy="554738"/>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sz="4000" b="1" dirty="0">
                <a:solidFill>
                  <a:srgbClr val="FF0000"/>
                </a:solidFill>
                <a:cs typeface="Times New Roman" panose="02020603050405020304" pitchFamily="18" charset="0"/>
              </a:rPr>
              <a:t>Computing a Sum in a Loop</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36867" name="Rectangle 1">
            <a:extLst>
              <a:ext uri="{FF2B5EF4-FFF2-40B4-BE49-F238E27FC236}">
                <a16:creationId xmlns:a16="http://schemas.microsoft.com/office/drawing/2014/main" id="{27DBDADA-6FF9-D16A-7FC5-578E3B1D0AE8}"/>
              </a:ext>
            </a:extLst>
          </p:cNvPr>
          <p:cNvSpPr>
            <a:spLocks noChangeArrowheads="1"/>
          </p:cNvSpPr>
          <p:nvPr/>
        </p:nvSpPr>
        <p:spPr bwMode="auto">
          <a:xfrm>
            <a:off x="707148" y="838146"/>
            <a:ext cx="11053927"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r>
              <a:rPr lang="en-US" sz="2400" b="1" dirty="0">
                <a:latin typeface="+mj-lt"/>
              </a:rPr>
              <a:t>Purpose:</a:t>
            </a:r>
            <a:br>
              <a:rPr lang="en-US" sz="2400" dirty="0">
                <a:latin typeface="+mj-lt"/>
              </a:rPr>
            </a:br>
            <a:r>
              <a:rPr lang="en-US" sz="2400" dirty="0">
                <a:latin typeface="+mj-lt"/>
              </a:rPr>
              <a:t>A loop can be used to repeatedly add values and calculate their </a:t>
            </a:r>
            <a:r>
              <a:rPr lang="en-US" sz="2400" b="1" dirty="0">
                <a:latin typeface="+mj-lt"/>
              </a:rPr>
              <a:t>total sum</a:t>
            </a:r>
            <a:r>
              <a:rPr lang="en-US" sz="2400" dirty="0">
                <a:latin typeface="+mj-lt"/>
              </a:rPr>
              <a:t>.</a:t>
            </a:r>
          </a:p>
          <a:p>
            <a:endParaRPr lang="en-US" sz="2400" dirty="0">
              <a:latin typeface="+mj-lt"/>
            </a:endParaRPr>
          </a:p>
          <a:p>
            <a:r>
              <a:rPr lang="en-US" altLang="en-US" sz="2400" dirty="0">
                <a:latin typeface="+mj-lt"/>
                <a:cs typeface="Times New Roman" panose="02020603050405020304" pitchFamily="18" charset="0"/>
              </a:rPr>
              <a:t>#include &lt;</a:t>
            </a:r>
            <a:r>
              <a:rPr lang="en-US" altLang="en-US" sz="2400" dirty="0" err="1">
                <a:latin typeface="+mj-lt"/>
                <a:cs typeface="Times New Roman" panose="02020603050405020304" pitchFamily="18" charset="0"/>
              </a:rPr>
              <a:t>stdio.h</a:t>
            </a:r>
            <a:r>
              <a:rPr lang="en-US" altLang="en-US" sz="2400" dirty="0">
                <a:latin typeface="+mj-lt"/>
                <a:cs typeface="Times New Roman" panose="02020603050405020304" pitchFamily="18" charset="0"/>
              </a:rPr>
              <a:t>&gt;</a:t>
            </a:r>
          </a:p>
          <a:p>
            <a:r>
              <a:rPr lang="en-US" altLang="en-US" sz="2400" dirty="0">
                <a:latin typeface="+mj-lt"/>
                <a:cs typeface="Times New Roman" panose="02020603050405020304" pitchFamily="18" charset="0"/>
              </a:rPr>
              <a:t>int main()</a:t>
            </a:r>
          </a:p>
          <a:p>
            <a:r>
              <a:rPr lang="en-US" altLang="en-US" sz="2400" dirty="0">
                <a:latin typeface="+mj-lt"/>
                <a:cs typeface="Times New Roman" panose="02020603050405020304" pitchFamily="18" charset="0"/>
              </a:rPr>
              <a:t>{</a:t>
            </a:r>
          </a:p>
          <a:p>
            <a:r>
              <a:rPr lang="en-US" altLang="en-US" sz="2400" dirty="0">
                <a:latin typeface="+mj-lt"/>
                <a:cs typeface="Times New Roman" panose="02020603050405020304" pitchFamily="18" charset="0"/>
              </a:rPr>
              <a:t>    int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 sum = 0;</a:t>
            </a:r>
          </a:p>
          <a:p>
            <a:endParaRPr lang="en-US" altLang="en-US" sz="2400" dirty="0">
              <a:latin typeface="+mj-lt"/>
              <a:cs typeface="Times New Roman" panose="02020603050405020304" pitchFamily="18" charset="0"/>
            </a:endParaRPr>
          </a:p>
          <a:p>
            <a:r>
              <a:rPr lang="en-US" altLang="en-US" sz="2400" dirty="0">
                <a:latin typeface="+mj-lt"/>
                <a:cs typeface="Times New Roman" panose="02020603050405020304" pitchFamily="18" charset="0"/>
              </a:rPr>
              <a:t>    for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 = 1;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 &lt;= 10;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a:t>
            </a:r>
          </a:p>
          <a:p>
            <a:r>
              <a:rPr lang="en-US" altLang="en-US" sz="2400" dirty="0">
                <a:latin typeface="+mj-lt"/>
                <a:cs typeface="Times New Roman" panose="02020603050405020304" pitchFamily="18" charset="0"/>
              </a:rPr>
              <a:t>    {</a:t>
            </a:r>
          </a:p>
          <a:p>
            <a:r>
              <a:rPr lang="en-US" altLang="en-US" sz="2400" dirty="0">
                <a:latin typeface="+mj-lt"/>
                <a:cs typeface="Times New Roman" panose="02020603050405020304" pitchFamily="18" charset="0"/>
              </a:rPr>
              <a:t>        sum = sum +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a:t>
            </a:r>
          </a:p>
          <a:p>
            <a:r>
              <a:rPr lang="en-US" altLang="en-US" sz="2400" dirty="0">
                <a:latin typeface="+mj-lt"/>
                <a:cs typeface="Times New Roman" panose="02020603050405020304" pitchFamily="18" charset="0"/>
              </a:rPr>
              <a:t>    }</a:t>
            </a:r>
          </a:p>
          <a:p>
            <a:r>
              <a:rPr lang="en-US" altLang="en-US" sz="2400" dirty="0">
                <a:latin typeface="+mj-lt"/>
                <a:cs typeface="Times New Roman" panose="02020603050405020304" pitchFamily="18" charset="0"/>
              </a:rPr>
              <a:t>    </a:t>
            </a:r>
            <a:r>
              <a:rPr lang="en-US" altLang="en-US" sz="2400" dirty="0" err="1">
                <a:latin typeface="+mj-lt"/>
                <a:cs typeface="Times New Roman" panose="02020603050405020304" pitchFamily="18" charset="0"/>
              </a:rPr>
              <a:t>printf</a:t>
            </a:r>
            <a:r>
              <a:rPr lang="en-US" altLang="en-US" sz="2400" dirty="0">
                <a:latin typeface="+mj-lt"/>
                <a:cs typeface="Times New Roman" panose="02020603050405020304" pitchFamily="18" charset="0"/>
              </a:rPr>
              <a:t>("Sum = %d", sum);</a:t>
            </a:r>
          </a:p>
          <a:p>
            <a:r>
              <a:rPr lang="en-US" altLang="en-US" sz="2400" dirty="0">
                <a:latin typeface="+mj-lt"/>
                <a:cs typeface="Times New Roman" panose="02020603050405020304" pitchFamily="18" charset="0"/>
              </a:rPr>
              <a:t>    return 0;</a:t>
            </a:r>
          </a:p>
          <a:p>
            <a:r>
              <a:rPr lang="en-US" altLang="en-US" sz="2400" dirty="0">
                <a:latin typeface="+mj-lt"/>
                <a:cs typeface="Times New Roman" panose="02020603050405020304" pitchFamily="18" charset="0"/>
              </a:rPr>
              <a:t>}</a:t>
            </a:r>
          </a:p>
        </p:txBody>
      </p:sp>
      <p:sp>
        <p:nvSpPr>
          <p:cNvPr id="2" name="Footer Placeholder 4">
            <a:extLst>
              <a:ext uri="{FF2B5EF4-FFF2-40B4-BE49-F238E27FC236}">
                <a16:creationId xmlns:a16="http://schemas.microsoft.com/office/drawing/2014/main" id="{AEF056D4-FDF3-70DE-46FD-DF7CEBA9BCE7}"/>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1DD72592-B6F1-3239-0CF1-BC11A2DD8C38}"/>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59</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4F9BE812-FCE7-8B57-7C88-DFA38E120C0D}"/>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78CAC-DC6A-B444-127B-2570F928367F}"/>
            </a:ext>
          </a:extLst>
        </p:cNvPr>
        <p:cNvGrpSpPr/>
        <p:nvPr/>
      </p:nvGrpSpPr>
      <p:grpSpPr>
        <a:xfrm>
          <a:off x="0" y="0"/>
          <a:ext cx="0" cy="0"/>
          <a:chOff x="0" y="0"/>
          <a:chExt cx="0" cy="0"/>
        </a:xfrm>
      </p:grpSpPr>
      <p:sp>
        <p:nvSpPr>
          <p:cNvPr id="36866" name="CustomShape 3">
            <a:extLst>
              <a:ext uri="{FF2B5EF4-FFF2-40B4-BE49-F238E27FC236}">
                <a16:creationId xmlns:a16="http://schemas.microsoft.com/office/drawing/2014/main" id="{BE8A319F-5D7F-09A8-F0DE-75B2378C92EA}"/>
              </a:ext>
            </a:extLst>
          </p:cNvPr>
          <p:cNvSpPr>
            <a:spLocks noChangeArrowheads="1"/>
          </p:cNvSpPr>
          <p:nvPr/>
        </p:nvSpPr>
        <p:spPr bwMode="auto">
          <a:xfrm>
            <a:off x="89212" y="117923"/>
            <a:ext cx="11576824" cy="582927"/>
          </a:xfrm>
          <a:prstGeom prst="rect">
            <a:avLst/>
          </a:prstGeom>
          <a:solidFill>
            <a:schemeClr val="bg1"/>
          </a:solidFill>
          <a:ln w="9360">
            <a:solidFill>
              <a:srgbClr val="000000"/>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sz="4000" b="1" dirty="0">
                <a:solidFill>
                  <a:srgbClr val="FF0000"/>
                </a:solidFill>
                <a:cs typeface="Times New Roman" panose="02020603050405020304" pitchFamily="18" charset="0"/>
              </a:rPr>
              <a:t>Computing a Product in a Loop</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36867" name="Rectangle 1">
            <a:extLst>
              <a:ext uri="{FF2B5EF4-FFF2-40B4-BE49-F238E27FC236}">
                <a16:creationId xmlns:a16="http://schemas.microsoft.com/office/drawing/2014/main" id="{09A7B64B-F8E3-3E27-293F-35BCC8EC5D90}"/>
              </a:ext>
            </a:extLst>
          </p:cNvPr>
          <p:cNvSpPr>
            <a:spLocks noChangeArrowheads="1"/>
          </p:cNvSpPr>
          <p:nvPr/>
        </p:nvSpPr>
        <p:spPr bwMode="auto">
          <a:xfrm>
            <a:off x="89211" y="904308"/>
            <a:ext cx="11053927"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r>
              <a:rPr lang="en-US" sz="2400" b="1" dirty="0">
                <a:latin typeface="+mj-lt"/>
              </a:rPr>
              <a:t>Purpose:</a:t>
            </a:r>
            <a:br>
              <a:rPr lang="en-US" sz="2400" dirty="0">
                <a:latin typeface="+mj-lt"/>
              </a:rPr>
            </a:br>
            <a:r>
              <a:rPr lang="en-US" sz="2400" dirty="0">
                <a:latin typeface="+mj-lt"/>
              </a:rPr>
              <a:t>A loop can be used to repeatedly multiply values and calculate their </a:t>
            </a:r>
            <a:r>
              <a:rPr lang="en-US" sz="2400" b="1" dirty="0">
                <a:latin typeface="+mj-lt"/>
              </a:rPr>
              <a:t>total product</a:t>
            </a:r>
            <a:r>
              <a:rPr lang="en-US" sz="2400" dirty="0">
                <a:latin typeface="+mj-lt"/>
              </a:rPr>
              <a:t>.</a:t>
            </a:r>
          </a:p>
          <a:p>
            <a:endParaRPr lang="en-US" altLang="en-US" sz="2400" dirty="0">
              <a:latin typeface="+mj-lt"/>
              <a:cs typeface="Times New Roman" panose="02020603050405020304" pitchFamily="18" charset="0"/>
            </a:endParaRPr>
          </a:p>
          <a:p>
            <a:r>
              <a:rPr lang="en-US" altLang="en-US" sz="2400" dirty="0">
                <a:latin typeface="+mj-lt"/>
                <a:cs typeface="Times New Roman" panose="02020603050405020304" pitchFamily="18" charset="0"/>
              </a:rPr>
              <a:t>#include &lt;</a:t>
            </a:r>
            <a:r>
              <a:rPr lang="en-US" altLang="en-US" sz="2400" dirty="0" err="1">
                <a:latin typeface="+mj-lt"/>
                <a:cs typeface="Times New Roman" panose="02020603050405020304" pitchFamily="18" charset="0"/>
              </a:rPr>
              <a:t>stdio.h</a:t>
            </a:r>
            <a:r>
              <a:rPr lang="en-US" altLang="en-US" sz="2400" dirty="0">
                <a:latin typeface="+mj-lt"/>
                <a:cs typeface="Times New Roman" panose="02020603050405020304" pitchFamily="18" charset="0"/>
              </a:rPr>
              <a:t>&gt;</a:t>
            </a:r>
          </a:p>
          <a:p>
            <a:r>
              <a:rPr lang="en-US" altLang="en-US" sz="2400" dirty="0">
                <a:latin typeface="+mj-lt"/>
                <a:cs typeface="Times New Roman" panose="02020603050405020304" pitchFamily="18" charset="0"/>
              </a:rPr>
              <a:t>int main()</a:t>
            </a:r>
          </a:p>
          <a:p>
            <a:r>
              <a:rPr lang="en-US" altLang="en-US" sz="2400" dirty="0">
                <a:latin typeface="+mj-lt"/>
                <a:cs typeface="Times New Roman" panose="02020603050405020304" pitchFamily="18" charset="0"/>
              </a:rPr>
              <a:t>{</a:t>
            </a:r>
          </a:p>
          <a:p>
            <a:r>
              <a:rPr lang="en-US" altLang="en-US" sz="2400" dirty="0">
                <a:latin typeface="+mj-lt"/>
                <a:cs typeface="Times New Roman" panose="02020603050405020304" pitchFamily="18" charset="0"/>
              </a:rPr>
              <a:t>    int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 product = 1;</a:t>
            </a:r>
          </a:p>
          <a:p>
            <a:endParaRPr lang="en-US" altLang="en-US" sz="2400" dirty="0">
              <a:latin typeface="+mj-lt"/>
              <a:cs typeface="Times New Roman" panose="02020603050405020304" pitchFamily="18" charset="0"/>
            </a:endParaRPr>
          </a:p>
          <a:p>
            <a:r>
              <a:rPr lang="en-US" altLang="en-US" sz="2400" dirty="0">
                <a:latin typeface="+mj-lt"/>
                <a:cs typeface="Times New Roman" panose="02020603050405020304" pitchFamily="18" charset="0"/>
              </a:rPr>
              <a:t>    for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 = 1;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 &lt;= 10;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a:t>
            </a:r>
          </a:p>
          <a:p>
            <a:r>
              <a:rPr lang="en-US" altLang="en-US" sz="2400" dirty="0">
                <a:latin typeface="+mj-lt"/>
                <a:cs typeface="Times New Roman" panose="02020603050405020304" pitchFamily="18" charset="0"/>
              </a:rPr>
              <a:t>    {</a:t>
            </a:r>
          </a:p>
          <a:p>
            <a:r>
              <a:rPr lang="en-US" altLang="en-US" sz="2400" dirty="0">
                <a:latin typeface="+mj-lt"/>
                <a:cs typeface="Times New Roman" panose="02020603050405020304" pitchFamily="18" charset="0"/>
              </a:rPr>
              <a:t>        product = product * </a:t>
            </a:r>
            <a:r>
              <a:rPr lang="en-US" altLang="en-US" sz="2400" dirty="0" err="1">
                <a:latin typeface="+mj-lt"/>
                <a:cs typeface="Times New Roman" panose="02020603050405020304" pitchFamily="18" charset="0"/>
              </a:rPr>
              <a:t>i</a:t>
            </a:r>
            <a:r>
              <a:rPr lang="en-US" altLang="en-US" sz="2400" dirty="0">
                <a:latin typeface="+mj-lt"/>
                <a:cs typeface="Times New Roman" panose="02020603050405020304" pitchFamily="18" charset="0"/>
              </a:rPr>
              <a:t>;</a:t>
            </a:r>
          </a:p>
          <a:p>
            <a:r>
              <a:rPr lang="en-US" altLang="en-US" sz="2400" dirty="0">
                <a:latin typeface="+mj-lt"/>
                <a:cs typeface="Times New Roman" panose="02020603050405020304" pitchFamily="18" charset="0"/>
              </a:rPr>
              <a:t>    }</a:t>
            </a:r>
          </a:p>
          <a:p>
            <a:r>
              <a:rPr lang="en-US" altLang="en-US" sz="2400" dirty="0">
                <a:latin typeface="+mj-lt"/>
                <a:cs typeface="Times New Roman" panose="02020603050405020304" pitchFamily="18" charset="0"/>
              </a:rPr>
              <a:t>    </a:t>
            </a:r>
            <a:r>
              <a:rPr lang="en-US" altLang="en-US" sz="2400" dirty="0" err="1">
                <a:latin typeface="+mj-lt"/>
                <a:cs typeface="Times New Roman" panose="02020603050405020304" pitchFamily="18" charset="0"/>
              </a:rPr>
              <a:t>printf</a:t>
            </a:r>
            <a:r>
              <a:rPr lang="en-US" altLang="en-US" sz="2400" dirty="0">
                <a:latin typeface="+mj-lt"/>
                <a:cs typeface="Times New Roman" panose="02020603050405020304" pitchFamily="18" charset="0"/>
              </a:rPr>
              <a:t>("Product = %d", product);</a:t>
            </a:r>
          </a:p>
          <a:p>
            <a:r>
              <a:rPr lang="en-US" altLang="en-US" sz="2400" dirty="0">
                <a:latin typeface="+mj-lt"/>
                <a:cs typeface="Times New Roman" panose="02020603050405020304" pitchFamily="18" charset="0"/>
              </a:rPr>
              <a:t>    return 0;</a:t>
            </a:r>
          </a:p>
          <a:p>
            <a:r>
              <a:rPr lang="en-US" altLang="en-US" sz="2400" dirty="0">
                <a:latin typeface="+mj-lt"/>
                <a:cs typeface="Times New Roman" panose="02020603050405020304" pitchFamily="18" charset="0"/>
              </a:rPr>
              <a:t>}</a:t>
            </a:r>
          </a:p>
        </p:txBody>
      </p:sp>
      <p:sp>
        <p:nvSpPr>
          <p:cNvPr id="2" name="Footer Placeholder 4">
            <a:extLst>
              <a:ext uri="{FF2B5EF4-FFF2-40B4-BE49-F238E27FC236}">
                <a16:creationId xmlns:a16="http://schemas.microsoft.com/office/drawing/2014/main" id="{D3BF7814-15FC-BDA7-2F28-CD8A4F68FB01}"/>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30BC86CC-69AA-9310-3895-D5E476411587}"/>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60</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D6C11FAD-EFF0-B47A-EDE1-5EF60B965DE5}"/>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extLst>
      <p:ext uri="{BB962C8B-B14F-4D97-AF65-F5344CB8AC3E}">
        <p14:creationId xmlns:p14="http://schemas.microsoft.com/office/powerpoint/2010/main" val="13470797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D99D5-6E00-8598-ED97-FF91941FAEC9}"/>
            </a:ext>
          </a:extLst>
        </p:cNvPr>
        <p:cNvGrpSpPr/>
        <p:nvPr/>
      </p:nvGrpSpPr>
      <p:grpSpPr>
        <a:xfrm>
          <a:off x="0" y="0"/>
          <a:ext cx="0" cy="0"/>
          <a:chOff x="0" y="0"/>
          <a:chExt cx="0" cy="0"/>
        </a:xfrm>
      </p:grpSpPr>
      <p:sp>
        <p:nvSpPr>
          <p:cNvPr id="36866" name="CustomShape 3">
            <a:extLst>
              <a:ext uri="{FF2B5EF4-FFF2-40B4-BE49-F238E27FC236}">
                <a16:creationId xmlns:a16="http://schemas.microsoft.com/office/drawing/2014/main" id="{36F92A02-D276-1627-8EB3-6E34CCAF45A7}"/>
              </a:ext>
            </a:extLst>
          </p:cNvPr>
          <p:cNvSpPr>
            <a:spLocks noChangeArrowheads="1"/>
          </p:cNvSpPr>
          <p:nvPr/>
        </p:nvSpPr>
        <p:spPr bwMode="auto">
          <a:xfrm>
            <a:off x="536028" y="154614"/>
            <a:ext cx="11130007" cy="638951"/>
          </a:xfrm>
          <a:prstGeom prst="rect">
            <a:avLst/>
          </a:prstGeom>
          <a:solidFill>
            <a:schemeClr val="bg1"/>
          </a:solidFill>
          <a:ln w="9360">
            <a:solidFill>
              <a:schemeClr val="tx1"/>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sz="4000" b="1" dirty="0">
                <a:solidFill>
                  <a:srgbClr val="FF0000"/>
                </a:solidFill>
                <a:cs typeface="Times New Roman" panose="02020603050405020304" pitchFamily="18" charset="0"/>
              </a:rPr>
              <a:t>Nested Loops in C</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36867" name="Rectangle 1">
            <a:extLst>
              <a:ext uri="{FF2B5EF4-FFF2-40B4-BE49-F238E27FC236}">
                <a16:creationId xmlns:a16="http://schemas.microsoft.com/office/drawing/2014/main" id="{0C324EF3-B8A8-7C07-094F-4B4E695B645A}"/>
              </a:ext>
            </a:extLst>
          </p:cNvPr>
          <p:cNvSpPr>
            <a:spLocks noChangeArrowheads="1"/>
          </p:cNvSpPr>
          <p:nvPr/>
        </p:nvSpPr>
        <p:spPr bwMode="auto">
          <a:xfrm>
            <a:off x="536028" y="838146"/>
            <a:ext cx="11225047"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marL="342900" indent="-342900">
              <a:buFont typeface="Wingdings" panose="05000000000000000000" pitchFamily="2" charset="2"/>
              <a:buChar char="§"/>
            </a:pPr>
            <a:r>
              <a:rPr lang="en-US" sz="2400" dirty="0">
                <a:latin typeface="+mj-lt"/>
              </a:rPr>
              <a:t>A nested loop is a loop placed inside another loop. </a:t>
            </a:r>
          </a:p>
          <a:p>
            <a:pPr marL="342900" indent="-342900">
              <a:buFont typeface="Wingdings" panose="05000000000000000000" pitchFamily="2" charset="2"/>
              <a:buChar char="§"/>
            </a:pPr>
            <a:r>
              <a:rPr lang="en-US" sz="2400" dirty="0">
                <a:latin typeface="+mj-lt"/>
              </a:rPr>
              <a:t>The inner loop executes completely for each iteration of the outer loop.</a:t>
            </a:r>
          </a:p>
          <a:p>
            <a:pPr marL="342900" indent="-342900">
              <a:buFont typeface="Wingdings" panose="05000000000000000000" pitchFamily="2" charset="2"/>
              <a:buChar char="§"/>
            </a:pPr>
            <a:endParaRPr lang="en-US" sz="2400" dirty="0">
              <a:latin typeface="+mj-lt"/>
            </a:endParaRPr>
          </a:p>
          <a:p>
            <a:r>
              <a:rPr lang="en-US" sz="3200" b="1" dirty="0">
                <a:solidFill>
                  <a:srgbClr val="FF0000"/>
                </a:solidFill>
              </a:rPr>
              <a:t>Syntax</a:t>
            </a:r>
          </a:p>
          <a:p>
            <a:endParaRPr lang="en-US" sz="2400" b="1" dirty="0"/>
          </a:p>
          <a:p>
            <a:r>
              <a:rPr lang="en-US" sz="2800" dirty="0"/>
              <a:t>for (initialization; condition; update)</a:t>
            </a:r>
          </a:p>
          <a:p>
            <a:r>
              <a:rPr lang="en-US" sz="2800" dirty="0"/>
              <a:t>{</a:t>
            </a:r>
          </a:p>
          <a:p>
            <a:r>
              <a:rPr lang="en-US" sz="2800" dirty="0"/>
              <a:t>    for (initialization; condition; update)</a:t>
            </a:r>
          </a:p>
          <a:p>
            <a:r>
              <a:rPr lang="en-US" sz="2800" dirty="0"/>
              <a:t>    {</a:t>
            </a:r>
          </a:p>
          <a:p>
            <a:r>
              <a:rPr lang="en-US" sz="2800" dirty="0"/>
              <a:t>        // statements</a:t>
            </a:r>
          </a:p>
          <a:p>
            <a:r>
              <a:rPr lang="en-US" sz="2800" dirty="0"/>
              <a:t>    }</a:t>
            </a:r>
          </a:p>
          <a:p>
            <a:r>
              <a:rPr lang="en-US" sz="2800" dirty="0"/>
              <a:t>}</a:t>
            </a:r>
          </a:p>
          <a:p>
            <a:endParaRPr lang="en-US" sz="2400" b="1" dirty="0">
              <a:latin typeface="+mj-lt"/>
            </a:endParaRPr>
          </a:p>
        </p:txBody>
      </p:sp>
      <p:sp>
        <p:nvSpPr>
          <p:cNvPr id="2" name="Footer Placeholder 4">
            <a:extLst>
              <a:ext uri="{FF2B5EF4-FFF2-40B4-BE49-F238E27FC236}">
                <a16:creationId xmlns:a16="http://schemas.microsoft.com/office/drawing/2014/main" id="{BF139C94-C2FE-F61A-EDB0-6B24A492B2F6}"/>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C88D2C0E-A060-AAB0-476A-EDB90E94587B}"/>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61</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EA25C482-81A9-AD6E-5B6D-54C20CAB3C0C}"/>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extLst>
      <p:ext uri="{BB962C8B-B14F-4D97-AF65-F5344CB8AC3E}">
        <p14:creationId xmlns:p14="http://schemas.microsoft.com/office/powerpoint/2010/main" val="29528171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C2BD0-CC3B-4A8B-9EB9-783B88C28EBD}"/>
            </a:ext>
          </a:extLst>
        </p:cNvPr>
        <p:cNvGrpSpPr/>
        <p:nvPr/>
      </p:nvGrpSpPr>
      <p:grpSpPr>
        <a:xfrm>
          <a:off x="0" y="0"/>
          <a:ext cx="0" cy="0"/>
          <a:chOff x="0" y="0"/>
          <a:chExt cx="0" cy="0"/>
        </a:xfrm>
      </p:grpSpPr>
      <p:sp>
        <p:nvSpPr>
          <p:cNvPr id="36866" name="CustomShape 3">
            <a:extLst>
              <a:ext uri="{FF2B5EF4-FFF2-40B4-BE49-F238E27FC236}">
                <a16:creationId xmlns:a16="http://schemas.microsoft.com/office/drawing/2014/main" id="{89326F1F-F474-46D1-1116-93CA8B3D85B3}"/>
              </a:ext>
            </a:extLst>
          </p:cNvPr>
          <p:cNvSpPr>
            <a:spLocks noChangeArrowheads="1"/>
          </p:cNvSpPr>
          <p:nvPr/>
        </p:nvSpPr>
        <p:spPr bwMode="auto">
          <a:xfrm>
            <a:off x="89212" y="154615"/>
            <a:ext cx="11576824" cy="591620"/>
          </a:xfrm>
          <a:prstGeom prst="rect">
            <a:avLst/>
          </a:prstGeom>
          <a:solidFill>
            <a:schemeClr val="bg1"/>
          </a:solidFill>
          <a:ln w="9360">
            <a:solidFill>
              <a:schemeClr val="tx1"/>
            </a:solidFill>
            <a:miter lim="800000"/>
            <a:headEnd/>
            <a:tailEnd/>
          </a:ln>
        </p:spPr>
        <p:txBody>
          <a:bodyPr wrap="none" lIns="90000" tIns="45000" rIns="90000" bIns="4500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a:r>
              <a:rPr lang="en-US" sz="4000" b="1" dirty="0">
                <a:solidFill>
                  <a:srgbClr val="FF0000"/>
                </a:solidFill>
                <a:cs typeface="Times New Roman" panose="02020603050405020304" pitchFamily="18" charset="0"/>
              </a:rPr>
              <a:t>Nested Loops in C</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36867" name="Rectangle 1">
            <a:extLst>
              <a:ext uri="{FF2B5EF4-FFF2-40B4-BE49-F238E27FC236}">
                <a16:creationId xmlns:a16="http://schemas.microsoft.com/office/drawing/2014/main" id="{F3E524FC-B837-56AC-35D1-EB2F96264920}"/>
              </a:ext>
            </a:extLst>
          </p:cNvPr>
          <p:cNvSpPr>
            <a:spLocks noChangeArrowheads="1"/>
          </p:cNvSpPr>
          <p:nvPr/>
        </p:nvSpPr>
        <p:spPr bwMode="auto">
          <a:xfrm>
            <a:off x="89211" y="863645"/>
            <a:ext cx="11225047"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r>
              <a:rPr lang="en-US" sz="2800" b="1" dirty="0">
                <a:solidFill>
                  <a:srgbClr val="FF0000"/>
                </a:solidFill>
              </a:rPr>
              <a:t>Example: Nested </a:t>
            </a:r>
            <a:r>
              <a:rPr lang="en-US" sz="2000" b="1" dirty="0">
                <a:solidFill>
                  <a:srgbClr val="FF0000"/>
                </a:solidFill>
              </a:rPr>
              <a:t>for</a:t>
            </a:r>
            <a:r>
              <a:rPr lang="en-US" sz="2800" b="1" dirty="0">
                <a:solidFill>
                  <a:srgbClr val="FF0000"/>
                </a:solidFill>
              </a:rPr>
              <a:t> Loop</a:t>
            </a:r>
          </a:p>
          <a:p>
            <a:endParaRPr lang="en-US" sz="2800" b="1" dirty="0">
              <a:solidFill>
                <a:srgbClr val="FF0000"/>
              </a:solidFill>
              <a:latin typeface="+mj-lt"/>
            </a:endParaRPr>
          </a:p>
          <a:p>
            <a:r>
              <a:rPr lang="en-US" sz="2400" dirty="0">
                <a:latin typeface="+mj-lt"/>
              </a:rPr>
              <a:t>#include &lt;</a:t>
            </a:r>
            <a:r>
              <a:rPr lang="en-US" sz="2400" dirty="0" err="1">
                <a:latin typeface="+mj-lt"/>
              </a:rPr>
              <a:t>stdio.h</a:t>
            </a:r>
            <a:r>
              <a:rPr lang="en-US" sz="2400" dirty="0">
                <a:latin typeface="+mj-lt"/>
              </a:rPr>
              <a:t>&gt;</a:t>
            </a:r>
          </a:p>
          <a:p>
            <a:r>
              <a:rPr lang="en-US" sz="2400" dirty="0">
                <a:latin typeface="+mj-lt"/>
              </a:rPr>
              <a:t>int main()</a:t>
            </a:r>
          </a:p>
          <a:p>
            <a:r>
              <a:rPr lang="en-US" sz="2400" dirty="0">
                <a:latin typeface="+mj-lt"/>
              </a:rPr>
              <a:t>{</a:t>
            </a:r>
          </a:p>
          <a:p>
            <a:r>
              <a:rPr lang="en-US" sz="2400" dirty="0">
                <a:latin typeface="+mj-lt"/>
              </a:rPr>
              <a:t>    int </a:t>
            </a:r>
            <a:r>
              <a:rPr lang="en-US" sz="2400" dirty="0" err="1">
                <a:latin typeface="+mj-lt"/>
              </a:rPr>
              <a:t>i</a:t>
            </a:r>
            <a:r>
              <a:rPr lang="en-US" sz="2400" dirty="0">
                <a:latin typeface="+mj-lt"/>
              </a:rPr>
              <a:t>, j;</a:t>
            </a:r>
          </a:p>
          <a:p>
            <a:r>
              <a:rPr lang="en-US" sz="2400" dirty="0">
                <a:latin typeface="+mj-lt"/>
              </a:rPr>
              <a:t>    for (</a:t>
            </a:r>
            <a:r>
              <a:rPr lang="en-US" sz="2400" dirty="0" err="1">
                <a:latin typeface="+mj-lt"/>
              </a:rPr>
              <a:t>i</a:t>
            </a:r>
            <a:r>
              <a:rPr lang="en-US" sz="2400" dirty="0">
                <a:latin typeface="+mj-lt"/>
              </a:rPr>
              <a:t> = 1; </a:t>
            </a:r>
            <a:r>
              <a:rPr lang="en-US" sz="2400" dirty="0" err="1">
                <a:latin typeface="+mj-lt"/>
              </a:rPr>
              <a:t>i</a:t>
            </a:r>
            <a:r>
              <a:rPr lang="en-US" sz="2400" dirty="0">
                <a:latin typeface="+mj-lt"/>
              </a:rPr>
              <a:t> &lt;= 3; </a:t>
            </a:r>
            <a:r>
              <a:rPr lang="en-US" sz="2400" dirty="0" err="1">
                <a:latin typeface="+mj-lt"/>
              </a:rPr>
              <a:t>i</a:t>
            </a:r>
            <a:r>
              <a:rPr lang="en-US" sz="2400" dirty="0">
                <a:latin typeface="+mj-lt"/>
              </a:rPr>
              <a:t>++)</a:t>
            </a:r>
          </a:p>
          <a:p>
            <a:r>
              <a:rPr lang="en-US" sz="2400" dirty="0">
                <a:latin typeface="+mj-lt"/>
              </a:rPr>
              <a:t>    {</a:t>
            </a:r>
          </a:p>
          <a:p>
            <a:r>
              <a:rPr lang="en-US" sz="2400" dirty="0">
                <a:latin typeface="+mj-lt"/>
              </a:rPr>
              <a:t>        for (j = 1; j &lt;= 3; </a:t>
            </a:r>
            <a:r>
              <a:rPr lang="en-US" sz="2400" dirty="0" err="1">
                <a:latin typeface="+mj-lt"/>
              </a:rPr>
              <a:t>j++</a:t>
            </a:r>
            <a:r>
              <a:rPr lang="en-US" sz="2400" dirty="0">
                <a:latin typeface="+mj-lt"/>
              </a:rPr>
              <a:t>)</a:t>
            </a:r>
          </a:p>
          <a:p>
            <a:r>
              <a:rPr lang="en-US" sz="2400" dirty="0">
                <a:latin typeface="+mj-lt"/>
              </a:rPr>
              <a:t>        {</a:t>
            </a:r>
          </a:p>
          <a:p>
            <a:r>
              <a:rPr lang="en-US" sz="2400" dirty="0">
                <a:latin typeface="+mj-lt"/>
              </a:rPr>
              <a:t>            </a:t>
            </a:r>
            <a:r>
              <a:rPr lang="en-US" sz="2400" dirty="0" err="1">
                <a:latin typeface="+mj-lt"/>
              </a:rPr>
              <a:t>printf</a:t>
            </a:r>
            <a:r>
              <a:rPr lang="en-US" sz="2400" dirty="0">
                <a:latin typeface="+mj-lt"/>
              </a:rPr>
              <a:t>("%d %d\n", </a:t>
            </a:r>
            <a:r>
              <a:rPr lang="en-US" sz="2400" dirty="0" err="1">
                <a:latin typeface="+mj-lt"/>
              </a:rPr>
              <a:t>i</a:t>
            </a:r>
            <a:r>
              <a:rPr lang="en-US" sz="2400" dirty="0">
                <a:latin typeface="+mj-lt"/>
              </a:rPr>
              <a:t>, j);</a:t>
            </a:r>
          </a:p>
          <a:p>
            <a:r>
              <a:rPr lang="en-US" sz="2400" dirty="0">
                <a:latin typeface="+mj-lt"/>
              </a:rPr>
              <a:t>        }</a:t>
            </a:r>
          </a:p>
          <a:p>
            <a:r>
              <a:rPr lang="en-US" sz="2400" dirty="0">
                <a:latin typeface="+mj-lt"/>
              </a:rPr>
              <a:t>    }</a:t>
            </a:r>
          </a:p>
          <a:p>
            <a:r>
              <a:rPr lang="en-US" sz="2400" dirty="0">
                <a:latin typeface="+mj-lt"/>
              </a:rPr>
              <a:t>    return 0;</a:t>
            </a:r>
          </a:p>
          <a:p>
            <a:r>
              <a:rPr lang="en-US" sz="2400" dirty="0">
                <a:latin typeface="+mj-lt"/>
              </a:rPr>
              <a:t>}</a:t>
            </a:r>
          </a:p>
        </p:txBody>
      </p:sp>
      <p:sp>
        <p:nvSpPr>
          <p:cNvPr id="2" name="Footer Placeholder 4">
            <a:extLst>
              <a:ext uri="{FF2B5EF4-FFF2-40B4-BE49-F238E27FC236}">
                <a16:creationId xmlns:a16="http://schemas.microsoft.com/office/drawing/2014/main" id="{83ADC3E9-8A96-5E9C-2875-63321D3B751F}"/>
              </a:ext>
            </a:extLst>
          </p:cNvPr>
          <p:cNvSpPr>
            <a:spLocks noGrp="1"/>
          </p:cNvSpPr>
          <p:nvPr>
            <p:ph type="ftr" sz="quarter" idx="11"/>
          </p:nvPr>
        </p:nvSpPr>
        <p:spPr>
          <a:xfrm>
            <a:off x="4382430" y="6374950"/>
            <a:ext cx="4114800" cy="365125"/>
          </a:xfrm>
        </p:spPr>
        <p:txBody>
          <a:bodyPr/>
          <a:lstStyle/>
          <a:p>
            <a:r>
              <a:rPr lang="en-US" sz="1800" b="1" dirty="0">
                <a:solidFill>
                  <a:srgbClr val="0617BA"/>
                </a:solidFill>
                <a:latin typeface="Calibri" panose="020F0502020204030204" pitchFamily="34" charset="0"/>
                <a:cs typeface="Calibri" panose="020F0502020204030204" pitchFamily="34" charset="0"/>
              </a:rPr>
              <a:t>Prepared by Mr.V.Rajashekhar</a:t>
            </a:r>
          </a:p>
        </p:txBody>
      </p:sp>
      <p:sp>
        <p:nvSpPr>
          <p:cNvPr id="3" name="Slide Number Placeholder 5">
            <a:extLst>
              <a:ext uri="{FF2B5EF4-FFF2-40B4-BE49-F238E27FC236}">
                <a16:creationId xmlns:a16="http://schemas.microsoft.com/office/drawing/2014/main" id="{9E960B58-4983-E80C-C7FA-591920D5415E}"/>
              </a:ext>
            </a:extLst>
          </p:cNvPr>
          <p:cNvSpPr>
            <a:spLocks noGrp="1"/>
          </p:cNvSpPr>
          <p:nvPr>
            <p:ph type="sldNum" sz="quarter" idx="12"/>
          </p:nvPr>
        </p:nvSpPr>
        <p:spPr>
          <a:xfrm>
            <a:off x="8922835" y="6374952"/>
            <a:ext cx="2743200" cy="365125"/>
          </a:xfrm>
        </p:spPr>
        <p:txBody>
          <a:bodyPr/>
          <a:lstStyle/>
          <a:p>
            <a:fld id="{CD9E0E7A-1A1C-4018-B05E-E2DC074E6DA7}" type="slidenum">
              <a:rPr lang="en-US" sz="1800" b="1" smtClean="0">
                <a:solidFill>
                  <a:srgbClr val="0617BA"/>
                </a:solidFill>
                <a:latin typeface="Times New Roman" panose="02020603050405020304" pitchFamily="18" charset="0"/>
                <a:cs typeface="Times New Roman" panose="02020603050405020304" pitchFamily="18" charset="0"/>
              </a:rPr>
              <a:t>62</a:t>
            </a:fld>
            <a:endParaRPr lang="en-US" sz="1800" b="1" dirty="0">
              <a:solidFill>
                <a:srgbClr val="0617BA"/>
              </a:solidFill>
              <a:latin typeface="Times New Roman" panose="02020603050405020304" pitchFamily="18" charset="0"/>
              <a:cs typeface="Times New Roman" panose="02020603050405020304" pitchFamily="18" charset="0"/>
            </a:endParaRPr>
          </a:p>
        </p:txBody>
      </p:sp>
      <p:sp>
        <p:nvSpPr>
          <p:cNvPr id="4" name="Footer Placeholder 4">
            <a:extLst>
              <a:ext uri="{FF2B5EF4-FFF2-40B4-BE49-F238E27FC236}">
                <a16:creationId xmlns:a16="http://schemas.microsoft.com/office/drawing/2014/main" id="{3F49E961-A650-9F4D-C493-CB77D7C6D2C0}"/>
              </a:ext>
            </a:extLst>
          </p:cNvPr>
          <p:cNvSpPr txBox="1">
            <a:spLocks/>
          </p:cNvSpPr>
          <p:nvPr/>
        </p:nvSpPr>
        <p:spPr>
          <a:xfrm>
            <a:off x="89211" y="6374949"/>
            <a:ext cx="301268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0617BA"/>
                </a:solidFill>
                <a:latin typeface="Calibri" panose="020F0502020204030204" pitchFamily="34" charset="0"/>
                <a:cs typeface="Calibri" panose="020F0502020204030204" pitchFamily="34" charset="0"/>
              </a:rPr>
              <a:t>Department of CSE </a:t>
            </a:r>
          </a:p>
        </p:txBody>
      </p:sp>
    </p:spTree>
    <p:extLst>
      <p:ext uri="{BB962C8B-B14F-4D97-AF65-F5344CB8AC3E}">
        <p14:creationId xmlns:p14="http://schemas.microsoft.com/office/powerpoint/2010/main" val="2987545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Dune</Template>
  <TotalTime>746</TotalTime>
  <Words>4667</Words>
  <Application>Microsoft Office PowerPoint</Application>
  <PresentationFormat>Widescreen</PresentationFormat>
  <Paragraphs>941</Paragraphs>
  <Slides>62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Aptos</vt:lpstr>
      <vt:lpstr>Aptos Display</vt:lpstr>
      <vt:lpstr>Arial</vt:lpstr>
      <vt:lpstr>Calibri</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Gazala Akhtar</cp:lastModifiedBy>
  <cp:revision>257</cp:revision>
  <dcterms:created xsi:type="dcterms:W3CDTF">2026-07-31T07:38:50Z</dcterms:created>
  <dcterms:modified xsi:type="dcterms:W3CDTF">2026-09-17T06:50:37Z</dcterms:modified>
</cp:coreProperties>
</file>